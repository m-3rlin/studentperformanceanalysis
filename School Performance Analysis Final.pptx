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73" r:id="rId4"/>
    <p:sldId id="259" r:id="rId5"/>
    <p:sldId id="261" r:id="rId6"/>
    <p:sldId id="262" r:id="rId7"/>
    <p:sldId id="264" r:id="rId8"/>
    <p:sldId id="265" r:id="rId9"/>
    <p:sldId id="266" r:id="rId10"/>
    <p:sldId id="275" r:id="rId11"/>
    <p:sldId id="267" r:id="rId12"/>
    <p:sldId id="268" r:id="rId13"/>
    <p:sldId id="269" r:id="rId14"/>
    <p:sldId id="276" r:id="rId15"/>
    <p:sldId id="270" r:id="rId16"/>
    <p:sldId id="277" r:id="rId17"/>
    <p:sldId id="271" r:id="rId18"/>
    <p:sldId id="279" r:id="rId19"/>
    <p:sldId id="258" r:id="rId20"/>
    <p:sldId id="278" r:id="rId21"/>
    <p:sldId id="280" r:id="rId22"/>
  </p:sldIdLst>
  <p:sldSz cx="12192000" cy="6858000"/>
  <p:notesSz cx="6858000" cy="9144000"/>
  <p:embeddedFontLst>
    <p:embeddedFont>
      <p:font typeface="Play" panose="020B0604020202020204" charset="0"/>
      <p:regular r:id="rId24"/>
      <p:bold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6" roundtripDataSignature="AMtx7mg7UuMUpYMwIypFYurcxlqQiUasK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2BE1C1-D76E-46BD-B607-F8141116666D}" v="4" dt="2025-11-30T15:43:05.161"/>
  </p1510:revLst>
</p1510:revInfo>
</file>

<file path=ppt/tableStyles.xml><?xml version="1.0" encoding="utf-8"?>
<a:tblStyleLst xmlns:a="http://schemas.openxmlformats.org/drawingml/2006/main" def="{DA23AE36-0CC6-4DA9-BF7E-503C81AC8551}">
  <a:tblStyle styleId="{DA23AE36-0CC6-4DA9-BF7E-503C81AC8551}" styleName="Table_0">
    <a:wholeTbl>
      <a:tcTxStyle b="off" i="off">
        <a:font>
          <a:latin typeface="Aptos"/>
          <a:ea typeface="Aptos"/>
          <a:cs typeface="Aptos"/>
        </a:font>
        <a:schemeClr val="dk1"/>
      </a:tcTxStyle>
      <a:tcStyle>
        <a:tcBdr>
          <a:left>
            <a:ln w="12700" cap="flat" cmpd="sng">
              <a:solidFill>
                <a:schemeClr val="dk1"/>
              </a:solidFill>
              <a:prstDash val="solid"/>
              <a:round/>
              <a:headEnd type="none" w="sm" len="sm"/>
              <a:tailEnd type="none" w="sm" len="sm"/>
            </a:ln>
          </a:left>
          <a:right>
            <a:ln w="12700" cap="flat" cmpd="sng">
              <a:solidFill>
                <a:schemeClr val="dk1"/>
              </a:solidFill>
              <a:prstDash val="solid"/>
              <a:round/>
              <a:headEnd type="none" w="sm" len="sm"/>
              <a:tailEnd type="none" w="sm" len="sm"/>
            </a:ln>
          </a:right>
          <a:top>
            <a:ln w="12700" cap="flat" cmpd="sng">
              <a:solidFill>
                <a:schemeClr val="dk1"/>
              </a:solidFill>
              <a:prstDash val="solid"/>
              <a:round/>
              <a:headEnd type="none" w="sm" len="sm"/>
              <a:tailEnd type="none" w="sm" len="sm"/>
            </a:ln>
          </a:top>
          <a:bottom>
            <a:ln w="12700" cap="flat" cmpd="sng">
              <a:solidFill>
                <a:schemeClr val="dk1"/>
              </a:solidFill>
              <a:prstDash val="solid"/>
              <a:round/>
              <a:headEnd type="none" w="sm" len="sm"/>
              <a:tailEnd type="none" w="sm" len="sm"/>
            </a:ln>
          </a:bottom>
          <a:insideH>
            <a:ln w="12700" cap="flat" cmpd="sng">
              <a:solidFill>
                <a:schemeClr val="dk1"/>
              </a:solidFill>
              <a:prstDash val="solid"/>
              <a:round/>
              <a:headEnd type="none" w="sm" len="sm"/>
              <a:tailEnd type="none" w="sm" len="sm"/>
            </a:ln>
          </a:insideH>
          <a:insideV>
            <a:ln w="12700" cap="flat" cmpd="sng">
              <a:solidFill>
                <a:schemeClr val="dk1"/>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B8805F4-5151-4A3C-AF85-C32A6044E202}"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11EF403E-95EB-4364-88E3-29080B0652B8}" styleName="Table_2">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708" y="267"/>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resa McGarry" userId="8421fe9734d2ab63" providerId="LiveId" clId="{671C1C00-6090-4ECF-A5E1-F184CA4224DA}"/>
    <pc:docChg chg="custSel modSld sldOrd">
      <pc:chgData name="Teresa McGarry" userId="8421fe9734d2ab63" providerId="LiveId" clId="{671C1C00-6090-4ECF-A5E1-F184CA4224DA}" dt="2025-11-30T15:43:26.679" v="105" actId="20577"/>
      <pc:docMkLst>
        <pc:docMk/>
      </pc:docMkLst>
      <pc:sldChg chg="modSp mod">
        <pc:chgData name="Teresa McGarry" userId="8421fe9734d2ab63" providerId="LiveId" clId="{671C1C00-6090-4ECF-A5E1-F184CA4224DA}" dt="2025-11-30T15:42:03.236" v="66" actId="20578"/>
        <pc:sldMkLst>
          <pc:docMk/>
          <pc:sldMk cId="0" sldId="257"/>
        </pc:sldMkLst>
        <pc:spChg chg="mod">
          <ac:chgData name="Teresa McGarry" userId="8421fe9734d2ab63" providerId="LiveId" clId="{671C1C00-6090-4ECF-A5E1-F184CA4224DA}" dt="2025-11-30T15:42:03.236" v="66" actId="20578"/>
          <ac:spMkLst>
            <pc:docMk/>
            <pc:sldMk cId="0" sldId="257"/>
            <ac:spMk id="90" creationId="{00000000-0000-0000-0000-000000000000}"/>
          </ac:spMkLst>
        </pc:spChg>
      </pc:sldChg>
      <pc:sldChg chg="addSp modSp mod">
        <pc:chgData name="Teresa McGarry" userId="8421fe9734d2ab63" providerId="LiveId" clId="{671C1C00-6090-4ECF-A5E1-F184CA4224DA}" dt="2025-11-30T15:43:12.116" v="104" actId="1035"/>
        <pc:sldMkLst>
          <pc:docMk/>
          <pc:sldMk cId="0" sldId="261"/>
        </pc:sldMkLst>
        <pc:spChg chg="mod">
          <ac:chgData name="Teresa McGarry" userId="8421fe9734d2ab63" providerId="LiveId" clId="{671C1C00-6090-4ECF-A5E1-F184CA4224DA}" dt="2025-11-30T11:08:06.597" v="0" actId="1076"/>
          <ac:spMkLst>
            <pc:docMk/>
            <pc:sldMk cId="0" sldId="261"/>
            <ac:spMk id="121" creationId="{00000000-0000-0000-0000-000000000000}"/>
          </ac:spMkLst>
        </pc:spChg>
        <pc:spChg chg="mod">
          <ac:chgData name="Teresa McGarry" userId="8421fe9734d2ab63" providerId="LiveId" clId="{671C1C00-6090-4ECF-A5E1-F184CA4224DA}" dt="2025-11-30T15:43:05.161" v="89" actId="164"/>
          <ac:spMkLst>
            <pc:docMk/>
            <pc:sldMk cId="0" sldId="261"/>
            <ac:spMk id="127" creationId="{00000000-0000-0000-0000-000000000000}"/>
          </ac:spMkLst>
        </pc:spChg>
        <pc:spChg chg="mod">
          <ac:chgData name="Teresa McGarry" userId="8421fe9734d2ab63" providerId="LiveId" clId="{671C1C00-6090-4ECF-A5E1-F184CA4224DA}" dt="2025-11-30T15:43:05.161" v="89" actId="164"/>
          <ac:spMkLst>
            <pc:docMk/>
            <pc:sldMk cId="0" sldId="261"/>
            <ac:spMk id="128" creationId="{00000000-0000-0000-0000-000000000000}"/>
          </ac:spMkLst>
        </pc:spChg>
        <pc:spChg chg="mod">
          <ac:chgData name="Teresa McGarry" userId="8421fe9734d2ab63" providerId="LiveId" clId="{671C1C00-6090-4ECF-A5E1-F184CA4224DA}" dt="2025-11-30T15:43:05.161" v="89" actId="164"/>
          <ac:spMkLst>
            <pc:docMk/>
            <pc:sldMk cId="0" sldId="261"/>
            <ac:spMk id="129" creationId="{00000000-0000-0000-0000-000000000000}"/>
          </ac:spMkLst>
        </pc:spChg>
        <pc:spChg chg="mod">
          <ac:chgData name="Teresa McGarry" userId="8421fe9734d2ab63" providerId="LiveId" clId="{671C1C00-6090-4ECF-A5E1-F184CA4224DA}" dt="2025-11-30T15:43:05.161" v="89" actId="164"/>
          <ac:spMkLst>
            <pc:docMk/>
            <pc:sldMk cId="0" sldId="261"/>
            <ac:spMk id="130" creationId="{00000000-0000-0000-0000-000000000000}"/>
          </ac:spMkLst>
        </pc:spChg>
        <pc:spChg chg="mod">
          <ac:chgData name="Teresa McGarry" userId="8421fe9734d2ab63" providerId="LiveId" clId="{671C1C00-6090-4ECF-A5E1-F184CA4224DA}" dt="2025-11-30T15:43:05.161" v="89" actId="164"/>
          <ac:spMkLst>
            <pc:docMk/>
            <pc:sldMk cId="0" sldId="261"/>
            <ac:spMk id="131" creationId="{00000000-0000-0000-0000-000000000000}"/>
          </ac:spMkLst>
        </pc:spChg>
        <pc:grpChg chg="add mod">
          <ac:chgData name="Teresa McGarry" userId="8421fe9734d2ab63" providerId="LiveId" clId="{671C1C00-6090-4ECF-A5E1-F184CA4224DA}" dt="2025-11-30T15:43:05.161" v="89" actId="164"/>
          <ac:grpSpMkLst>
            <pc:docMk/>
            <pc:sldMk cId="0" sldId="261"/>
            <ac:grpSpMk id="2" creationId="{3D2CE952-2FF0-41C3-1CC6-5ADBDB20218E}"/>
          </ac:grpSpMkLst>
        </pc:grpChg>
        <pc:graphicFrameChg chg="mod modGraphic">
          <ac:chgData name="Teresa McGarry" userId="8421fe9734d2ab63" providerId="LiveId" clId="{671C1C00-6090-4ECF-A5E1-F184CA4224DA}" dt="2025-11-30T15:42:51.174" v="73" actId="1076"/>
          <ac:graphicFrameMkLst>
            <pc:docMk/>
            <pc:sldMk cId="0" sldId="261"/>
            <ac:graphicFrameMk id="124" creationId="{00000000-0000-0000-0000-000000000000}"/>
          </ac:graphicFrameMkLst>
        </pc:graphicFrameChg>
        <pc:picChg chg="mod">
          <ac:chgData name="Teresa McGarry" userId="8421fe9734d2ab63" providerId="LiveId" clId="{671C1C00-6090-4ECF-A5E1-F184CA4224DA}" dt="2025-11-30T15:43:12.116" v="104" actId="1035"/>
          <ac:picMkLst>
            <pc:docMk/>
            <pc:sldMk cId="0" sldId="261"/>
            <ac:picMk id="125" creationId="{00000000-0000-0000-0000-000000000000}"/>
          </ac:picMkLst>
        </pc:picChg>
        <pc:picChg chg="mod">
          <ac:chgData name="Teresa McGarry" userId="8421fe9734d2ab63" providerId="LiveId" clId="{671C1C00-6090-4ECF-A5E1-F184CA4224DA}" dt="2025-11-30T15:43:12.116" v="104" actId="1035"/>
          <ac:picMkLst>
            <pc:docMk/>
            <pc:sldMk cId="0" sldId="261"/>
            <ac:picMk id="126" creationId="{00000000-0000-0000-0000-000000000000}"/>
          </ac:picMkLst>
        </pc:picChg>
      </pc:sldChg>
      <pc:sldChg chg="modSp mod">
        <pc:chgData name="Teresa McGarry" userId="8421fe9734d2ab63" providerId="LiveId" clId="{671C1C00-6090-4ECF-A5E1-F184CA4224DA}" dt="2025-11-30T11:08:39.827" v="19" actId="20577"/>
        <pc:sldMkLst>
          <pc:docMk/>
          <pc:sldMk cId="0" sldId="269"/>
        </pc:sldMkLst>
        <pc:spChg chg="mod">
          <ac:chgData name="Teresa McGarry" userId="8421fe9734d2ab63" providerId="LiveId" clId="{671C1C00-6090-4ECF-A5E1-F184CA4224DA}" dt="2025-11-30T11:08:39.827" v="19" actId="20577"/>
          <ac:spMkLst>
            <pc:docMk/>
            <pc:sldMk cId="0" sldId="269"/>
            <ac:spMk id="202" creationId="{00000000-0000-0000-0000-000000000000}"/>
          </ac:spMkLst>
        </pc:spChg>
      </pc:sldChg>
      <pc:sldChg chg="ord">
        <pc:chgData name="Teresa McGarry" userId="8421fe9734d2ab63" providerId="LiveId" clId="{671C1C00-6090-4ECF-A5E1-F184CA4224DA}" dt="2025-11-30T15:41:31.417" v="56"/>
        <pc:sldMkLst>
          <pc:docMk/>
          <pc:sldMk cId="0" sldId="271"/>
        </pc:sldMkLst>
      </pc:sldChg>
      <pc:sldChg chg="modSp mod">
        <pc:chgData name="Teresa McGarry" userId="8421fe9734d2ab63" providerId="LiveId" clId="{671C1C00-6090-4ECF-A5E1-F184CA4224DA}" dt="2025-11-30T15:43:26.679" v="105" actId="20577"/>
        <pc:sldMkLst>
          <pc:docMk/>
          <pc:sldMk cId="737656017" sldId="273"/>
        </pc:sldMkLst>
        <pc:spChg chg="mod">
          <ac:chgData name="Teresa McGarry" userId="8421fe9734d2ab63" providerId="LiveId" clId="{671C1C00-6090-4ECF-A5E1-F184CA4224DA}" dt="2025-11-30T15:43:26.679" v="105" actId="20577"/>
          <ac:spMkLst>
            <pc:docMk/>
            <pc:sldMk cId="737656017" sldId="273"/>
            <ac:spMk id="2" creationId="{7F26144C-00B3-0732-2388-C25591C8E0E9}"/>
          </ac:spMkLst>
        </pc:spChg>
        <pc:spChg chg="mod">
          <ac:chgData name="Teresa McGarry" userId="8421fe9734d2ab63" providerId="LiveId" clId="{671C1C00-6090-4ECF-A5E1-F184CA4224DA}" dt="2025-11-30T13:01:16.104" v="22" actId="6549"/>
          <ac:spMkLst>
            <pc:docMk/>
            <pc:sldMk cId="737656017" sldId="273"/>
            <ac:spMk id="17" creationId="{C446FF70-4B9C-764A-77E1-F2F57D4DFE3A}"/>
          </ac:spMkLst>
        </pc:spChg>
      </pc:sldChg>
      <pc:sldChg chg="addSp delSp modSp mod setBg">
        <pc:chgData name="Teresa McGarry" userId="8421fe9734d2ab63" providerId="LiveId" clId="{671C1C00-6090-4ECF-A5E1-F184CA4224DA}" dt="2025-11-30T15:40:39.308" v="33" actId="14100"/>
        <pc:sldMkLst>
          <pc:docMk/>
          <pc:sldMk cId="277127565" sldId="277"/>
        </pc:sldMkLst>
        <pc:spChg chg="mod">
          <ac:chgData name="Teresa McGarry" userId="8421fe9734d2ab63" providerId="LiveId" clId="{671C1C00-6090-4ECF-A5E1-F184CA4224DA}" dt="2025-11-30T15:40:13.792" v="32" actId="26606"/>
          <ac:spMkLst>
            <pc:docMk/>
            <pc:sldMk cId="277127565" sldId="277"/>
            <ac:spMk id="2" creationId="{9FD6DD25-E137-BBDB-BB8D-0292B28A4D0B}"/>
          </ac:spMkLst>
        </pc:spChg>
        <pc:spChg chg="add">
          <ac:chgData name="Teresa McGarry" userId="8421fe9734d2ab63" providerId="LiveId" clId="{671C1C00-6090-4ECF-A5E1-F184CA4224DA}" dt="2025-11-30T15:40:13.792" v="32" actId="26606"/>
          <ac:spMkLst>
            <pc:docMk/>
            <pc:sldMk cId="277127565" sldId="277"/>
            <ac:spMk id="12" creationId="{99ED5833-B85B-4103-8A3B-CAB0308E6C15}"/>
          </ac:spMkLst>
        </pc:spChg>
        <pc:picChg chg="del">
          <ac:chgData name="Teresa McGarry" userId="8421fe9734d2ab63" providerId="LiveId" clId="{671C1C00-6090-4ECF-A5E1-F184CA4224DA}" dt="2025-11-30T15:37:40.350" v="23" actId="478"/>
          <ac:picMkLst>
            <pc:docMk/>
            <pc:sldMk cId="277127565" sldId="277"/>
            <ac:picMk id="4" creationId="{BFEF0024-2FCE-BDC7-200C-4B02DD60A911}"/>
          </ac:picMkLst>
        </pc:picChg>
        <pc:picChg chg="add mod">
          <ac:chgData name="Teresa McGarry" userId="8421fe9734d2ab63" providerId="LiveId" clId="{671C1C00-6090-4ECF-A5E1-F184CA4224DA}" dt="2025-11-30T15:40:13.792" v="32" actId="26606"/>
          <ac:picMkLst>
            <pc:docMk/>
            <pc:sldMk cId="277127565" sldId="277"/>
            <ac:picMk id="5" creationId="{E0A9A6DA-1A67-E480-4BDC-52752ED0EF2C}"/>
          </ac:picMkLst>
        </pc:picChg>
        <pc:picChg chg="add mod">
          <ac:chgData name="Teresa McGarry" userId="8421fe9734d2ab63" providerId="LiveId" clId="{671C1C00-6090-4ECF-A5E1-F184CA4224DA}" dt="2025-11-30T15:40:39.308" v="33" actId="14100"/>
          <ac:picMkLst>
            <pc:docMk/>
            <pc:sldMk cId="277127565" sldId="277"/>
            <ac:picMk id="7" creationId="{32F72BBE-D298-BADF-20FB-082B8CC0616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7" name="Google Shape;8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a:extLst>
            <a:ext uri="{FF2B5EF4-FFF2-40B4-BE49-F238E27FC236}">
              <a16:creationId xmlns:a16="http://schemas.microsoft.com/office/drawing/2014/main" id="{AEECF7D9-68BB-8CF6-6556-C2D1267D264F}"/>
            </a:ext>
          </a:extLst>
        </p:cNvPr>
        <p:cNvGrpSpPr/>
        <p:nvPr/>
      </p:nvGrpSpPr>
      <p:grpSpPr>
        <a:xfrm>
          <a:off x="0" y="0"/>
          <a:ext cx="0" cy="0"/>
          <a:chOff x="0" y="0"/>
          <a:chExt cx="0" cy="0"/>
        </a:xfrm>
      </p:grpSpPr>
      <p:sp>
        <p:nvSpPr>
          <p:cNvPr id="81" name="Google Shape;81;p1:notes">
            <a:extLst>
              <a:ext uri="{FF2B5EF4-FFF2-40B4-BE49-F238E27FC236}">
                <a16:creationId xmlns:a16="http://schemas.microsoft.com/office/drawing/2014/main" id="{AB6785FE-FEEB-1A10-DE0E-29F65BDE002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a:extLst>
              <a:ext uri="{FF2B5EF4-FFF2-40B4-BE49-F238E27FC236}">
                <a16:creationId xmlns:a16="http://schemas.microsoft.com/office/drawing/2014/main" id="{47F0DA91-1CDB-D55A-F162-EECC07406F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811082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1" name="Google Shape;10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9" name="Google Shape;119;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4" name="Google Shape;134;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2" name="Google Shape;15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3aac199a39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5" name="Google Shape;185;g3aac199a39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aaa7f7ca62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aaa7f7ca62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GB" sz="1000" b="1">
                <a:solidFill>
                  <a:schemeClr val="dk1"/>
                </a:solidFill>
              </a:rPr>
              <a:t>All 9 features → 0.755</a:t>
            </a:r>
            <a:r>
              <a:rPr lang="en-GB" sz="1000">
                <a:solidFill>
                  <a:schemeClr val="dk1"/>
                </a:solidFill>
              </a:rPr>
              <a:t> This is your baseline. Using everything gives the highest accuracy, as expected.</a:t>
            </a:r>
            <a:endParaRPr sz="1000">
              <a:solidFill>
                <a:schemeClr val="dk1"/>
              </a:solidFill>
            </a:endParaRPr>
          </a:p>
          <a:p>
            <a:pPr marL="0" lvl="0" indent="0" algn="l" rtl="0">
              <a:spcBef>
                <a:spcPts val="0"/>
              </a:spcBef>
              <a:spcAft>
                <a:spcPts val="0"/>
              </a:spcAft>
              <a:buClr>
                <a:schemeClr val="dk1"/>
              </a:buClr>
              <a:buSzPts val="1100"/>
              <a:buFont typeface="Arial"/>
              <a:buNone/>
            </a:pPr>
            <a:r>
              <a:rPr lang="en-GB" sz="1000" b="1">
                <a:solidFill>
                  <a:schemeClr val="dk1"/>
                </a:solidFill>
              </a:rPr>
              <a:t>7 features (excluding banded reading/writing) → 0.73</a:t>
            </a:r>
            <a:r>
              <a:rPr lang="en-GB" sz="1000">
                <a:solidFill>
                  <a:schemeClr val="dk1"/>
                </a:solidFill>
              </a:rPr>
              <a:t> Slight drop compared to all features. Makes sense: reading/writing banded scores carry predictive signal, so removing them reduces accuracy.</a:t>
            </a:r>
            <a:endParaRPr sz="1000">
              <a:solidFill>
                <a:schemeClr val="dk1"/>
              </a:solidFill>
            </a:endParaRPr>
          </a:p>
          <a:p>
            <a:pPr marL="0" lvl="0" indent="0" algn="l" rtl="0">
              <a:spcBef>
                <a:spcPts val="0"/>
              </a:spcBef>
              <a:spcAft>
                <a:spcPts val="0"/>
              </a:spcAft>
              <a:buClr>
                <a:schemeClr val="dk1"/>
              </a:buClr>
              <a:buSzPts val="1100"/>
              <a:buFont typeface="Arial"/>
              <a:buNone/>
            </a:pPr>
            <a:r>
              <a:rPr lang="en-GB" sz="1000" b="1">
                <a:solidFill>
                  <a:schemeClr val="dk1"/>
                </a:solidFill>
              </a:rPr>
              <a:t>7 features (excluding continuous reading/writing) → 0.655</a:t>
            </a:r>
            <a:r>
              <a:rPr lang="en-GB" sz="1000">
                <a:solidFill>
                  <a:schemeClr val="dk1"/>
                </a:solidFill>
              </a:rPr>
              <a:t> Much bigger drop. Continuous reading/writing scores are stronger predictors than banded ones, so excluding them hurts more.</a:t>
            </a:r>
            <a:endParaRPr sz="1000">
              <a:solidFill>
                <a:schemeClr val="dk1"/>
              </a:solidFill>
            </a:endParaRPr>
          </a:p>
          <a:p>
            <a:pPr marL="0" lvl="0" indent="0" algn="l" rtl="0">
              <a:spcBef>
                <a:spcPts val="0"/>
              </a:spcBef>
              <a:spcAft>
                <a:spcPts val="0"/>
              </a:spcAft>
              <a:buClr>
                <a:schemeClr val="dk1"/>
              </a:buClr>
              <a:buSzPts val="1100"/>
              <a:buFont typeface="Arial"/>
              <a:buNone/>
            </a:pPr>
            <a:r>
              <a:rPr lang="en-GB" sz="1000" b="1">
                <a:solidFill>
                  <a:schemeClr val="dk1"/>
                </a:solidFill>
              </a:rPr>
              <a:t>Top feature (reading score) → 0.625</a:t>
            </a:r>
            <a:r>
              <a:rPr lang="en-GB" sz="1000">
                <a:solidFill>
                  <a:schemeClr val="dk1"/>
                </a:solidFill>
              </a:rPr>
              <a:t> Reading alone is fairly predictive, but not enough to capture full variance. This aligns with intuition: maths and reading are correlated.</a:t>
            </a:r>
            <a:endParaRPr sz="1000">
              <a:solidFill>
                <a:schemeClr val="dk1"/>
              </a:solidFill>
            </a:endParaRPr>
          </a:p>
          <a:p>
            <a:pPr marL="0" lvl="0" indent="0" algn="l" rtl="0">
              <a:spcBef>
                <a:spcPts val="0"/>
              </a:spcBef>
              <a:spcAft>
                <a:spcPts val="0"/>
              </a:spcAft>
              <a:buClr>
                <a:schemeClr val="dk1"/>
              </a:buClr>
              <a:buSzPts val="1100"/>
              <a:buFont typeface="Arial"/>
              <a:buNone/>
            </a:pPr>
            <a:r>
              <a:rPr lang="en-GB" sz="1000" b="1">
                <a:solidFill>
                  <a:schemeClr val="dk1"/>
                </a:solidFill>
              </a:rPr>
              <a:t>Top 2 features (reading + writing) → 0.585</a:t>
            </a:r>
            <a:r>
              <a:rPr lang="en-GB" sz="1000">
                <a:solidFill>
                  <a:schemeClr val="dk1"/>
                </a:solidFill>
              </a:rPr>
              <a:t> Interesting: accuracy </a:t>
            </a:r>
            <a:r>
              <a:rPr lang="en-GB" sz="1000" i="1">
                <a:solidFill>
                  <a:schemeClr val="dk1"/>
                </a:solidFill>
              </a:rPr>
              <a:t>drops</a:t>
            </a:r>
            <a:r>
              <a:rPr lang="en-GB" sz="1000">
                <a:solidFill>
                  <a:schemeClr val="dk1"/>
                </a:solidFill>
              </a:rPr>
              <a:t> compared to reading alone. That suggests writing score may be </a:t>
            </a:r>
            <a:r>
              <a:rPr lang="en-GB" sz="1000" b="1">
                <a:solidFill>
                  <a:schemeClr val="dk1"/>
                </a:solidFill>
              </a:rPr>
              <a:t>collinear</a:t>
            </a:r>
            <a:r>
              <a:rPr lang="en-GB" sz="1000">
                <a:solidFill>
                  <a:schemeClr val="dk1"/>
                </a:solidFill>
              </a:rPr>
              <a:t> or even noisy relative to maths, reducing model performance when paired with reading.</a:t>
            </a:r>
            <a:endParaRPr sz="1000">
              <a:solidFill>
                <a:schemeClr val="dk1"/>
              </a:solidFill>
            </a:endParaRPr>
          </a:p>
          <a:p>
            <a:pPr marL="0" lvl="0" indent="0" algn="l" rtl="0">
              <a:spcBef>
                <a:spcPts val="0"/>
              </a:spcBef>
              <a:spcAft>
                <a:spcPts val="0"/>
              </a:spcAft>
              <a:buClr>
                <a:schemeClr val="dk1"/>
              </a:buClr>
              <a:buSzPts val="1100"/>
              <a:buFont typeface="Arial"/>
              <a:buNone/>
            </a:pPr>
            <a:r>
              <a:rPr lang="en-GB" sz="1000" b="1">
                <a:solidFill>
                  <a:schemeClr val="dk1"/>
                </a:solidFill>
              </a:rPr>
              <a:t>Top 3 features (reading + writing + gender) → 0.745</a:t>
            </a:r>
            <a:r>
              <a:rPr lang="en-GB" sz="1000">
                <a:solidFill>
                  <a:schemeClr val="dk1"/>
                </a:solidFill>
              </a:rPr>
              <a:t> Big jump! Gender adds useful discriminatory signal, and perhaps the model leverages interaction effects. This result is consistent with demographic features sometimes boosting accuracy when combined with academic scores.</a:t>
            </a:r>
            <a:endParaRPr sz="1000">
              <a:solidFill>
                <a:schemeClr val="dk1"/>
              </a:solidFill>
            </a:endParaRPr>
          </a:p>
          <a:p>
            <a:pPr marL="0" lvl="0" indent="0" algn="l" rtl="0">
              <a:spcBef>
                <a:spcPts val="0"/>
              </a:spcBef>
              <a:spcAft>
                <a:spcPts val="0"/>
              </a:spcAft>
              <a:buClr>
                <a:schemeClr val="dk1"/>
              </a:buClr>
              <a:buSzPts val="1100"/>
              <a:buFont typeface="Arial"/>
              <a:buNone/>
            </a:pPr>
            <a:r>
              <a:rPr lang="en-GB" sz="1000" b="1">
                <a:solidFill>
                  <a:schemeClr val="dk1"/>
                </a:solidFill>
              </a:rPr>
              <a:t>5 demographic features only → 0.36</a:t>
            </a:r>
            <a:r>
              <a:rPr lang="en-GB" sz="1000">
                <a:solidFill>
                  <a:schemeClr val="dk1"/>
                </a:solidFill>
              </a:rPr>
              <a:t> Very low, which makes sense. Demographics alone are weak predictors of maths achievement compared to direct performance measures.</a:t>
            </a:r>
            <a:endParaRPr sz="1000">
              <a:solidFill>
                <a:schemeClr val="dk1"/>
              </a:solidFill>
            </a:endParaRPr>
          </a:p>
          <a:p>
            <a:pPr marL="0" lvl="0" indent="0" algn="l" rtl="0">
              <a:spcBef>
                <a:spcPts val="0"/>
              </a:spcBef>
              <a:spcAft>
                <a:spcPts val="0"/>
              </a:spcAft>
              <a:buNone/>
            </a:pPr>
            <a:endParaRPr sz="10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g3aac199a39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0" name="Google Shape;200;g3aac199a391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aac199a39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8" name="Google Shape;208;g3aac199a39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5" name="Google Shape;215;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aaa7f7ca62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aaa7f7ca62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2DAB924A-E04A-5022-02CA-E5F61D6DBD0A}"/>
            </a:ext>
          </a:extLst>
        </p:cNvPr>
        <p:cNvGrpSpPr/>
        <p:nvPr/>
      </p:nvGrpSpPr>
      <p:grpSpPr>
        <a:xfrm>
          <a:off x="0" y="0"/>
          <a:ext cx="0" cy="0"/>
          <a:chOff x="0" y="0"/>
          <a:chExt cx="0" cy="0"/>
        </a:xfrm>
      </p:grpSpPr>
      <p:sp>
        <p:nvSpPr>
          <p:cNvPr id="220" name="Google Shape;220;p3:notes">
            <a:extLst>
              <a:ext uri="{FF2B5EF4-FFF2-40B4-BE49-F238E27FC236}">
                <a16:creationId xmlns:a16="http://schemas.microsoft.com/office/drawing/2014/main" id="{48E58F61-823D-C181-0284-A24F3E16AE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3:notes">
            <a:extLst>
              <a:ext uri="{FF2B5EF4-FFF2-40B4-BE49-F238E27FC236}">
                <a16:creationId xmlns:a16="http://schemas.microsoft.com/office/drawing/2014/main" id="{E1116DE4-1B6B-2606-EB67-C8B63DF7628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28668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a:extLst>
            <a:ext uri="{FF2B5EF4-FFF2-40B4-BE49-F238E27FC236}">
              <a16:creationId xmlns:a16="http://schemas.microsoft.com/office/drawing/2014/main" id="{90737BEE-EF59-412B-C45D-AFD39757E469}"/>
            </a:ext>
          </a:extLst>
        </p:cNvPr>
        <p:cNvGrpSpPr/>
        <p:nvPr/>
      </p:nvGrpSpPr>
      <p:grpSpPr>
        <a:xfrm>
          <a:off x="0" y="0"/>
          <a:ext cx="0" cy="0"/>
          <a:chOff x="0" y="0"/>
          <a:chExt cx="0" cy="0"/>
        </a:xfrm>
      </p:grpSpPr>
      <p:sp>
        <p:nvSpPr>
          <p:cNvPr id="220" name="Google Shape;220;p3:notes">
            <a:extLst>
              <a:ext uri="{FF2B5EF4-FFF2-40B4-BE49-F238E27FC236}">
                <a16:creationId xmlns:a16="http://schemas.microsoft.com/office/drawing/2014/main" id="{0A10A2F1-E9FC-DA53-B290-AED99888DF7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3:notes">
            <a:extLst>
              <a:ext uri="{FF2B5EF4-FFF2-40B4-BE49-F238E27FC236}">
                <a16:creationId xmlns:a16="http://schemas.microsoft.com/office/drawing/2014/main" id="{4C2C3A72-33D9-191F-E30C-5CE5E022BBE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84739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1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 name="Google Shape;13;p1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 name="Google Shape;14;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 name="Google Shape;15;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3"/>
        <p:cNvGrpSpPr/>
        <p:nvPr/>
      </p:nvGrpSpPr>
      <p:grpSpPr>
        <a:xfrm>
          <a:off x="0" y="0"/>
          <a:ext cx="0" cy="0"/>
          <a:chOff x="0" y="0"/>
          <a:chExt cx="0" cy="0"/>
        </a:xfrm>
      </p:grpSpPr>
      <p:sp>
        <p:nvSpPr>
          <p:cNvPr id="24" name="Google Shape;24;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8"/>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8"/>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1" name="Google Shape;3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9"/>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9"/>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0"/>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20"/>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0"/>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0"/>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0"/>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23"/>
          <p:cNvSpPr>
            <a:spLocks noGrp="1"/>
          </p:cNvSpPr>
          <p:nvPr>
            <p:ph type="pic" idx="2"/>
          </p:nvPr>
        </p:nvSpPr>
        <p:spPr>
          <a:xfrm>
            <a:off x="5183188" y="987425"/>
            <a:ext cx="6172200" cy="4873625"/>
          </a:xfrm>
          <a:prstGeom prst="rect">
            <a:avLst/>
          </a:prstGeom>
          <a:noFill/>
          <a:ln>
            <a:noFill/>
          </a:ln>
        </p:spPr>
      </p:sp>
      <p:sp>
        <p:nvSpPr>
          <p:cNvPr id="64" name="Google Shape;64;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8" name="Google Shape;8;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9" name="Google Shape;9;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0" name="Google Shape;10;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alizabrand/school-performance-analysis"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5.jpeg"/><Relationship Id="rId4" Type="http://schemas.openxmlformats.org/officeDocument/2006/relationships/hyperlink" Target="https://github.com/M-3rlin/StudentPerformanceAnalysis"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kaggle.com/datasets/alizabrand/school-performance-analysis" TargetMode="External"/><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3" Type="http://schemas.openxmlformats.org/officeDocument/2006/relationships/hyperlink" Target="https://www.kaggle.com/datasets/alizabrand/school-performance-analysis" TargetMode="External"/><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6132943" y="2721302"/>
            <a:ext cx="5067656" cy="2799281"/>
          </a:xfrm>
          <a:prstGeom prst="rect">
            <a:avLst/>
          </a:prstGeom>
          <a:solidFill>
            <a:schemeClr val="bg2">
              <a:lumMod val="25000"/>
              <a:lumOff val="75000"/>
            </a:schemeClr>
          </a:solidFill>
          <a:ln>
            <a:solidFill>
              <a:schemeClr val="bg2"/>
            </a:solid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ct val="150000"/>
              <a:buFont typeface="Play"/>
              <a:buNone/>
            </a:pPr>
            <a:r>
              <a:rPr lang="en-GB" sz="2700" i="1" dirty="0">
                <a:latin typeface="Arial"/>
                <a:ea typeface="Arial"/>
                <a:cs typeface="Arial"/>
                <a:sym typeface="Arial"/>
              </a:rPr>
              <a:t>Can demographic characteristics alone be used to predict students’ educational performance across core subjects, such as Maths, Reading, and Writing?</a:t>
            </a:r>
            <a:endParaRPr sz="2700" i="1" dirty="0"/>
          </a:p>
        </p:txBody>
      </p:sp>
      <p:sp>
        <p:nvSpPr>
          <p:cNvPr id="2" name="TextBox 1">
            <a:extLst>
              <a:ext uri="{FF2B5EF4-FFF2-40B4-BE49-F238E27FC236}">
                <a16:creationId xmlns:a16="http://schemas.microsoft.com/office/drawing/2014/main" id="{BC8B5F25-543B-D0E8-538B-15A40F50B99D}"/>
              </a:ext>
            </a:extLst>
          </p:cNvPr>
          <p:cNvSpPr txBox="1"/>
          <p:nvPr/>
        </p:nvSpPr>
        <p:spPr>
          <a:xfrm>
            <a:off x="840336" y="425262"/>
            <a:ext cx="10511328" cy="584775"/>
          </a:xfrm>
          <a:prstGeom prst="rect">
            <a:avLst/>
          </a:prstGeom>
          <a:noFill/>
        </p:spPr>
        <p:txBody>
          <a:bodyPr wrap="square" rtlCol="0">
            <a:spAutoFit/>
          </a:bodyPr>
          <a:lstStyle/>
          <a:p>
            <a:r>
              <a:rPr lang="en-GB" sz="3200" dirty="0"/>
              <a:t>Group 1: Student Performance Analysis </a:t>
            </a:r>
          </a:p>
        </p:txBody>
      </p:sp>
      <p:pic>
        <p:nvPicPr>
          <p:cNvPr id="5" name="Picture 4" descr="A high angle view of students in a classroom&#10;&#10;AI-generated content may be incorrect.">
            <a:extLst>
              <a:ext uri="{FF2B5EF4-FFF2-40B4-BE49-F238E27FC236}">
                <a16:creationId xmlns:a16="http://schemas.microsoft.com/office/drawing/2014/main" id="{CAB75D40-80D7-04AA-CD3E-22041A654DEE}"/>
              </a:ext>
            </a:extLst>
          </p:cNvPr>
          <p:cNvPicPr>
            <a:picLocks noChangeAspect="1"/>
          </p:cNvPicPr>
          <p:nvPr/>
        </p:nvPicPr>
        <p:blipFill>
          <a:blip r:embed="rId3"/>
          <a:stretch>
            <a:fillRect/>
          </a:stretch>
        </p:blipFill>
        <p:spPr>
          <a:xfrm>
            <a:off x="991401" y="2156033"/>
            <a:ext cx="4400995" cy="3364550"/>
          </a:xfrm>
          <a:prstGeom prst="rect">
            <a:avLst/>
          </a:prstGeom>
        </p:spPr>
      </p:pic>
      <p:sp>
        <p:nvSpPr>
          <p:cNvPr id="6" name="TextBox 5">
            <a:extLst>
              <a:ext uri="{FF2B5EF4-FFF2-40B4-BE49-F238E27FC236}">
                <a16:creationId xmlns:a16="http://schemas.microsoft.com/office/drawing/2014/main" id="{CE6D056A-E146-5641-01D0-99758C2012FD}"/>
              </a:ext>
            </a:extLst>
          </p:cNvPr>
          <p:cNvSpPr txBox="1"/>
          <p:nvPr/>
        </p:nvSpPr>
        <p:spPr>
          <a:xfrm>
            <a:off x="6132943" y="2156033"/>
            <a:ext cx="5004898" cy="523220"/>
          </a:xfrm>
          <a:prstGeom prst="rect">
            <a:avLst/>
          </a:prstGeom>
          <a:solidFill>
            <a:schemeClr val="accent1">
              <a:lumMod val="20000"/>
              <a:lumOff val="80000"/>
            </a:schemeClr>
          </a:solidFill>
          <a:ln>
            <a:solidFill>
              <a:schemeClr val="bg2"/>
            </a:solidFill>
          </a:ln>
        </p:spPr>
        <p:txBody>
          <a:bodyPr wrap="square" rtlCol="0">
            <a:spAutoFit/>
          </a:bodyPr>
          <a:lstStyle/>
          <a:p>
            <a:pPr algn="ctr"/>
            <a:r>
              <a:rPr lang="en-GB" sz="2800" b="1" i="1" dirty="0"/>
              <a:t>Core Question</a:t>
            </a:r>
            <a:endParaRPr lang="en-GB" sz="2800" b="1" dirty="0"/>
          </a:p>
        </p:txBody>
      </p:sp>
      <p:sp>
        <p:nvSpPr>
          <p:cNvPr id="4" name="TextBox 3">
            <a:extLst>
              <a:ext uri="{FF2B5EF4-FFF2-40B4-BE49-F238E27FC236}">
                <a16:creationId xmlns:a16="http://schemas.microsoft.com/office/drawing/2014/main" id="{56B104F2-62FC-CDEA-2E39-41A904D29705}"/>
              </a:ext>
            </a:extLst>
          </p:cNvPr>
          <p:cNvSpPr txBox="1"/>
          <p:nvPr/>
        </p:nvSpPr>
        <p:spPr>
          <a:xfrm>
            <a:off x="991401" y="5993368"/>
            <a:ext cx="6096000" cy="738664"/>
          </a:xfrm>
          <a:prstGeom prst="rect">
            <a:avLst/>
          </a:prstGeom>
          <a:noFill/>
        </p:spPr>
        <p:txBody>
          <a:bodyPr wrap="square">
            <a:spAutoFit/>
          </a:bodyPr>
          <a:lstStyle/>
          <a:p>
            <a:pPr rtl="0">
              <a:buNone/>
            </a:pPr>
            <a:r>
              <a:rPr lang="en-GB" sz="1400" b="0" i="0" u="none" strike="noStrike" dirty="0">
                <a:solidFill>
                  <a:srgbClr val="000000"/>
                </a:solidFill>
                <a:effectLst/>
                <a:latin typeface="Play" panose="020B0604020202020204" charset="0"/>
              </a:rPr>
              <a:t>By: </a:t>
            </a:r>
            <a:r>
              <a:rPr lang="en-GB" sz="1400" b="0" i="1" u="none" strike="noStrike" dirty="0">
                <a:solidFill>
                  <a:srgbClr val="000000"/>
                </a:solidFill>
                <a:effectLst/>
                <a:latin typeface="Play" panose="020B0604020202020204" charset="0"/>
              </a:rPr>
              <a:t>Group 1 (Abdul, Ace, Bhavita, Igor &amp; Teresa)</a:t>
            </a:r>
            <a:endParaRPr lang="en-GB" b="0" dirty="0">
              <a:effectLst/>
            </a:endParaRPr>
          </a:p>
          <a:p>
            <a:pPr>
              <a:buNone/>
            </a:pPr>
            <a:br>
              <a:rPr lang="en-GB" dirty="0"/>
            </a:br>
            <a:endParaRPr lang="en-GB"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nSpc>
                <a:spcPct val="100000"/>
              </a:lnSpc>
              <a:buClr>
                <a:srgbClr val="000000"/>
              </a:buClr>
              <a:buSzPts val="4400"/>
              <a:buFont typeface="Arial"/>
              <a:buNone/>
            </a:pPr>
            <a:r>
              <a:rPr lang="en-GB" sz="3200" dirty="0">
                <a:solidFill>
                  <a:srgbClr val="000000"/>
                </a:solidFill>
                <a:latin typeface="Arial"/>
                <a:cs typeface="Arial"/>
                <a:sym typeface="Arial"/>
              </a:rPr>
              <a:t>Contents: </a:t>
            </a:r>
            <a:endParaRPr sz="3200" dirty="0">
              <a:solidFill>
                <a:srgbClr val="000000"/>
              </a:solidFill>
              <a:latin typeface="Arial"/>
              <a:cs typeface="Arial"/>
              <a:sym typeface="Arial"/>
            </a:endParaRPr>
          </a:p>
        </p:txBody>
      </p:sp>
      <p:sp>
        <p:nvSpPr>
          <p:cNvPr id="90" name="Google Shape;90;p2"/>
          <p:cNvSpPr txBox="1">
            <a:spLocks noGrp="1"/>
          </p:cNvSpPr>
          <p:nvPr>
            <p:ph type="body" idx="1"/>
          </p:nvPr>
        </p:nvSpPr>
        <p:spPr>
          <a:xfrm>
            <a:off x="838200" y="1427148"/>
            <a:ext cx="10515600" cy="4939469"/>
          </a:xfrm>
          <a:prstGeom prst="rect">
            <a:avLst/>
          </a:prstGeom>
          <a:noFill/>
          <a:ln>
            <a:noFill/>
          </a:ln>
        </p:spPr>
        <p:txBody>
          <a:bodyPr spcFirstLastPara="1" wrap="square" lIns="91425" tIns="45700" rIns="91425" bIns="45700" anchor="t" anchorCtr="0">
            <a:normAutofit fontScale="55000" lnSpcReduction="20000"/>
          </a:bodyPr>
          <a:lstStyle/>
          <a:p>
            <a:pPr marL="228600" lvl="0" indent="-241934" algn="l" rtl="0">
              <a:lnSpc>
                <a:spcPct val="90000"/>
              </a:lnSpc>
              <a:spcBef>
                <a:spcPts val="0"/>
              </a:spcBef>
              <a:spcAft>
                <a:spcPts val="0"/>
              </a:spcAft>
              <a:buClr>
                <a:schemeClr val="dk1"/>
              </a:buClr>
              <a:buSzPts val="2800"/>
              <a:buChar char="•"/>
            </a:pPr>
            <a:endParaRPr lang="en-GB" dirty="0"/>
          </a:p>
          <a:p>
            <a:pPr marL="228600" lvl="0" indent="-241934">
              <a:lnSpc>
                <a:spcPct val="110000"/>
              </a:lnSpc>
              <a:spcBef>
                <a:spcPts val="0"/>
              </a:spcBef>
              <a:buSzPts val="2800"/>
            </a:pPr>
            <a:r>
              <a:rPr lang="en-GB" dirty="0"/>
              <a:t>Conclusions</a:t>
            </a:r>
          </a:p>
          <a:p>
            <a:pPr marL="228600" lvl="0" indent="-241934" algn="l" rtl="0">
              <a:lnSpc>
                <a:spcPct val="110000"/>
              </a:lnSpc>
              <a:spcBef>
                <a:spcPts val="1000"/>
              </a:spcBef>
              <a:spcAft>
                <a:spcPts val="0"/>
              </a:spcAft>
              <a:buClr>
                <a:schemeClr val="dk1"/>
              </a:buClr>
              <a:buSzPts val="2800"/>
              <a:buChar char="•"/>
            </a:pPr>
            <a:r>
              <a:rPr lang="en-GB" dirty="0"/>
              <a:t>Main motivation for selecting this dataset</a:t>
            </a:r>
          </a:p>
          <a:p>
            <a:pPr marL="228600" lvl="0" indent="-241934">
              <a:lnSpc>
                <a:spcPct val="110000"/>
              </a:lnSpc>
              <a:buSzPts val="2800"/>
            </a:pPr>
            <a:r>
              <a:rPr lang="en-GB" dirty="0"/>
              <a:t>Exploration of the dataset features </a:t>
            </a:r>
          </a:p>
          <a:p>
            <a:pPr marL="228600" lvl="0" indent="-241934">
              <a:lnSpc>
                <a:spcPct val="110000"/>
              </a:lnSpc>
              <a:buSzPts val="2800"/>
            </a:pPr>
            <a:r>
              <a:rPr lang="en-GB" dirty="0"/>
              <a:t>Initial review of the scores across Maths, Reading and Writing </a:t>
            </a:r>
            <a:endParaRPr dirty="0"/>
          </a:p>
          <a:p>
            <a:pPr marL="228600" lvl="0" indent="-241934" algn="l" rtl="0">
              <a:lnSpc>
                <a:spcPct val="110000"/>
              </a:lnSpc>
              <a:spcBef>
                <a:spcPts val="1000"/>
              </a:spcBef>
              <a:spcAft>
                <a:spcPts val="0"/>
              </a:spcAft>
              <a:buClr>
                <a:schemeClr val="dk1"/>
              </a:buClr>
              <a:buSzPts val="2800"/>
              <a:buChar char="•"/>
            </a:pPr>
            <a:r>
              <a:rPr lang="en-GB" dirty="0"/>
              <a:t>Correlation analysis for all features</a:t>
            </a:r>
          </a:p>
          <a:p>
            <a:pPr marL="228600" lvl="0" indent="-241934">
              <a:lnSpc>
                <a:spcPct val="110000"/>
              </a:lnSpc>
              <a:buSzPts val="2800"/>
            </a:pPr>
            <a:r>
              <a:rPr lang="en-GB" i="1" dirty="0"/>
              <a:t>Model testing with regression using continuous scores:</a:t>
            </a:r>
            <a:endParaRPr i="1" dirty="0"/>
          </a:p>
          <a:p>
            <a:pPr marL="228600" lvl="0" indent="-241934" algn="l" rtl="0">
              <a:lnSpc>
                <a:spcPct val="110000"/>
              </a:lnSpc>
              <a:spcBef>
                <a:spcPts val="1000"/>
              </a:spcBef>
              <a:spcAft>
                <a:spcPts val="0"/>
              </a:spcAft>
              <a:buClr>
                <a:schemeClr val="dk1"/>
              </a:buClr>
              <a:buSzPts val="2800"/>
              <a:buChar char="•"/>
            </a:pPr>
            <a:r>
              <a:rPr lang="en-GB" dirty="0"/>
              <a:t>Predictive modelling illustration (initial focus on banded maths) + regression</a:t>
            </a:r>
          </a:p>
          <a:p>
            <a:pPr marL="228600" lvl="0" indent="-241934" algn="l" rtl="0">
              <a:lnSpc>
                <a:spcPct val="110000"/>
              </a:lnSpc>
              <a:spcBef>
                <a:spcPts val="1000"/>
              </a:spcBef>
              <a:spcAft>
                <a:spcPts val="0"/>
              </a:spcAft>
              <a:buClr>
                <a:schemeClr val="dk1"/>
              </a:buClr>
              <a:buSzPts val="2800"/>
              <a:buChar char="•"/>
            </a:pPr>
            <a:r>
              <a:rPr lang="en-GB" dirty="0"/>
              <a:t>Dashboard for further analysis</a:t>
            </a:r>
          </a:p>
          <a:p>
            <a:pPr marL="228600" lvl="0" indent="-241934" algn="l" rtl="0">
              <a:lnSpc>
                <a:spcPct val="110000"/>
              </a:lnSpc>
              <a:spcBef>
                <a:spcPts val="1000"/>
              </a:spcBef>
              <a:spcAft>
                <a:spcPts val="0"/>
              </a:spcAft>
              <a:buClr>
                <a:schemeClr val="dk1"/>
              </a:buClr>
              <a:buSzPts val="2800"/>
              <a:buChar char="•"/>
            </a:pPr>
            <a:r>
              <a:rPr lang="en-GB" dirty="0"/>
              <a:t>Recommendations for next steps</a:t>
            </a:r>
          </a:p>
          <a:p>
            <a:pPr marL="228600" lvl="0" indent="-241934" algn="l" rtl="0">
              <a:lnSpc>
                <a:spcPct val="110000"/>
              </a:lnSpc>
              <a:spcBef>
                <a:spcPts val="1000"/>
              </a:spcBef>
              <a:spcAft>
                <a:spcPts val="0"/>
              </a:spcAft>
              <a:buClr>
                <a:schemeClr val="dk1"/>
              </a:buClr>
              <a:buSzPts val="2800"/>
              <a:buChar char="•"/>
            </a:pPr>
            <a:r>
              <a:rPr lang="en-GB" i="1" dirty="0"/>
              <a:t>Appendix: </a:t>
            </a:r>
          </a:p>
          <a:p>
            <a:pPr marL="228600" lvl="0" indent="-241934" algn="l" rtl="0">
              <a:lnSpc>
                <a:spcPct val="110000"/>
              </a:lnSpc>
              <a:spcBef>
                <a:spcPts val="1000"/>
              </a:spcBef>
              <a:spcAft>
                <a:spcPts val="0"/>
              </a:spcAft>
              <a:buClr>
                <a:schemeClr val="dk1"/>
              </a:buClr>
              <a:buSzPts val="2800"/>
              <a:buChar char="•"/>
            </a:pPr>
            <a:r>
              <a:rPr lang="en-GB" dirty="0"/>
              <a:t>Trello Board</a:t>
            </a:r>
          </a:p>
          <a:p>
            <a:pPr marL="228600" lvl="0" indent="-241934" algn="l" rtl="0">
              <a:lnSpc>
                <a:spcPct val="110000"/>
              </a:lnSpc>
              <a:spcBef>
                <a:spcPts val="1000"/>
              </a:spcBef>
              <a:spcAft>
                <a:spcPts val="0"/>
              </a:spcAft>
              <a:buClr>
                <a:schemeClr val="dk1"/>
              </a:buClr>
              <a:buSzPts val="2800"/>
              <a:buChar char="•"/>
            </a:pPr>
            <a:r>
              <a:rPr lang="en-GB" dirty="0"/>
              <a:t>Prediction and Actual Plot</a:t>
            </a:r>
          </a:p>
          <a:p>
            <a:pPr marL="228600" lvl="0" indent="-241934" algn="l" rtl="0">
              <a:lnSpc>
                <a:spcPct val="110000"/>
              </a:lnSpc>
              <a:spcBef>
                <a:spcPts val="1000"/>
              </a:spcBef>
              <a:spcAft>
                <a:spcPts val="0"/>
              </a:spcAft>
              <a:buClr>
                <a:schemeClr val="dk1"/>
              </a:buClr>
              <a:buSzPts val="2800"/>
              <a:buChar char="•"/>
            </a:pPr>
            <a:r>
              <a:rPr lang="en-GB" dirty="0"/>
              <a:t>Summary of Background Research</a:t>
            </a:r>
          </a:p>
          <a:p>
            <a:pPr marL="228600" lvl="0" indent="-178435" algn="l" rtl="0">
              <a:lnSpc>
                <a:spcPct val="110000"/>
              </a:lnSpc>
              <a:spcBef>
                <a:spcPts val="1000"/>
              </a:spcBef>
              <a:spcAft>
                <a:spcPts val="0"/>
              </a:spcAft>
              <a:buSzPts val="1800"/>
              <a:buChar char="•"/>
            </a:pP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3">
          <a:extLst>
            <a:ext uri="{FF2B5EF4-FFF2-40B4-BE49-F238E27FC236}">
              <a16:creationId xmlns:a16="http://schemas.microsoft.com/office/drawing/2014/main" id="{8042AD60-0DFC-AAA1-0BDB-07B0A1E260A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F26144C-00B3-0732-2388-C25591C8E0E9}"/>
              </a:ext>
            </a:extLst>
          </p:cNvPr>
          <p:cNvSpPr txBox="1"/>
          <p:nvPr/>
        </p:nvSpPr>
        <p:spPr>
          <a:xfrm>
            <a:off x="840336" y="425262"/>
            <a:ext cx="10511328" cy="1446550"/>
          </a:xfrm>
          <a:prstGeom prst="rect">
            <a:avLst/>
          </a:prstGeom>
          <a:noFill/>
        </p:spPr>
        <p:txBody>
          <a:bodyPr wrap="square" rtlCol="0">
            <a:spAutoFit/>
          </a:bodyPr>
          <a:lstStyle/>
          <a:p>
            <a:r>
              <a:rPr lang="en-GB" sz="3200" b="1" dirty="0"/>
              <a:t>Conclusions: </a:t>
            </a:r>
            <a:r>
              <a:rPr lang="en-GB" sz="2800" dirty="0"/>
              <a:t>Demographic characteristics alone </a:t>
            </a:r>
            <a:r>
              <a:rPr lang="en-GB" sz="3200" b="1" dirty="0"/>
              <a:t>cannot</a:t>
            </a:r>
            <a:r>
              <a:rPr lang="en-GB" sz="2800" dirty="0"/>
              <a:t> be used to predict students’ educational performance across core subjects, such as Maths, Reading, and Writing</a:t>
            </a:r>
          </a:p>
        </p:txBody>
      </p:sp>
      <p:grpSp>
        <p:nvGrpSpPr>
          <p:cNvPr id="22" name="Group 21">
            <a:extLst>
              <a:ext uri="{FF2B5EF4-FFF2-40B4-BE49-F238E27FC236}">
                <a16:creationId xmlns:a16="http://schemas.microsoft.com/office/drawing/2014/main" id="{BE2D9858-7F44-D84E-91D9-A8C4B1D09744}"/>
              </a:ext>
            </a:extLst>
          </p:cNvPr>
          <p:cNvGrpSpPr/>
          <p:nvPr/>
        </p:nvGrpSpPr>
        <p:grpSpPr>
          <a:xfrm>
            <a:off x="893985" y="2487365"/>
            <a:ext cx="10207951" cy="4026450"/>
            <a:chOff x="925795" y="1922803"/>
            <a:chExt cx="10207951" cy="4026450"/>
          </a:xfrm>
        </p:grpSpPr>
        <p:grpSp>
          <p:nvGrpSpPr>
            <p:cNvPr id="19" name="Group 18">
              <a:extLst>
                <a:ext uri="{FF2B5EF4-FFF2-40B4-BE49-F238E27FC236}">
                  <a16:creationId xmlns:a16="http://schemas.microsoft.com/office/drawing/2014/main" id="{B7A1892E-C5CD-29B5-93D1-757B46B3A50E}"/>
                </a:ext>
              </a:extLst>
            </p:cNvPr>
            <p:cNvGrpSpPr/>
            <p:nvPr/>
          </p:nvGrpSpPr>
          <p:grpSpPr>
            <a:xfrm>
              <a:off x="925795" y="1922803"/>
              <a:ext cx="3227462" cy="4026450"/>
              <a:chOff x="925795" y="1922803"/>
              <a:chExt cx="3227462" cy="4026450"/>
            </a:xfrm>
          </p:grpSpPr>
          <p:sp>
            <p:nvSpPr>
              <p:cNvPr id="3" name="Rectangle 2">
                <a:extLst>
                  <a:ext uri="{FF2B5EF4-FFF2-40B4-BE49-F238E27FC236}">
                    <a16:creationId xmlns:a16="http://schemas.microsoft.com/office/drawing/2014/main" id="{AC7AE753-1AC8-724B-25C2-B1A5843C31CD}"/>
                  </a:ext>
                </a:extLst>
              </p:cNvPr>
              <p:cNvSpPr/>
              <p:nvPr/>
            </p:nvSpPr>
            <p:spPr>
              <a:xfrm>
                <a:off x="925795" y="3315766"/>
                <a:ext cx="3227462" cy="263348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800" dirty="0">
                    <a:solidFill>
                      <a:schemeClr val="dk1"/>
                    </a:solidFill>
                  </a:rPr>
                  <a:t>Demographics alone are </a:t>
                </a:r>
                <a:r>
                  <a:rPr lang="en-GB" sz="1800" b="1" dirty="0">
                    <a:solidFill>
                      <a:schemeClr val="dk1"/>
                    </a:solidFill>
                  </a:rPr>
                  <a:t>insufficient</a:t>
                </a:r>
                <a:r>
                  <a:rPr lang="en-GB" sz="1800" dirty="0">
                    <a:solidFill>
                      <a:schemeClr val="dk1"/>
                    </a:solidFill>
                  </a:rPr>
                  <a:t> to predict academic success, but they may provide some contextual explanation for academic achievement. They are </a:t>
                </a:r>
                <a:r>
                  <a:rPr lang="en-GB" sz="1800" b="1" dirty="0">
                    <a:solidFill>
                      <a:schemeClr val="dk1"/>
                    </a:solidFill>
                  </a:rPr>
                  <a:t>slightly better </a:t>
                </a:r>
                <a:r>
                  <a:rPr lang="en-GB" sz="1800" dirty="0">
                    <a:solidFill>
                      <a:schemeClr val="dk1"/>
                    </a:solidFill>
                  </a:rPr>
                  <a:t>for predicting writing scores than reading and maths.</a:t>
                </a:r>
              </a:p>
              <a:p>
                <a:pPr algn="ctr"/>
                <a:endParaRPr lang="en-GB" dirty="0"/>
              </a:p>
            </p:txBody>
          </p:sp>
          <p:sp>
            <p:nvSpPr>
              <p:cNvPr id="12" name="Rectangle 11">
                <a:extLst>
                  <a:ext uri="{FF2B5EF4-FFF2-40B4-BE49-F238E27FC236}">
                    <a16:creationId xmlns:a16="http://schemas.microsoft.com/office/drawing/2014/main" id="{F54070E4-C868-D0A6-CFB3-15CD1D0AC040}"/>
                  </a:ext>
                </a:extLst>
              </p:cNvPr>
              <p:cNvSpPr/>
              <p:nvPr/>
            </p:nvSpPr>
            <p:spPr>
              <a:xfrm>
                <a:off x="925795" y="1922803"/>
                <a:ext cx="3227462" cy="130608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20" name="Group 19">
              <a:extLst>
                <a:ext uri="{FF2B5EF4-FFF2-40B4-BE49-F238E27FC236}">
                  <a16:creationId xmlns:a16="http://schemas.microsoft.com/office/drawing/2014/main" id="{E59FC981-D91B-662C-4FE4-7FE1F9C5D6B9}"/>
                </a:ext>
              </a:extLst>
            </p:cNvPr>
            <p:cNvGrpSpPr/>
            <p:nvPr/>
          </p:nvGrpSpPr>
          <p:grpSpPr>
            <a:xfrm>
              <a:off x="4416040" y="1922803"/>
              <a:ext cx="3227462" cy="4026450"/>
              <a:chOff x="4376871" y="1922803"/>
              <a:chExt cx="3227462" cy="4026450"/>
            </a:xfrm>
          </p:grpSpPr>
          <p:sp>
            <p:nvSpPr>
              <p:cNvPr id="15" name="Rectangle 14">
                <a:extLst>
                  <a:ext uri="{FF2B5EF4-FFF2-40B4-BE49-F238E27FC236}">
                    <a16:creationId xmlns:a16="http://schemas.microsoft.com/office/drawing/2014/main" id="{3EA16705-896C-E8A4-E2C9-E33089F69C3D}"/>
                  </a:ext>
                </a:extLst>
              </p:cNvPr>
              <p:cNvSpPr/>
              <p:nvPr/>
            </p:nvSpPr>
            <p:spPr>
              <a:xfrm>
                <a:off x="4376871" y="3315766"/>
                <a:ext cx="3227462" cy="263348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GB" sz="1800" b="1" dirty="0">
                    <a:solidFill>
                      <a:schemeClr val="dk1"/>
                    </a:solidFill>
                  </a:rPr>
                  <a:t>Reading</a:t>
                </a:r>
                <a:r>
                  <a:rPr lang="en-GB" sz="1800" dirty="0">
                    <a:solidFill>
                      <a:schemeClr val="dk1"/>
                    </a:solidFill>
                  </a:rPr>
                  <a:t> prowess is the most powerful single indicator of academic success in Maths and Writing, aligning with educational theory that competency in literacy supports broad academic achievements.</a:t>
                </a:r>
                <a:endParaRPr lang="en-GB" dirty="0"/>
              </a:p>
            </p:txBody>
          </p:sp>
          <p:sp>
            <p:nvSpPr>
              <p:cNvPr id="16" name="Rectangle 15">
                <a:extLst>
                  <a:ext uri="{FF2B5EF4-FFF2-40B4-BE49-F238E27FC236}">
                    <a16:creationId xmlns:a16="http://schemas.microsoft.com/office/drawing/2014/main" id="{697497F4-12C5-7D3E-6ECE-3B43E718D1FD}"/>
                  </a:ext>
                </a:extLst>
              </p:cNvPr>
              <p:cNvSpPr/>
              <p:nvPr/>
            </p:nvSpPr>
            <p:spPr>
              <a:xfrm>
                <a:off x="4376871" y="1922803"/>
                <a:ext cx="3227462" cy="130608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nvGrpSpPr>
            <p:cNvPr id="21" name="Group 20">
              <a:extLst>
                <a:ext uri="{FF2B5EF4-FFF2-40B4-BE49-F238E27FC236}">
                  <a16:creationId xmlns:a16="http://schemas.microsoft.com/office/drawing/2014/main" id="{1D1D5C6C-789A-EA01-57CF-56C1F58C0EAF}"/>
                </a:ext>
              </a:extLst>
            </p:cNvPr>
            <p:cNvGrpSpPr/>
            <p:nvPr/>
          </p:nvGrpSpPr>
          <p:grpSpPr>
            <a:xfrm>
              <a:off x="7906284" y="1922803"/>
              <a:ext cx="3227462" cy="4026450"/>
              <a:chOff x="7906284" y="1922803"/>
              <a:chExt cx="3227462" cy="4026450"/>
            </a:xfrm>
          </p:grpSpPr>
          <p:sp>
            <p:nvSpPr>
              <p:cNvPr id="17" name="Rectangle 16">
                <a:extLst>
                  <a:ext uri="{FF2B5EF4-FFF2-40B4-BE49-F238E27FC236}">
                    <a16:creationId xmlns:a16="http://schemas.microsoft.com/office/drawing/2014/main" id="{C446FF70-4B9C-764A-77E1-F2F57D4DFE3A}"/>
                  </a:ext>
                </a:extLst>
              </p:cNvPr>
              <p:cNvSpPr/>
              <p:nvPr/>
            </p:nvSpPr>
            <p:spPr>
              <a:xfrm>
                <a:off x="7906284" y="3315766"/>
                <a:ext cx="3227462" cy="2633487"/>
              </a:xfrm>
              <a:prstGeom prst="rect">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92075" lvl="1" eaLnBrk="0" fontAlgn="base" hangingPunct="0">
                  <a:spcBef>
                    <a:spcPct val="0"/>
                  </a:spcBef>
                  <a:spcAft>
                    <a:spcPct val="0"/>
                  </a:spcAft>
                  <a:buClrTx/>
                </a:pPr>
                <a:r>
                  <a:rPr lang="en-US" altLang="en-US" sz="1800" b="1" dirty="0">
                    <a:solidFill>
                      <a:schemeClr val="dk1"/>
                    </a:solidFill>
                  </a:rPr>
                  <a:t>Reading score </a:t>
                </a:r>
                <a:r>
                  <a:rPr lang="en-US" altLang="en-US" sz="1800" dirty="0">
                    <a:solidFill>
                      <a:schemeClr val="dk1"/>
                    </a:solidFill>
                  </a:rPr>
                  <a:t>is the single best predictor of writing scores. </a:t>
                </a:r>
                <a:r>
                  <a:rPr lang="en-US" altLang="en-US" sz="1800" b="1" dirty="0">
                    <a:solidFill>
                      <a:schemeClr val="dk1"/>
                    </a:solidFill>
                  </a:rPr>
                  <a:t>Reading and writing scores </a:t>
                </a:r>
                <a:r>
                  <a:rPr lang="en-US" altLang="en-US" sz="1800" dirty="0">
                    <a:solidFill>
                      <a:schemeClr val="dk1"/>
                    </a:solidFill>
                  </a:rPr>
                  <a:t>are the strongest predictors of </a:t>
                </a:r>
                <a:r>
                  <a:rPr lang="en-US" altLang="en-US" sz="1800" dirty="0" err="1">
                    <a:solidFill>
                      <a:schemeClr val="dk1"/>
                    </a:solidFill>
                  </a:rPr>
                  <a:t>Maths</a:t>
                </a:r>
                <a:r>
                  <a:rPr lang="en-US" altLang="en-US" sz="1800" dirty="0">
                    <a:solidFill>
                      <a:schemeClr val="dk1"/>
                    </a:solidFill>
                  </a:rPr>
                  <a:t> performance. Gender adds meaningful value when combined with reading and writing. </a:t>
                </a:r>
                <a:endParaRPr lang="en-GB" dirty="0"/>
              </a:p>
            </p:txBody>
          </p:sp>
          <p:sp>
            <p:nvSpPr>
              <p:cNvPr id="18" name="Rectangle 17">
                <a:extLst>
                  <a:ext uri="{FF2B5EF4-FFF2-40B4-BE49-F238E27FC236}">
                    <a16:creationId xmlns:a16="http://schemas.microsoft.com/office/drawing/2014/main" id="{0C594287-79BA-904A-0795-FB2A8A0FEBCA}"/>
                  </a:ext>
                </a:extLst>
              </p:cNvPr>
              <p:cNvSpPr/>
              <p:nvPr/>
            </p:nvSpPr>
            <p:spPr>
              <a:xfrm>
                <a:off x="7906284" y="1922803"/>
                <a:ext cx="3227462" cy="1306082"/>
              </a:xfrm>
              <a:prstGeom prst="rect">
                <a:avLst/>
              </a:prstGeom>
              <a:solidFill>
                <a:schemeClr val="accent4">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grpSp>
      <p:pic>
        <p:nvPicPr>
          <p:cNvPr id="28" name="Picture 27" descr="A colorful circle with people in the center&#10;&#10;AI-generated content may be incorrect.">
            <a:extLst>
              <a:ext uri="{FF2B5EF4-FFF2-40B4-BE49-F238E27FC236}">
                <a16:creationId xmlns:a16="http://schemas.microsoft.com/office/drawing/2014/main" id="{E43C2394-A491-3206-FDCE-9E929C062513}"/>
              </a:ext>
            </a:extLst>
          </p:cNvPr>
          <p:cNvPicPr>
            <a:picLocks noChangeAspect="1"/>
          </p:cNvPicPr>
          <p:nvPr/>
        </p:nvPicPr>
        <p:blipFill>
          <a:blip r:embed="rId3"/>
          <a:stretch>
            <a:fillRect/>
          </a:stretch>
        </p:blipFill>
        <p:spPr>
          <a:xfrm>
            <a:off x="1956620" y="1902411"/>
            <a:ext cx="1346865" cy="1346865"/>
          </a:xfrm>
          <a:prstGeom prst="rect">
            <a:avLst/>
          </a:prstGeom>
        </p:spPr>
      </p:pic>
      <p:pic>
        <p:nvPicPr>
          <p:cNvPr id="30" name="Picture 29" descr="A black and white icon of a person reading a book&#10;&#10;AI-generated content may be incorrect.">
            <a:extLst>
              <a:ext uri="{FF2B5EF4-FFF2-40B4-BE49-F238E27FC236}">
                <a16:creationId xmlns:a16="http://schemas.microsoft.com/office/drawing/2014/main" id="{F91B1979-2955-69F4-8AC4-C032F6AD46DC}"/>
              </a:ext>
            </a:extLst>
          </p:cNvPr>
          <p:cNvPicPr>
            <a:picLocks noChangeAspect="1"/>
          </p:cNvPicPr>
          <p:nvPr/>
        </p:nvPicPr>
        <p:blipFill>
          <a:blip r:embed="rId4"/>
          <a:stretch>
            <a:fillRect/>
          </a:stretch>
        </p:blipFill>
        <p:spPr>
          <a:xfrm>
            <a:off x="5405499" y="1922803"/>
            <a:ext cx="1306082" cy="1306082"/>
          </a:xfrm>
          <a:prstGeom prst="rect">
            <a:avLst/>
          </a:prstGeom>
        </p:spPr>
      </p:pic>
      <p:grpSp>
        <p:nvGrpSpPr>
          <p:cNvPr id="39" name="Group 38">
            <a:extLst>
              <a:ext uri="{FF2B5EF4-FFF2-40B4-BE49-F238E27FC236}">
                <a16:creationId xmlns:a16="http://schemas.microsoft.com/office/drawing/2014/main" id="{C3AB56D5-00D7-CF8E-009F-4DF0253E4646}"/>
              </a:ext>
            </a:extLst>
          </p:cNvPr>
          <p:cNvGrpSpPr/>
          <p:nvPr/>
        </p:nvGrpSpPr>
        <p:grpSpPr>
          <a:xfrm>
            <a:off x="8210909" y="1921004"/>
            <a:ext cx="2612164" cy="1306082"/>
            <a:chOff x="8210909" y="1929550"/>
            <a:chExt cx="2612164" cy="1306082"/>
          </a:xfrm>
        </p:grpSpPr>
        <p:pic>
          <p:nvPicPr>
            <p:cNvPr id="32" name="Picture 31" descr="A black and white icon of a person reading a book&#10;&#10;AI-generated content may be incorrect.">
              <a:extLst>
                <a:ext uri="{FF2B5EF4-FFF2-40B4-BE49-F238E27FC236}">
                  <a16:creationId xmlns:a16="http://schemas.microsoft.com/office/drawing/2014/main" id="{5F6EA6C0-75E5-F320-79B7-4D8146B01B83}"/>
                </a:ext>
              </a:extLst>
            </p:cNvPr>
            <p:cNvPicPr>
              <a:picLocks noChangeAspect="1"/>
            </p:cNvPicPr>
            <p:nvPr/>
          </p:nvPicPr>
          <p:blipFill>
            <a:blip r:embed="rId4"/>
            <a:stretch>
              <a:fillRect/>
            </a:stretch>
          </p:blipFill>
          <p:spPr>
            <a:xfrm>
              <a:off x="8210909" y="1929550"/>
              <a:ext cx="1306082" cy="1306082"/>
            </a:xfrm>
            <a:prstGeom prst="rect">
              <a:avLst/>
            </a:prstGeom>
          </p:spPr>
        </p:pic>
        <p:pic>
          <p:nvPicPr>
            <p:cNvPr id="38" name="Picture 37" descr="A black and white image of a book with mathematical symbols&#10;&#10;AI-generated content may be incorrect.">
              <a:extLst>
                <a:ext uri="{FF2B5EF4-FFF2-40B4-BE49-F238E27FC236}">
                  <a16:creationId xmlns:a16="http://schemas.microsoft.com/office/drawing/2014/main" id="{2324E4A9-73F8-C31A-146E-ACAB6ECDF102}"/>
                </a:ext>
              </a:extLst>
            </p:cNvPr>
            <p:cNvPicPr>
              <a:picLocks noChangeAspect="1"/>
            </p:cNvPicPr>
            <p:nvPr/>
          </p:nvPicPr>
          <p:blipFill>
            <a:blip r:embed="rId5"/>
            <a:stretch>
              <a:fillRect/>
            </a:stretch>
          </p:blipFill>
          <p:spPr>
            <a:xfrm>
              <a:off x="9516991" y="1929550"/>
              <a:ext cx="1306082" cy="1306082"/>
            </a:xfrm>
            <a:prstGeom prst="rect">
              <a:avLst/>
            </a:prstGeom>
          </p:spPr>
        </p:pic>
      </p:grpSp>
    </p:spTree>
    <p:extLst>
      <p:ext uri="{BB962C8B-B14F-4D97-AF65-F5344CB8AC3E}">
        <p14:creationId xmlns:p14="http://schemas.microsoft.com/office/powerpoint/2010/main" val="737656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4" name="Google Shape;104;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lvl="0"/>
            <a:r>
              <a:rPr lang="en-GB" sz="2800" b="1" dirty="0">
                <a:latin typeface="+mj-lt"/>
              </a:rPr>
              <a:t>Main motivation for selecting this dataset</a:t>
            </a:r>
            <a:r>
              <a:rPr lang="en-GB" sz="2800" b="1" dirty="0">
                <a:latin typeface="+mj-lt"/>
                <a:cs typeface="Arial"/>
                <a:sym typeface="Arial"/>
              </a:rPr>
              <a:t>:</a:t>
            </a:r>
            <a:endParaRPr lang="en-GB" sz="2800" b="1" dirty="0">
              <a:latin typeface="+mj-lt"/>
              <a:ea typeface="Arial"/>
              <a:cs typeface="Arial"/>
              <a:sym typeface="Arial"/>
            </a:endParaRPr>
          </a:p>
        </p:txBody>
      </p:sp>
      <p:sp>
        <p:nvSpPr>
          <p:cNvPr id="106" name="Google Shape;106;p4"/>
          <p:cNvSpPr txBox="1"/>
          <p:nvPr/>
        </p:nvSpPr>
        <p:spPr>
          <a:xfrm>
            <a:off x="850900" y="1300309"/>
            <a:ext cx="8534400" cy="58473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i="1" dirty="0">
                <a:solidFill>
                  <a:schemeClr val="dk1"/>
                </a:solidFill>
                <a:latin typeface="Arial"/>
                <a:ea typeface="Arial"/>
                <a:cs typeface="Arial"/>
                <a:sym typeface="Arial"/>
              </a:rPr>
              <a:t>Dataset Link:</a:t>
            </a:r>
            <a:r>
              <a:rPr lang="en-GB" sz="1600" i="1" dirty="0">
                <a:solidFill>
                  <a:schemeClr val="dk1"/>
                </a:solidFill>
              </a:rPr>
              <a:t> </a:t>
            </a:r>
            <a:r>
              <a:rPr lang="en-GB" sz="1600" dirty="0">
                <a:solidFill>
                  <a:schemeClr val="dk1"/>
                </a:solidFill>
                <a:latin typeface="Arial"/>
                <a:ea typeface="Arial"/>
                <a:cs typeface="Arial"/>
                <a:sym typeface="Arial"/>
                <a:hlinkClick r:id="rId3"/>
              </a:rPr>
              <a:t>https://www.kaggle.com/datasets/alizabrand/school-performance-analysis</a:t>
            </a:r>
            <a:endParaRPr lang="en-GB" sz="1600" dirty="0">
              <a:solidFill>
                <a:schemeClr val="dk1"/>
              </a:solidFill>
              <a:latin typeface="Arial"/>
              <a:ea typeface="Arial"/>
              <a:cs typeface="Arial"/>
              <a:sym typeface="Arial"/>
            </a:endParaRPr>
          </a:p>
          <a:p>
            <a:pPr lvl="0"/>
            <a:r>
              <a:rPr lang="en-GB" sz="1600" i="1" dirty="0" err="1"/>
              <a:t>Github</a:t>
            </a:r>
            <a:r>
              <a:rPr lang="en-GB" sz="1600" i="1" dirty="0"/>
              <a:t> Link: </a:t>
            </a:r>
            <a:r>
              <a:rPr lang="en-GB" sz="1600" dirty="0">
                <a:hlinkClick r:id="rId4"/>
              </a:rPr>
              <a:t>https://github.com/M-3rlin/StudentPerformanceAnalysis</a:t>
            </a:r>
            <a:r>
              <a:rPr lang="en-GB" sz="1600" dirty="0"/>
              <a:t> </a:t>
            </a:r>
            <a:endParaRPr sz="1600" dirty="0"/>
          </a:p>
        </p:txBody>
      </p:sp>
      <p:sp>
        <p:nvSpPr>
          <p:cNvPr id="108" name="Google Shape;108;p4"/>
          <p:cNvSpPr txBox="1"/>
          <p:nvPr/>
        </p:nvSpPr>
        <p:spPr>
          <a:xfrm>
            <a:off x="941075" y="2183270"/>
            <a:ext cx="6698865" cy="3477835"/>
          </a:xfrm>
          <a:prstGeom prst="rect">
            <a:avLst/>
          </a:prstGeom>
          <a:noFill/>
          <a:ln>
            <a:noFill/>
          </a:ln>
        </p:spPr>
        <p:txBody>
          <a:bodyPr spcFirstLastPara="1" wrap="square" lIns="91425" tIns="45700" rIns="91425" bIns="45700" anchor="t" anchorCtr="0">
            <a:spAutoFit/>
          </a:bodyPr>
          <a:lstStyle/>
          <a:p>
            <a:pPr marL="342900" lvl="0" indent="-342900">
              <a:buFont typeface="Arial" panose="020B0604020202020204" pitchFamily="34" charset="0"/>
              <a:buChar char="•"/>
            </a:pPr>
            <a:r>
              <a:rPr lang="en-GB" sz="2000" dirty="0"/>
              <a:t>Education should be an inclusive system that offers fair and equal opportunities for all, irrespective of demographic background. </a:t>
            </a:r>
          </a:p>
          <a:p>
            <a:pPr lvl="0"/>
            <a:endParaRPr lang="en-GB" sz="2000" dirty="0"/>
          </a:p>
          <a:p>
            <a:pPr marL="342900" lvl="0" indent="-342900">
              <a:buFont typeface="Arial" panose="020B0604020202020204" pitchFamily="34" charset="0"/>
              <a:buChar char="•"/>
            </a:pPr>
            <a:r>
              <a:rPr lang="en-GB" sz="2000" dirty="0"/>
              <a:t>This project aims to explore whether specific demographic factors can be used to predict exam results. </a:t>
            </a:r>
          </a:p>
          <a:p>
            <a:pPr marL="342900" lvl="0" indent="-342900">
              <a:buFont typeface="Arial" panose="020B0604020202020204" pitchFamily="34" charset="0"/>
              <a:buChar char="•"/>
            </a:pPr>
            <a:endParaRPr lang="en-GB" sz="2000" dirty="0"/>
          </a:p>
          <a:p>
            <a:pPr marL="342900" lvl="0" indent="-342900">
              <a:buFont typeface="Arial" panose="020B0604020202020204" pitchFamily="34" charset="0"/>
              <a:buChar char="•"/>
            </a:pPr>
            <a:r>
              <a:rPr lang="en-GB" sz="2000" dirty="0"/>
              <a:t>The findings could guide government policies on educational strategies and funding allocations, promoting more equitable educational outcomes.</a:t>
            </a:r>
            <a:endParaRPr sz="2000" dirty="0">
              <a:solidFill>
                <a:schemeClr val="dk1"/>
              </a:solidFill>
              <a:latin typeface="Arial"/>
              <a:ea typeface="Arial"/>
              <a:cs typeface="Arial"/>
              <a:sym typeface="Arial"/>
            </a:endParaRPr>
          </a:p>
        </p:txBody>
      </p:sp>
      <p:pic>
        <p:nvPicPr>
          <p:cNvPr id="3" name="Picture 2">
            <a:extLst>
              <a:ext uri="{FF2B5EF4-FFF2-40B4-BE49-F238E27FC236}">
                <a16:creationId xmlns:a16="http://schemas.microsoft.com/office/drawing/2014/main" id="{1E02A8EE-1D66-D41D-DBC5-7526199482B6}"/>
              </a:ext>
            </a:extLst>
          </p:cNvPr>
          <p:cNvPicPr>
            <a:picLocks noChangeAspect="1"/>
          </p:cNvPicPr>
          <p:nvPr/>
        </p:nvPicPr>
        <p:blipFill>
          <a:blip r:embed="rId5"/>
          <a:stretch>
            <a:fillRect/>
          </a:stretch>
        </p:blipFill>
        <p:spPr>
          <a:xfrm>
            <a:off x="7503374" y="2183269"/>
            <a:ext cx="3477835" cy="347783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5"/>
          <p:cNvSpPr txBox="1">
            <a:spLocks noGrp="1"/>
          </p:cNvSpPr>
          <p:nvPr>
            <p:ph type="title"/>
          </p:nvPr>
        </p:nvSpPr>
        <p:spPr>
          <a:xfrm>
            <a:off x="627625" y="210389"/>
            <a:ext cx="10515600" cy="1325700"/>
          </a:xfrm>
          <a:prstGeom prst="rect">
            <a:avLst/>
          </a:prstGeom>
          <a:noFill/>
          <a:ln>
            <a:noFill/>
          </a:ln>
        </p:spPr>
        <p:txBody>
          <a:bodyPr spcFirstLastPara="1" wrap="square" lIns="91425" tIns="45700" rIns="91425" bIns="45700" anchor="ctr" anchorCtr="0">
            <a:normAutofit/>
          </a:bodyPr>
          <a:lstStyle/>
          <a:p>
            <a:pPr>
              <a:buSzPts val="4400"/>
            </a:pPr>
            <a:r>
              <a:rPr lang="en-GB" sz="2800" b="1" dirty="0">
                <a:latin typeface="+mj-lt"/>
              </a:rPr>
              <a:t>Exploration of the dataset features:</a:t>
            </a:r>
            <a:endParaRPr sz="2800" b="1" dirty="0">
              <a:latin typeface="+mj-lt"/>
            </a:endParaRPr>
          </a:p>
        </p:txBody>
      </p:sp>
      <p:pic>
        <p:nvPicPr>
          <p:cNvPr id="122" name="Google Shape;122;p5" descr="A graph of different sizes and shapes&#10;&#10;AI-generated content may be incorrect."/>
          <p:cNvPicPr preferRelativeResize="0"/>
          <p:nvPr/>
        </p:nvPicPr>
        <p:blipFill rotWithShape="1">
          <a:blip r:embed="rId3">
            <a:alphaModFix/>
          </a:blip>
          <a:srcRect/>
          <a:stretch/>
        </p:blipFill>
        <p:spPr>
          <a:xfrm>
            <a:off x="384294" y="2621325"/>
            <a:ext cx="6675130" cy="4236674"/>
          </a:xfrm>
          <a:prstGeom prst="rect">
            <a:avLst/>
          </a:prstGeom>
          <a:noFill/>
          <a:ln>
            <a:noFill/>
          </a:ln>
        </p:spPr>
      </p:pic>
      <p:sp>
        <p:nvSpPr>
          <p:cNvPr id="123" name="Google Shape;123;p5"/>
          <p:cNvSpPr txBox="1"/>
          <p:nvPr/>
        </p:nvSpPr>
        <p:spPr>
          <a:xfrm>
            <a:off x="627625" y="1663229"/>
            <a:ext cx="6503100" cy="83095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600" dirty="0">
                <a:solidFill>
                  <a:schemeClr val="dk1"/>
                </a:solidFill>
                <a:latin typeface="Arial"/>
                <a:ea typeface="Arial"/>
                <a:cs typeface="Arial"/>
                <a:sym typeface="Arial"/>
              </a:rPr>
              <a:t>1000 student exam results for reading, writing and maths were </a:t>
            </a:r>
            <a:r>
              <a:rPr lang="en-GB" sz="1600" dirty="0">
                <a:solidFill>
                  <a:schemeClr val="dk1"/>
                </a:solidFill>
              </a:rPr>
              <a:t>reviewed </a:t>
            </a:r>
            <a:r>
              <a:rPr lang="en-GB" sz="1600" dirty="0">
                <a:solidFill>
                  <a:schemeClr val="dk1"/>
                </a:solidFill>
                <a:latin typeface="Arial"/>
                <a:ea typeface="Arial"/>
                <a:cs typeface="Arial"/>
                <a:sym typeface="Arial"/>
              </a:rPr>
              <a:t>against 5 demographic characteristics, namely gender, race/ ethnicity, parental level of education, lunch and test preparation score. </a:t>
            </a:r>
            <a:endParaRPr sz="1200" dirty="0"/>
          </a:p>
        </p:txBody>
      </p:sp>
      <p:graphicFrame>
        <p:nvGraphicFramePr>
          <p:cNvPr id="124" name="Google Shape;124;p5"/>
          <p:cNvGraphicFramePr/>
          <p:nvPr>
            <p:extLst>
              <p:ext uri="{D42A27DB-BD31-4B8C-83A1-F6EECF244321}">
                <p14:modId xmlns:p14="http://schemas.microsoft.com/office/powerpoint/2010/main" val="705849403"/>
              </p:ext>
            </p:extLst>
          </p:nvPr>
        </p:nvGraphicFramePr>
        <p:xfrm>
          <a:off x="7130725" y="1458801"/>
          <a:ext cx="4676975" cy="5209219"/>
        </p:xfrm>
        <a:graphic>
          <a:graphicData uri="http://schemas.openxmlformats.org/drawingml/2006/table">
            <a:tbl>
              <a:tblPr firstRow="1" bandRow="1">
                <a:noFill/>
                <a:tableStyleId>{DA23AE36-0CC6-4DA9-BF7E-503C81AC8551}</a:tableStyleId>
              </a:tblPr>
              <a:tblGrid>
                <a:gridCol w="4676975">
                  <a:extLst>
                    <a:ext uri="{9D8B030D-6E8A-4147-A177-3AD203B41FA5}">
                      <a16:colId xmlns:a16="http://schemas.microsoft.com/office/drawing/2014/main" val="20000"/>
                    </a:ext>
                  </a:extLst>
                </a:gridCol>
              </a:tblGrid>
              <a:tr h="281025">
                <a:tc>
                  <a:txBody>
                    <a:bodyPr/>
                    <a:lstStyle/>
                    <a:p>
                      <a:pPr marL="0" marR="0" lvl="0" indent="0" algn="ctr" rtl="0">
                        <a:spcBef>
                          <a:spcPts val="0"/>
                        </a:spcBef>
                        <a:spcAft>
                          <a:spcPts val="0"/>
                        </a:spcAft>
                        <a:buNone/>
                      </a:pPr>
                      <a:r>
                        <a:rPr lang="en-GB" sz="1400" b="1"/>
                        <a:t>Gender</a:t>
                      </a:r>
                      <a:endParaRPr b="1"/>
                    </a:p>
                  </a:txBody>
                  <a:tcPr marL="91450" marR="91450" marT="45725" marB="45725">
                    <a:solidFill>
                      <a:srgbClr val="CFE2F3"/>
                    </a:solidFill>
                  </a:tcPr>
                </a:tc>
                <a:extLst>
                  <a:ext uri="{0D108BD9-81ED-4DB2-BD59-A6C34878D82A}">
                    <a16:rowId xmlns:a16="http://schemas.microsoft.com/office/drawing/2014/main" val="10000"/>
                  </a:ext>
                </a:extLst>
              </a:tr>
              <a:tr h="527343">
                <a:tc>
                  <a:txBody>
                    <a:bodyPr/>
                    <a:lstStyle/>
                    <a:p>
                      <a:pPr marL="0" marR="0" lvl="0" indent="0" algn="l" rtl="0">
                        <a:spcBef>
                          <a:spcPts val="0"/>
                        </a:spcBef>
                        <a:spcAft>
                          <a:spcPts val="0"/>
                        </a:spcAft>
                        <a:buNone/>
                      </a:pPr>
                      <a:r>
                        <a:rPr lang="en-GB" sz="1400"/>
                        <a:t>Female:51.8%</a:t>
                      </a:r>
                      <a:endParaRPr/>
                    </a:p>
                    <a:p>
                      <a:pPr marL="0" marR="0" lvl="0" indent="0" algn="l" rtl="0">
                        <a:spcBef>
                          <a:spcPts val="0"/>
                        </a:spcBef>
                        <a:spcAft>
                          <a:spcPts val="0"/>
                        </a:spcAft>
                        <a:buNone/>
                      </a:pPr>
                      <a:r>
                        <a:rPr lang="en-GB" sz="1400"/>
                        <a:t>Male: 48.2%</a:t>
                      </a:r>
                      <a:endParaRPr/>
                    </a:p>
                  </a:txBody>
                  <a:tcPr marL="91450" marR="91450" marT="45725" marB="45725"/>
                </a:tc>
                <a:extLst>
                  <a:ext uri="{0D108BD9-81ED-4DB2-BD59-A6C34878D82A}">
                    <a16:rowId xmlns:a16="http://schemas.microsoft.com/office/drawing/2014/main" val="10001"/>
                  </a:ext>
                </a:extLst>
              </a:tr>
              <a:tr h="301323">
                <a:tc>
                  <a:txBody>
                    <a:bodyPr/>
                    <a:lstStyle/>
                    <a:p>
                      <a:pPr marL="0" marR="0" lvl="0" indent="0" algn="ctr" rtl="0">
                        <a:spcBef>
                          <a:spcPts val="0"/>
                        </a:spcBef>
                        <a:spcAft>
                          <a:spcPts val="0"/>
                        </a:spcAft>
                        <a:buNone/>
                      </a:pPr>
                      <a:r>
                        <a:rPr lang="en-GB" sz="1400" b="1"/>
                        <a:t>Race/Ethnicity</a:t>
                      </a:r>
                      <a:endParaRPr b="1"/>
                    </a:p>
                  </a:txBody>
                  <a:tcPr marL="91450" marR="91450" marT="45725" marB="45725">
                    <a:solidFill>
                      <a:srgbClr val="CFE2F3"/>
                    </a:solidFill>
                  </a:tcPr>
                </a:tc>
                <a:extLst>
                  <a:ext uri="{0D108BD9-81ED-4DB2-BD59-A6C34878D82A}">
                    <a16:rowId xmlns:a16="http://schemas.microsoft.com/office/drawing/2014/main" val="10002"/>
                  </a:ext>
                </a:extLst>
              </a:tr>
              <a:tr h="527343">
                <a:tc>
                  <a:txBody>
                    <a:bodyPr/>
                    <a:lstStyle/>
                    <a:p>
                      <a:pPr marL="0" marR="0" lvl="0" indent="0" algn="l" rtl="0">
                        <a:spcBef>
                          <a:spcPts val="0"/>
                        </a:spcBef>
                        <a:spcAft>
                          <a:spcPts val="0"/>
                        </a:spcAft>
                        <a:buNone/>
                      </a:pPr>
                      <a:r>
                        <a:rPr lang="en-GB"/>
                        <a:t>Group A: 9%, Group B: 19%, G</a:t>
                      </a:r>
                      <a:r>
                        <a:rPr lang="en-GB" sz="1400"/>
                        <a:t>roup C: 32%; </a:t>
                      </a:r>
                      <a:endParaRPr sz="1400"/>
                    </a:p>
                    <a:p>
                      <a:pPr marL="0" marR="0" lvl="0" indent="0" algn="l" rtl="0">
                        <a:spcBef>
                          <a:spcPts val="0"/>
                        </a:spcBef>
                        <a:spcAft>
                          <a:spcPts val="0"/>
                        </a:spcAft>
                        <a:buNone/>
                      </a:pPr>
                      <a:r>
                        <a:rPr lang="en-GB"/>
                        <a:t>G</a:t>
                      </a:r>
                      <a:r>
                        <a:rPr lang="en-GB" sz="1400"/>
                        <a:t>roup D: 26% </a:t>
                      </a:r>
                      <a:r>
                        <a:rPr lang="en-GB"/>
                        <a:t>G</a:t>
                      </a:r>
                      <a:r>
                        <a:rPr lang="en-GB" sz="1400"/>
                        <a:t>roup E 14% </a:t>
                      </a:r>
                      <a:endParaRPr/>
                    </a:p>
                  </a:txBody>
                  <a:tcPr marL="91450" marR="91450" marT="45725" marB="45725"/>
                </a:tc>
                <a:extLst>
                  <a:ext uri="{0D108BD9-81ED-4DB2-BD59-A6C34878D82A}">
                    <a16:rowId xmlns:a16="http://schemas.microsoft.com/office/drawing/2014/main" val="10003"/>
                  </a:ext>
                </a:extLst>
              </a:tr>
              <a:tr h="301323">
                <a:tc>
                  <a:txBody>
                    <a:bodyPr/>
                    <a:lstStyle/>
                    <a:p>
                      <a:pPr marL="0" marR="0" lvl="0" indent="0" algn="ctr" rtl="0">
                        <a:spcBef>
                          <a:spcPts val="0"/>
                        </a:spcBef>
                        <a:spcAft>
                          <a:spcPts val="0"/>
                        </a:spcAft>
                        <a:buNone/>
                      </a:pPr>
                      <a:r>
                        <a:rPr lang="en-GB" sz="1400" b="1"/>
                        <a:t>Parental level of education</a:t>
                      </a:r>
                      <a:endParaRPr b="1"/>
                    </a:p>
                  </a:txBody>
                  <a:tcPr marL="91450" marR="91450" marT="45725" marB="45725">
                    <a:solidFill>
                      <a:srgbClr val="CFE2F3"/>
                    </a:solidFill>
                  </a:tcPr>
                </a:tc>
                <a:extLst>
                  <a:ext uri="{0D108BD9-81ED-4DB2-BD59-A6C34878D82A}">
                    <a16:rowId xmlns:a16="http://schemas.microsoft.com/office/drawing/2014/main" val="10004"/>
                  </a:ext>
                </a:extLst>
              </a:tr>
              <a:tr h="1461293">
                <a:tc>
                  <a:txBody>
                    <a:bodyPr/>
                    <a:lstStyle/>
                    <a:p>
                      <a:pPr marL="0" lvl="0" indent="0" algn="l" rtl="0">
                        <a:spcBef>
                          <a:spcPts val="0"/>
                        </a:spcBef>
                        <a:spcAft>
                          <a:spcPts val="0"/>
                        </a:spcAft>
                        <a:buClr>
                          <a:schemeClr val="dk1"/>
                        </a:buClr>
                        <a:buFont typeface="Arial"/>
                        <a:buNone/>
                      </a:pPr>
                      <a:r>
                        <a:rPr lang="en-GB"/>
                        <a:t>some high school 18% </a:t>
                      </a:r>
                      <a:endParaRPr/>
                    </a:p>
                    <a:p>
                      <a:pPr marL="0" marR="0" lvl="0" indent="0" algn="l" rtl="0">
                        <a:spcBef>
                          <a:spcPts val="0"/>
                        </a:spcBef>
                        <a:spcAft>
                          <a:spcPts val="0"/>
                        </a:spcAft>
                        <a:buNone/>
                      </a:pPr>
                      <a:r>
                        <a:rPr lang="en-GB" sz="1400"/>
                        <a:t>some college 2</a:t>
                      </a:r>
                      <a:r>
                        <a:rPr lang="en-GB"/>
                        <a:t>3</a:t>
                      </a:r>
                      <a:r>
                        <a:rPr lang="en-GB" sz="1400"/>
                        <a:t>%</a:t>
                      </a:r>
                      <a:endParaRPr/>
                    </a:p>
                    <a:p>
                      <a:pPr marL="0" marR="0" lvl="0" indent="0" algn="l" rtl="0">
                        <a:spcBef>
                          <a:spcPts val="0"/>
                        </a:spcBef>
                        <a:spcAft>
                          <a:spcPts val="0"/>
                        </a:spcAft>
                        <a:buNone/>
                      </a:pPr>
                      <a:r>
                        <a:rPr lang="en-GB" sz="1400"/>
                        <a:t>associate's degree 22% </a:t>
                      </a:r>
                      <a:endParaRPr/>
                    </a:p>
                    <a:p>
                      <a:pPr marL="0" marR="0" lvl="0" indent="0" algn="l" rtl="0">
                        <a:spcBef>
                          <a:spcPts val="0"/>
                        </a:spcBef>
                        <a:spcAft>
                          <a:spcPts val="0"/>
                        </a:spcAft>
                        <a:buNone/>
                      </a:pPr>
                      <a:r>
                        <a:rPr lang="en-GB" sz="1400"/>
                        <a:t>high school </a:t>
                      </a:r>
                      <a:r>
                        <a:rPr lang="en-GB"/>
                        <a:t>20</a:t>
                      </a:r>
                      <a:r>
                        <a:rPr lang="en-GB" sz="1400"/>
                        <a:t>% </a:t>
                      </a:r>
                      <a:endParaRPr/>
                    </a:p>
                    <a:p>
                      <a:pPr marL="0" marR="0" lvl="0" indent="0" algn="l" rtl="0">
                        <a:spcBef>
                          <a:spcPts val="0"/>
                        </a:spcBef>
                        <a:spcAft>
                          <a:spcPts val="0"/>
                        </a:spcAft>
                        <a:buNone/>
                      </a:pPr>
                      <a:r>
                        <a:rPr lang="en-GB" sz="1400"/>
                        <a:t>some high school 18% </a:t>
                      </a:r>
                      <a:endParaRPr sz="1400"/>
                    </a:p>
                    <a:p>
                      <a:pPr marL="0" marR="0" lvl="0" indent="0" algn="l" rtl="0">
                        <a:spcBef>
                          <a:spcPts val="0"/>
                        </a:spcBef>
                        <a:spcAft>
                          <a:spcPts val="0"/>
                        </a:spcAft>
                        <a:buNone/>
                      </a:pPr>
                      <a:r>
                        <a:rPr lang="en-GB" sz="1400"/>
                        <a:t>bachelor's degree 1</a:t>
                      </a:r>
                      <a:r>
                        <a:rPr lang="en-GB"/>
                        <a:t>3</a:t>
                      </a:r>
                      <a:r>
                        <a:rPr lang="en-GB" sz="1400"/>
                        <a:t>%</a:t>
                      </a:r>
                      <a:endParaRPr sz="1400"/>
                    </a:p>
                    <a:p>
                      <a:pPr marL="0" marR="0" lvl="0" indent="0" algn="l" rtl="0">
                        <a:spcBef>
                          <a:spcPts val="0"/>
                        </a:spcBef>
                        <a:spcAft>
                          <a:spcPts val="0"/>
                        </a:spcAft>
                        <a:buNone/>
                      </a:pPr>
                      <a:r>
                        <a:rPr lang="en-GB" sz="1400"/>
                        <a:t> master's degree 69%</a:t>
                      </a:r>
                      <a:endParaRPr/>
                    </a:p>
                  </a:txBody>
                  <a:tcPr marL="91450" marR="91450" marT="45725" marB="45725"/>
                </a:tc>
                <a:extLst>
                  <a:ext uri="{0D108BD9-81ED-4DB2-BD59-A6C34878D82A}">
                    <a16:rowId xmlns:a16="http://schemas.microsoft.com/office/drawing/2014/main" val="10005"/>
                  </a:ext>
                </a:extLst>
              </a:tr>
              <a:tr h="301323">
                <a:tc>
                  <a:txBody>
                    <a:bodyPr/>
                    <a:lstStyle/>
                    <a:p>
                      <a:pPr marL="0" marR="0" lvl="0" indent="0" algn="ctr" rtl="0">
                        <a:spcBef>
                          <a:spcPts val="0"/>
                        </a:spcBef>
                        <a:spcAft>
                          <a:spcPts val="0"/>
                        </a:spcAft>
                        <a:buNone/>
                      </a:pPr>
                      <a:r>
                        <a:rPr lang="en-GB" sz="1400" b="1"/>
                        <a:t>Lunch</a:t>
                      </a:r>
                      <a:endParaRPr b="1"/>
                    </a:p>
                  </a:txBody>
                  <a:tcPr marL="91450" marR="91450" marT="45725" marB="45725">
                    <a:solidFill>
                      <a:srgbClr val="CFE2F3"/>
                    </a:solidFill>
                  </a:tcPr>
                </a:tc>
                <a:extLst>
                  <a:ext uri="{0D108BD9-81ED-4DB2-BD59-A6C34878D82A}">
                    <a16:rowId xmlns:a16="http://schemas.microsoft.com/office/drawing/2014/main" val="10006"/>
                  </a:ext>
                </a:extLst>
              </a:tr>
              <a:tr h="477737">
                <a:tc>
                  <a:txBody>
                    <a:bodyPr/>
                    <a:lstStyle/>
                    <a:p>
                      <a:pPr marL="0" marR="0" lvl="0" indent="0" algn="l" rtl="0">
                        <a:spcBef>
                          <a:spcPts val="0"/>
                        </a:spcBef>
                        <a:spcAft>
                          <a:spcPts val="0"/>
                        </a:spcAft>
                        <a:buNone/>
                      </a:pPr>
                      <a:r>
                        <a:rPr lang="en-GB"/>
                        <a:t>S</a:t>
                      </a:r>
                      <a:r>
                        <a:rPr lang="en-GB" sz="1400"/>
                        <a:t>tandard 6</a:t>
                      </a:r>
                      <a:r>
                        <a:rPr lang="en-GB"/>
                        <a:t>5</a:t>
                      </a:r>
                      <a:r>
                        <a:rPr lang="en-GB" sz="1400"/>
                        <a:t> %</a:t>
                      </a:r>
                      <a:endParaRPr/>
                    </a:p>
                    <a:p>
                      <a:pPr marL="0" marR="0" lvl="0" indent="0" algn="l" rtl="0">
                        <a:spcBef>
                          <a:spcPts val="0"/>
                        </a:spcBef>
                        <a:spcAft>
                          <a:spcPts val="0"/>
                        </a:spcAft>
                        <a:buNone/>
                      </a:pPr>
                      <a:r>
                        <a:rPr lang="en-GB"/>
                        <a:t>F</a:t>
                      </a:r>
                      <a:r>
                        <a:rPr lang="en-GB" sz="1400"/>
                        <a:t>ree/reduced 3</a:t>
                      </a:r>
                      <a:r>
                        <a:rPr lang="en-GB"/>
                        <a:t>6</a:t>
                      </a:r>
                      <a:r>
                        <a:rPr lang="en-GB" sz="1400"/>
                        <a:t>%</a:t>
                      </a:r>
                      <a:endParaRPr/>
                    </a:p>
                  </a:txBody>
                  <a:tcPr marL="91450" marR="91450" marT="45725" marB="45725"/>
                </a:tc>
                <a:extLst>
                  <a:ext uri="{0D108BD9-81ED-4DB2-BD59-A6C34878D82A}">
                    <a16:rowId xmlns:a16="http://schemas.microsoft.com/office/drawing/2014/main" val="10007"/>
                  </a:ext>
                </a:extLst>
              </a:tr>
              <a:tr h="301323">
                <a:tc>
                  <a:txBody>
                    <a:bodyPr/>
                    <a:lstStyle/>
                    <a:p>
                      <a:pPr marL="0" marR="0" lvl="0" indent="0" algn="ctr" rtl="0">
                        <a:spcBef>
                          <a:spcPts val="0"/>
                        </a:spcBef>
                        <a:spcAft>
                          <a:spcPts val="0"/>
                        </a:spcAft>
                        <a:buNone/>
                      </a:pPr>
                      <a:r>
                        <a:rPr lang="en-GB" sz="1400" b="1"/>
                        <a:t>Test preparation course</a:t>
                      </a:r>
                      <a:endParaRPr b="1"/>
                    </a:p>
                  </a:txBody>
                  <a:tcPr marL="91450" marR="91450" marT="45725" marB="45725">
                    <a:solidFill>
                      <a:srgbClr val="CFE2F3"/>
                    </a:solidFill>
                  </a:tcPr>
                </a:tc>
                <a:extLst>
                  <a:ext uri="{0D108BD9-81ED-4DB2-BD59-A6C34878D82A}">
                    <a16:rowId xmlns:a16="http://schemas.microsoft.com/office/drawing/2014/main" val="10008"/>
                  </a:ext>
                </a:extLst>
              </a:tr>
              <a:tr h="527343">
                <a:tc>
                  <a:txBody>
                    <a:bodyPr/>
                    <a:lstStyle/>
                    <a:p>
                      <a:pPr marL="0" marR="0" lvl="0" indent="0" algn="l" rtl="0">
                        <a:spcBef>
                          <a:spcPts val="0"/>
                        </a:spcBef>
                        <a:spcAft>
                          <a:spcPts val="0"/>
                        </a:spcAft>
                        <a:buNone/>
                      </a:pPr>
                      <a:r>
                        <a:rPr lang="en-GB" dirty="0"/>
                        <a:t>N</a:t>
                      </a:r>
                      <a:r>
                        <a:rPr lang="en-GB" sz="1400" dirty="0"/>
                        <a:t>one 64%</a:t>
                      </a:r>
                      <a:endParaRPr dirty="0"/>
                    </a:p>
                    <a:p>
                      <a:pPr marL="0" marR="0" lvl="0" indent="0" algn="l" rtl="0">
                        <a:spcBef>
                          <a:spcPts val="0"/>
                        </a:spcBef>
                        <a:spcAft>
                          <a:spcPts val="0"/>
                        </a:spcAft>
                        <a:buNone/>
                      </a:pPr>
                      <a:r>
                        <a:rPr lang="en-GB" dirty="0"/>
                        <a:t>C</a:t>
                      </a:r>
                      <a:r>
                        <a:rPr lang="en-GB" sz="1400" dirty="0"/>
                        <a:t>ompleted 3</a:t>
                      </a:r>
                      <a:r>
                        <a:rPr lang="en-GB" dirty="0"/>
                        <a:t>6</a:t>
                      </a:r>
                      <a:r>
                        <a:rPr lang="en-GB" sz="1400" dirty="0"/>
                        <a:t>%</a:t>
                      </a:r>
                      <a:endParaRPr dirty="0"/>
                    </a:p>
                  </a:txBody>
                  <a:tcPr marL="91450" marR="91450" marT="45725" marB="45725"/>
                </a:tc>
                <a:extLst>
                  <a:ext uri="{0D108BD9-81ED-4DB2-BD59-A6C34878D82A}">
                    <a16:rowId xmlns:a16="http://schemas.microsoft.com/office/drawing/2014/main" val="10009"/>
                  </a:ext>
                </a:extLst>
              </a:tr>
            </a:tbl>
          </a:graphicData>
        </a:graphic>
      </p:graphicFrame>
      <p:pic>
        <p:nvPicPr>
          <p:cNvPr id="125" name="Google Shape;125;p5"/>
          <p:cNvPicPr preferRelativeResize="0"/>
          <p:nvPr/>
        </p:nvPicPr>
        <p:blipFill>
          <a:blip r:embed="rId4">
            <a:alphaModFix/>
          </a:blip>
          <a:stretch>
            <a:fillRect/>
          </a:stretch>
        </p:blipFill>
        <p:spPr>
          <a:xfrm>
            <a:off x="8579400" y="1835705"/>
            <a:ext cx="403050" cy="403050"/>
          </a:xfrm>
          <a:prstGeom prst="rect">
            <a:avLst/>
          </a:prstGeom>
          <a:noFill/>
          <a:ln>
            <a:noFill/>
          </a:ln>
        </p:spPr>
      </p:pic>
      <p:pic>
        <p:nvPicPr>
          <p:cNvPr id="126" name="Google Shape;126;p5"/>
          <p:cNvPicPr preferRelativeResize="0"/>
          <p:nvPr/>
        </p:nvPicPr>
        <p:blipFill>
          <a:blip r:embed="rId5">
            <a:alphaModFix/>
          </a:blip>
          <a:stretch>
            <a:fillRect/>
          </a:stretch>
        </p:blipFill>
        <p:spPr>
          <a:xfrm>
            <a:off x="9267688" y="1835705"/>
            <a:ext cx="403050" cy="403050"/>
          </a:xfrm>
          <a:prstGeom prst="rect">
            <a:avLst/>
          </a:prstGeom>
          <a:noFill/>
          <a:ln>
            <a:noFill/>
          </a:ln>
        </p:spPr>
      </p:pic>
      <p:grpSp>
        <p:nvGrpSpPr>
          <p:cNvPr id="2" name="Group 1">
            <a:extLst>
              <a:ext uri="{FF2B5EF4-FFF2-40B4-BE49-F238E27FC236}">
                <a16:creationId xmlns:a16="http://schemas.microsoft.com/office/drawing/2014/main" id="{3D2CE952-2FF0-41C3-1CC6-5ADBDB20218E}"/>
              </a:ext>
            </a:extLst>
          </p:cNvPr>
          <p:cNvGrpSpPr/>
          <p:nvPr/>
        </p:nvGrpSpPr>
        <p:grpSpPr>
          <a:xfrm>
            <a:off x="10704600" y="1826345"/>
            <a:ext cx="1103100" cy="4799185"/>
            <a:chOff x="10704600" y="1826345"/>
            <a:chExt cx="1103100" cy="4799185"/>
          </a:xfrm>
        </p:grpSpPr>
        <p:sp>
          <p:nvSpPr>
            <p:cNvPr id="127" name="Google Shape;127;p5"/>
            <p:cNvSpPr txBox="1"/>
            <p:nvPr/>
          </p:nvSpPr>
          <p:spPr>
            <a:xfrm>
              <a:off x="10704600" y="1826345"/>
              <a:ext cx="1103100" cy="403200"/>
            </a:xfrm>
            <a:prstGeom prst="rect">
              <a:avLst/>
            </a:prstGeom>
            <a:solidFill>
              <a:schemeClr val="accent6"/>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solidFill>
                    <a:schemeClr val="dk1"/>
                  </a:solidFill>
                </a:rPr>
                <a:t>Balanced</a:t>
              </a:r>
              <a:endParaRPr sz="1200" dirty="0">
                <a:solidFill>
                  <a:schemeClr val="dk1"/>
                </a:solidFill>
              </a:endParaRPr>
            </a:p>
          </p:txBody>
        </p:sp>
        <p:sp>
          <p:nvSpPr>
            <p:cNvPr id="128" name="Google Shape;128;p5"/>
            <p:cNvSpPr txBox="1"/>
            <p:nvPr/>
          </p:nvSpPr>
          <p:spPr>
            <a:xfrm>
              <a:off x="10704600" y="2687880"/>
              <a:ext cx="1103100" cy="403200"/>
            </a:xfrm>
            <a:prstGeom prst="rect">
              <a:avLst/>
            </a:prstGeom>
            <a:solidFill>
              <a:schemeClr val="accen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rPr>
                <a:t>Skewed</a:t>
              </a:r>
              <a:endParaRPr sz="1200">
                <a:solidFill>
                  <a:schemeClr val="dk1"/>
                </a:solidFill>
              </a:endParaRPr>
            </a:p>
          </p:txBody>
        </p:sp>
        <p:sp>
          <p:nvSpPr>
            <p:cNvPr id="129" name="Google Shape;129;p5"/>
            <p:cNvSpPr txBox="1"/>
            <p:nvPr/>
          </p:nvSpPr>
          <p:spPr>
            <a:xfrm>
              <a:off x="10704600" y="3954105"/>
              <a:ext cx="1103100" cy="403200"/>
            </a:xfrm>
            <a:prstGeom prst="rect">
              <a:avLst/>
            </a:prstGeom>
            <a:solidFill>
              <a:schemeClr val="accen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rPr>
                <a:t>Skewed </a:t>
              </a:r>
              <a:endParaRPr sz="1200">
                <a:solidFill>
                  <a:schemeClr val="dk1"/>
                </a:solidFill>
              </a:endParaRPr>
            </a:p>
          </p:txBody>
        </p:sp>
        <p:sp>
          <p:nvSpPr>
            <p:cNvPr id="130" name="Google Shape;130;p5"/>
            <p:cNvSpPr txBox="1"/>
            <p:nvPr/>
          </p:nvSpPr>
          <p:spPr>
            <a:xfrm>
              <a:off x="10704600" y="6222330"/>
              <a:ext cx="1103100" cy="403200"/>
            </a:xfrm>
            <a:prstGeom prst="rect">
              <a:avLst/>
            </a:prstGeom>
            <a:solidFill>
              <a:schemeClr val="accen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dirty="0">
                  <a:solidFill>
                    <a:schemeClr val="dk1"/>
                  </a:solidFill>
                </a:rPr>
                <a:t>Skewed </a:t>
              </a:r>
              <a:endParaRPr sz="1200" dirty="0">
                <a:solidFill>
                  <a:schemeClr val="dk1"/>
                </a:solidFill>
              </a:endParaRPr>
            </a:p>
          </p:txBody>
        </p:sp>
        <p:sp>
          <p:nvSpPr>
            <p:cNvPr id="131" name="Google Shape;131;p5"/>
            <p:cNvSpPr txBox="1"/>
            <p:nvPr/>
          </p:nvSpPr>
          <p:spPr>
            <a:xfrm>
              <a:off x="10704600" y="5421930"/>
              <a:ext cx="1103100" cy="403200"/>
            </a:xfrm>
            <a:prstGeom prst="rect">
              <a:avLst/>
            </a:prstGeom>
            <a:solidFill>
              <a:schemeClr val="accent2"/>
            </a:solid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200">
                  <a:solidFill>
                    <a:schemeClr val="dk1"/>
                  </a:solidFill>
                </a:rPr>
                <a:t>Skewed </a:t>
              </a:r>
              <a:endParaRPr sz="1200">
                <a:solidFill>
                  <a:schemeClr val="dk1"/>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buSzPts val="4400"/>
            </a:pPr>
            <a:r>
              <a:rPr lang="en-GB" sz="2800" b="1" dirty="0">
                <a:latin typeface="+mj-lt"/>
              </a:rPr>
              <a:t>Score distributions are fairly symmetrical and consistent across all 3 subjects (visualisations on next slide):</a:t>
            </a:r>
            <a:endParaRPr sz="2800" b="1" dirty="0">
              <a:latin typeface="+mj-lt"/>
            </a:endParaRPr>
          </a:p>
        </p:txBody>
      </p:sp>
      <p:graphicFrame>
        <p:nvGraphicFramePr>
          <p:cNvPr id="137" name="Google Shape;137;p8"/>
          <p:cNvGraphicFramePr/>
          <p:nvPr/>
        </p:nvGraphicFramePr>
        <p:xfrm>
          <a:off x="952500" y="1690700"/>
          <a:ext cx="10287000" cy="2773470"/>
        </p:xfrm>
        <a:graphic>
          <a:graphicData uri="http://schemas.openxmlformats.org/drawingml/2006/table">
            <a:tbl>
              <a:tblPr>
                <a:noFill/>
                <a:tableStyleId>{9B8805F4-5151-4A3C-AF85-C32A6044E202}</a:tableStyleId>
              </a:tblPr>
              <a:tblGrid>
                <a:gridCol w="2571750">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gridCol w="2571750">
                  <a:extLst>
                    <a:ext uri="{9D8B030D-6E8A-4147-A177-3AD203B41FA5}">
                      <a16:colId xmlns:a16="http://schemas.microsoft.com/office/drawing/2014/main" val="20002"/>
                    </a:ext>
                  </a:extLst>
                </a:gridCol>
                <a:gridCol w="2571750">
                  <a:extLst>
                    <a:ext uri="{9D8B030D-6E8A-4147-A177-3AD203B41FA5}">
                      <a16:colId xmlns:a16="http://schemas.microsoft.com/office/drawing/2014/main" val="20003"/>
                    </a:ext>
                  </a:extLst>
                </a:gridCol>
              </a:tblGrid>
              <a:tr h="381000">
                <a:tc>
                  <a:txBody>
                    <a:bodyPr/>
                    <a:lstStyle/>
                    <a:p>
                      <a:pPr marL="0" lvl="0" indent="0" algn="l" rtl="0">
                        <a:spcBef>
                          <a:spcPts val="0"/>
                        </a:spcBef>
                        <a:spcAft>
                          <a:spcPts val="0"/>
                        </a:spcAft>
                        <a:buNone/>
                      </a:pPr>
                      <a:endParaRPr/>
                    </a:p>
                  </a:txBody>
                  <a:tcPr marL="91425" marR="91425" marT="91425" marB="91425">
                    <a:solidFill>
                      <a:srgbClr val="CFE2F3"/>
                    </a:solidFill>
                  </a:tcPr>
                </a:tc>
                <a:tc>
                  <a:txBody>
                    <a:bodyPr/>
                    <a:lstStyle/>
                    <a:p>
                      <a:pPr marL="0" lvl="0" indent="0" algn="ctr" rtl="0">
                        <a:spcBef>
                          <a:spcPts val="0"/>
                        </a:spcBef>
                        <a:spcAft>
                          <a:spcPts val="0"/>
                        </a:spcAft>
                        <a:buNone/>
                      </a:pPr>
                      <a:r>
                        <a:rPr lang="en-GB" b="1"/>
                        <a:t>Math Score </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b="1"/>
                        <a:t>Reading Score</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b="1"/>
                        <a:t>Writing Score </a:t>
                      </a:r>
                      <a:endParaRPr b="1"/>
                    </a:p>
                  </a:txBody>
                  <a:tcPr marL="91425" marR="91425" marT="91425" marB="91425">
                    <a:solidFill>
                      <a:srgbClr val="CFE2F3"/>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b="1"/>
                        <a:t>Mean</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a:t>66</a:t>
                      </a:r>
                      <a:endParaRPr/>
                    </a:p>
                  </a:txBody>
                  <a:tcPr marL="91425" marR="91425" marT="91425" marB="91425"/>
                </a:tc>
                <a:tc>
                  <a:txBody>
                    <a:bodyPr/>
                    <a:lstStyle/>
                    <a:p>
                      <a:pPr marL="0" lvl="0" indent="0" algn="ctr" rtl="0">
                        <a:spcBef>
                          <a:spcPts val="0"/>
                        </a:spcBef>
                        <a:spcAft>
                          <a:spcPts val="0"/>
                        </a:spcAft>
                        <a:buNone/>
                      </a:pPr>
                      <a:r>
                        <a:rPr lang="en-GB"/>
                        <a:t>69</a:t>
                      </a:r>
                      <a:endParaRPr/>
                    </a:p>
                  </a:txBody>
                  <a:tcPr marL="91425" marR="91425" marT="91425" marB="91425"/>
                </a:tc>
                <a:tc>
                  <a:txBody>
                    <a:bodyPr/>
                    <a:lstStyle/>
                    <a:p>
                      <a:pPr marL="0" lvl="0" indent="0" algn="ctr" rtl="0">
                        <a:spcBef>
                          <a:spcPts val="0"/>
                        </a:spcBef>
                        <a:spcAft>
                          <a:spcPts val="0"/>
                        </a:spcAft>
                        <a:buNone/>
                      </a:pPr>
                      <a:r>
                        <a:rPr lang="en-GB"/>
                        <a:t>68</a:t>
                      </a: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b="1"/>
                        <a:t>Standard deviation</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a:t>15</a:t>
                      </a:r>
                      <a:endParaRPr/>
                    </a:p>
                  </a:txBody>
                  <a:tcPr marL="91425" marR="91425" marT="91425" marB="91425"/>
                </a:tc>
                <a:tc>
                  <a:txBody>
                    <a:bodyPr/>
                    <a:lstStyle/>
                    <a:p>
                      <a:pPr marL="0" lvl="0" indent="0" algn="ctr" rtl="0">
                        <a:spcBef>
                          <a:spcPts val="0"/>
                        </a:spcBef>
                        <a:spcAft>
                          <a:spcPts val="0"/>
                        </a:spcAft>
                        <a:buNone/>
                      </a:pPr>
                      <a:r>
                        <a:rPr lang="en-GB"/>
                        <a:t>14</a:t>
                      </a:r>
                      <a:endParaRPr/>
                    </a:p>
                  </a:txBody>
                  <a:tcPr marL="91425" marR="91425" marT="91425" marB="91425"/>
                </a:tc>
                <a:tc>
                  <a:txBody>
                    <a:bodyPr/>
                    <a:lstStyle/>
                    <a:p>
                      <a:pPr marL="0" lvl="0" indent="0" algn="ctr" rtl="0">
                        <a:spcBef>
                          <a:spcPts val="0"/>
                        </a:spcBef>
                        <a:spcAft>
                          <a:spcPts val="0"/>
                        </a:spcAft>
                        <a:buNone/>
                      </a:pPr>
                      <a:r>
                        <a:rPr lang="en-GB"/>
                        <a:t>15</a:t>
                      </a: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GB" b="1"/>
                        <a:t>Minimum</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a:t>0</a:t>
                      </a:r>
                      <a:endParaRPr/>
                    </a:p>
                  </a:txBody>
                  <a:tcPr marL="91425" marR="91425" marT="91425" marB="91425">
                    <a:solidFill>
                      <a:srgbClr val="FFF2CC"/>
                    </a:solidFill>
                  </a:tcPr>
                </a:tc>
                <a:tc>
                  <a:txBody>
                    <a:bodyPr/>
                    <a:lstStyle/>
                    <a:p>
                      <a:pPr marL="0" lvl="0" indent="0" algn="ctr" rtl="0">
                        <a:spcBef>
                          <a:spcPts val="0"/>
                        </a:spcBef>
                        <a:spcAft>
                          <a:spcPts val="0"/>
                        </a:spcAft>
                        <a:buNone/>
                      </a:pPr>
                      <a:r>
                        <a:rPr lang="en-GB"/>
                        <a:t>17</a:t>
                      </a:r>
                      <a:endParaRPr/>
                    </a:p>
                  </a:txBody>
                  <a:tcPr marL="91425" marR="91425" marT="91425" marB="91425"/>
                </a:tc>
                <a:tc>
                  <a:txBody>
                    <a:bodyPr/>
                    <a:lstStyle/>
                    <a:p>
                      <a:pPr marL="0" lvl="0" indent="0" algn="ctr" rtl="0">
                        <a:spcBef>
                          <a:spcPts val="0"/>
                        </a:spcBef>
                        <a:spcAft>
                          <a:spcPts val="0"/>
                        </a:spcAft>
                        <a:buNone/>
                      </a:pPr>
                      <a:r>
                        <a:rPr lang="en-GB"/>
                        <a:t>10</a:t>
                      </a: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b="1"/>
                        <a:t>Maximum</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a:t>100</a:t>
                      </a:r>
                      <a:endParaRPr/>
                    </a:p>
                  </a:txBody>
                  <a:tcPr marL="91425" marR="91425" marT="91425" marB="91425"/>
                </a:tc>
                <a:tc>
                  <a:txBody>
                    <a:bodyPr/>
                    <a:lstStyle/>
                    <a:p>
                      <a:pPr marL="0" lvl="0" indent="0" algn="ctr" rtl="0">
                        <a:spcBef>
                          <a:spcPts val="0"/>
                        </a:spcBef>
                        <a:spcAft>
                          <a:spcPts val="0"/>
                        </a:spcAft>
                        <a:buNone/>
                      </a:pPr>
                      <a:r>
                        <a:rPr lang="en-GB"/>
                        <a:t>100</a:t>
                      </a:r>
                      <a:endParaRPr/>
                    </a:p>
                  </a:txBody>
                  <a:tcPr marL="91425" marR="91425" marT="91425" marB="91425"/>
                </a:tc>
                <a:tc>
                  <a:txBody>
                    <a:bodyPr/>
                    <a:lstStyle/>
                    <a:p>
                      <a:pPr marL="0" lvl="0" indent="0" algn="ctr" rtl="0">
                        <a:spcBef>
                          <a:spcPts val="0"/>
                        </a:spcBef>
                        <a:spcAft>
                          <a:spcPts val="0"/>
                        </a:spcAft>
                        <a:buNone/>
                      </a:pPr>
                      <a:r>
                        <a:rPr lang="en-GB"/>
                        <a:t>100</a:t>
                      </a: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GB" b="1"/>
                        <a:t>Median</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a:t>66</a:t>
                      </a:r>
                      <a:endParaRPr/>
                    </a:p>
                  </a:txBody>
                  <a:tcPr marL="91425" marR="91425" marT="91425" marB="91425"/>
                </a:tc>
                <a:tc>
                  <a:txBody>
                    <a:bodyPr/>
                    <a:lstStyle/>
                    <a:p>
                      <a:pPr marL="0" lvl="0" indent="0" algn="ctr" rtl="0">
                        <a:spcBef>
                          <a:spcPts val="0"/>
                        </a:spcBef>
                        <a:spcAft>
                          <a:spcPts val="0"/>
                        </a:spcAft>
                        <a:buNone/>
                      </a:pPr>
                      <a:r>
                        <a:rPr lang="en-GB"/>
                        <a:t>70</a:t>
                      </a:r>
                      <a:endParaRPr/>
                    </a:p>
                  </a:txBody>
                  <a:tcPr marL="91425" marR="91425" marT="91425" marB="91425"/>
                </a:tc>
                <a:tc>
                  <a:txBody>
                    <a:bodyPr/>
                    <a:lstStyle/>
                    <a:p>
                      <a:pPr marL="0" lvl="0" indent="0" algn="ctr" rtl="0">
                        <a:spcBef>
                          <a:spcPts val="0"/>
                        </a:spcBef>
                        <a:spcAft>
                          <a:spcPts val="0"/>
                        </a:spcAft>
                        <a:buNone/>
                      </a:pPr>
                      <a:r>
                        <a:rPr lang="en-GB"/>
                        <a:t>69</a:t>
                      </a: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GB" b="1"/>
                        <a:t>IQR (UQ-LQ)</a:t>
                      </a:r>
                      <a:endParaRPr b="1"/>
                    </a:p>
                  </a:txBody>
                  <a:tcPr marL="91425" marR="91425" marT="91425" marB="91425">
                    <a:solidFill>
                      <a:srgbClr val="CFE2F3"/>
                    </a:solidFill>
                  </a:tcPr>
                </a:tc>
                <a:tc>
                  <a:txBody>
                    <a:bodyPr/>
                    <a:lstStyle/>
                    <a:p>
                      <a:pPr marL="0" lvl="0" indent="0" algn="ctr" rtl="0">
                        <a:spcBef>
                          <a:spcPts val="0"/>
                        </a:spcBef>
                        <a:spcAft>
                          <a:spcPts val="0"/>
                        </a:spcAft>
                        <a:buNone/>
                      </a:pPr>
                      <a:r>
                        <a:rPr lang="en-GB"/>
                        <a:t>20</a:t>
                      </a:r>
                      <a:endParaRPr/>
                    </a:p>
                  </a:txBody>
                  <a:tcPr marL="91425" marR="91425" marT="91425" marB="91425"/>
                </a:tc>
                <a:tc>
                  <a:txBody>
                    <a:bodyPr/>
                    <a:lstStyle/>
                    <a:p>
                      <a:pPr marL="0" lvl="0" indent="0" algn="ctr" rtl="0">
                        <a:spcBef>
                          <a:spcPts val="0"/>
                        </a:spcBef>
                        <a:spcAft>
                          <a:spcPts val="0"/>
                        </a:spcAft>
                        <a:buNone/>
                      </a:pPr>
                      <a:r>
                        <a:rPr lang="en-GB"/>
                        <a:t>20</a:t>
                      </a:r>
                      <a:endParaRPr/>
                    </a:p>
                  </a:txBody>
                  <a:tcPr marL="91425" marR="91425" marT="91425" marB="91425"/>
                </a:tc>
                <a:tc>
                  <a:txBody>
                    <a:bodyPr/>
                    <a:lstStyle/>
                    <a:p>
                      <a:pPr marL="0" lvl="0" indent="0" algn="ctr" rtl="0">
                        <a:spcBef>
                          <a:spcPts val="0"/>
                        </a:spcBef>
                        <a:spcAft>
                          <a:spcPts val="0"/>
                        </a:spcAft>
                        <a:buNone/>
                      </a:pPr>
                      <a:r>
                        <a:rPr lang="en-GB"/>
                        <a:t>22</a:t>
                      </a:r>
                      <a:endParaRPr/>
                    </a:p>
                  </a:txBody>
                  <a:tcPr marL="91425" marR="91425" marT="91425" marB="91425"/>
                </a:tc>
                <a:extLst>
                  <a:ext uri="{0D108BD9-81ED-4DB2-BD59-A6C34878D82A}">
                    <a16:rowId xmlns:a16="http://schemas.microsoft.com/office/drawing/2014/main" val="10006"/>
                  </a:ext>
                </a:extLst>
              </a:tr>
            </a:tbl>
          </a:graphicData>
        </a:graphic>
      </p:graphicFrame>
      <p:sp>
        <p:nvSpPr>
          <p:cNvPr id="138" name="Google Shape;138;p8"/>
          <p:cNvSpPr txBox="1"/>
          <p:nvPr/>
        </p:nvSpPr>
        <p:spPr>
          <a:xfrm>
            <a:off x="5677450" y="5081475"/>
            <a:ext cx="6216600" cy="16398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Char char="●"/>
            </a:pPr>
            <a:r>
              <a:rPr lang="en-GB" sz="1600">
                <a:solidFill>
                  <a:schemeClr val="dk1"/>
                </a:solidFill>
              </a:rPr>
              <a:t>When working through the analysis with or without the outlier it made very little difference to the median and quartile ranges. In this case we decided to include the result in our analysis.   </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This way the student’s additional results would also be included in the analysis</a:t>
            </a:r>
            <a:endParaRPr sz="1600">
              <a:solidFill>
                <a:schemeClr val="dk1"/>
              </a:solidFill>
            </a:endParaRPr>
          </a:p>
        </p:txBody>
      </p:sp>
      <p:sp>
        <p:nvSpPr>
          <p:cNvPr id="139" name="Google Shape;139;p8"/>
          <p:cNvSpPr/>
          <p:nvPr/>
        </p:nvSpPr>
        <p:spPr>
          <a:xfrm rot="-3408807">
            <a:off x="2565942" y="4082815"/>
            <a:ext cx="2546921" cy="300045"/>
          </a:xfrm>
          <a:prstGeom prst="rightArrow">
            <a:avLst>
              <a:gd name="adj1" fmla="val 50000"/>
              <a:gd name="adj2" fmla="val 50000"/>
            </a:avLst>
          </a:prstGeom>
          <a:solidFill>
            <a:srgbClr val="D9EAD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40" name="Google Shape;140;p8"/>
          <p:cNvSpPr txBox="1"/>
          <p:nvPr/>
        </p:nvSpPr>
        <p:spPr>
          <a:xfrm>
            <a:off x="1137825" y="5309700"/>
            <a:ext cx="3884100" cy="1226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a:solidFill>
                  <a:schemeClr val="dk1"/>
                </a:solidFill>
              </a:rPr>
              <a:t>One person had scored 0 in the maths exam which is assumed to be an outlier. This may have been due to a missed exam, incorrect marking, or the student just had a bad score.</a:t>
            </a:r>
            <a:endParaRPr sz="1600">
              <a:solidFill>
                <a:schemeClr val="dk1"/>
              </a:solidFill>
            </a:endParaRPr>
          </a:p>
        </p:txBody>
      </p:sp>
      <p:sp>
        <p:nvSpPr>
          <p:cNvPr id="141" name="Google Shape;141;p8"/>
          <p:cNvSpPr/>
          <p:nvPr/>
        </p:nvSpPr>
        <p:spPr>
          <a:xfrm>
            <a:off x="1057925" y="5344725"/>
            <a:ext cx="3821100" cy="1447800"/>
          </a:xfrm>
          <a:prstGeom prst="roundRect">
            <a:avLst>
              <a:gd name="adj" fmla="val 16667"/>
            </a:avLst>
          </a:prstGeom>
          <a:solidFill>
            <a:srgbClr val="C3EDEC">
              <a:alpha val="28930"/>
            </a:srgbClr>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0" descr="Image"/>
          <p:cNvSpPr/>
          <p:nvPr/>
        </p:nvSpPr>
        <p:spPr>
          <a:xfrm>
            <a:off x="1248697" y="3276599"/>
            <a:ext cx="4999703" cy="4999703"/>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pic>
        <p:nvPicPr>
          <p:cNvPr id="155" name="Google Shape;155;p10"/>
          <p:cNvPicPr preferRelativeResize="0"/>
          <p:nvPr/>
        </p:nvPicPr>
        <p:blipFill rotWithShape="1">
          <a:blip r:embed="rId3">
            <a:alphaModFix/>
          </a:blip>
          <a:srcRect/>
          <a:stretch/>
        </p:blipFill>
        <p:spPr>
          <a:xfrm>
            <a:off x="438148" y="3003843"/>
            <a:ext cx="5413722" cy="3489032"/>
          </a:xfrm>
          <a:prstGeom prst="rect">
            <a:avLst/>
          </a:prstGeom>
          <a:noFill/>
          <a:ln>
            <a:noFill/>
          </a:ln>
        </p:spPr>
      </p:pic>
      <p:pic>
        <p:nvPicPr>
          <p:cNvPr id="156" name="Google Shape;156;p10"/>
          <p:cNvPicPr preferRelativeResize="0"/>
          <p:nvPr/>
        </p:nvPicPr>
        <p:blipFill rotWithShape="1">
          <a:blip r:embed="rId4">
            <a:alphaModFix/>
          </a:blip>
          <a:srcRect/>
          <a:stretch/>
        </p:blipFill>
        <p:spPr>
          <a:xfrm>
            <a:off x="6054153" y="3125533"/>
            <a:ext cx="4999703" cy="3421317"/>
          </a:xfrm>
          <a:prstGeom prst="rect">
            <a:avLst/>
          </a:prstGeom>
          <a:noFill/>
          <a:ln>
            <a:noFill/>
          </a:ln>
        </p:spPr>
      </p:pic>
      <p:sp>
        <p:nvSpPr>
          <p:cNvPr id="157" name="Google Shape;157;p10"/>
          <p:cNvSpPr txBox="1">
            <a:spLocks noGrp="1"/>
          </p:cNvSpPr>
          <p:nvPr>
            <p:ph type="title"/>
          </p:nvPr>
        </p:nvSpPr>
        <p:spPr>
          <a:xfrm>
            <a:off x="838200" y="365125"/>
            <a:ext cx="11112600" cy="1005600"/>
          </a:xfrm>
          <a:prstGeom prst="rect">
            <a:avLst/>
          </a:prstGeom>
          <a:noFill/>
          <a:ln>
            <a:noFill/>
          </a:ln>
        </p:spPr>
        <p:txBody>
          <a:bodyPr spcFirstLastPara="1" wrap="square" lIns="91425" tIns="45700" rIns="91425" bIns="45700" anchor="ctr" anchorCtr="0">
            <a:normAutofit fontScale="90000"/>
          </a:bodyPr>
          <a:lstStyle/>
          <a:p>
            <a:pPr>
              <a:buSzPts val="4400"/>
            </a:pPr>
            <a:r>
              <a:rPr lang="en-GB" sz="2800" b="1" dirty="0">
                <a:latin typeface="+mj-lt"/>
              </a:rPr>
              <a:t>As score distributions are fairly symmetrical and consistent across all 3 subjects, we applied a unified banding to all scores to aid analysis:</a:t>
            </a:r>
            <a:endParaRPr sz="2800" b="1" dirty="0">
              <a:latin typeface="+mj-lt"/>
            </a:endParaRPr>
          </a:p>
        </p:txBody>
      </p:sp>
      <p:sp>
        <p:nvSpPr>
          <p:cNvPr id="158" name="Google Shape;158;p10"/>
          <p:cNvSpPr txBox="1"/>
          <p:nvPr/>
        </p:nvSpPr>
        <p:spPr>
          <a:xfrm>
            <a:off x="781200" y="1212425"/>
            <a:ext cx="10629600" cy="1780447"/>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None/>
            </a:pPr>
            <a:r>
              <a:rPr lang="en-GB" sz="1800" dirty="0">
                <a:solidFill>
                  <a:schemeClr val="dk1"/>
                </a:solidFill>
              </a:rPr>
              <a:t>The charts below illustrate that the score patterns are consistent across all subjects, which enabled us to apply a unified banding scheme for ease of analysis and reporting:</a:t>
            </a:r>
            <a:endParaRPr sz="1800" dirty="0">
              <a:solidFill>
                <a:schemeClr val="dk1"/>
              </a:solidFill>
            </a:endParaRPr>
          </a:p>
          <a:p>
            <a:pPr marL="457200" lvl="0" indent="-317500" algn="l" rtl="0">
              <a:lnSpc>
                <a:spcPct val="115000"/>
              </a:lnSpc>
              <a:spcBef>
                <a:spcPts val="1200"/>
              </a:spcBef>
              <a:spcAft>
                <a:spcPts val="0"/>
              </a:spcAft>
              <a:buClr>
                <a:schemeClr val="dk1"/>
              </a:buClr>
              <a:buSzPts val="1400"/>
              <a:buChar char="●"/>
            </a:pPr>
            <a:r>
              <a:rPr lang="en-GB" b="1" dirty="0">
                <a:solidFill>
                  <a:schemeClr val="dk1"/>
                </a:solidFill>
              </a:rPr>
              <a:t>0 (Low):</a:t>
            </a:r>
            <a:r>
              <a:rPr lang="en-GB" dirty="0">
                <a:solidFill>
                  <a:schemeClr val="dk1"/>
                </a:solidFill>
              </a:rPr>
              <a:t> Scores up to 60</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GB" b="1" dirty="0">
                <a:solidFill>
                  <a:schemeClr val="dk1"/>
                </a:solidFill>
              </a:rPr>
              <a:t>1 (Medium):</a:t>
            </a:r>
            <a:r>
              <a:rPr lang="en-GB" dirty="0">
                <a:solidFill>
                  <a:schemeClr val="dk1"/>
                </a:solidFill>
              </a:rPr>
              <a:t> Scores between 61 and 75</a:t>
            </a:r>
            <a:endParaRPr dirty="0">
              <a:solidFill>
                <a:schemeClr val="dk1"/>
              </a:solidFill>
            </a:endParaRPr>
          </a:p>
          <a:p>
            <a:pPr marL="457200" lvl="0" indent="-317500" algn="l" rtl="0">
              <a:lnSpc>
                <a:spcPct val="115000"/>
              </a:lnSpc>
              <a:spcBef>
                <a:spcPts val="0"/>
              </a:spcBef>
              <a:spcAft>
                <a:spcPts val="0"/>
              </a:spcAft>
              <a:buClr>
                <a:schemeClr val="dk1"/>
              </a:buClr>
              <a:buSzPts val="1400"/>
              <a:buChar char="●"/>
            </a:pPr>
            <a:r>
              <a:rPr lang="en-GB" b="1" dirty="0">
                <a:solidFill>
                  <a:schemeClr val="dk1"/>
                </a:solidFill>
              </a:rPr>
              <a:t>2 (High):</a:t>
            </a:r>
            <a:r>
              <a:rPr lang="en-GB" dirty="0">
                <a:solidFill>
                  <a:schemeClr val="dk1"/>
                </a:solidFill>
              </a:rPr>
              <a:t> Scores of 76 and above</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6" descr="Image"/>
          <p:cNvSpPr/>
          <p:nvPr/>
        </p:nvSpPr>
        <p:spPr>
          <a:xfrm>
            <a:off x="5943600" y="32766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4" name="Google Shape;164;p6" descr="Image"/>
          <p:cNvSpPr/>
          <p:nvPr/>
        </p:nvSpPr>
        <p:spPr>
          <a:xfrm>
            <a:off x="6096000" y="34290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5" name="Google Shape;165;p6" descr="Image"/>
          <p:cNvSpPr/>
          <p:nvPr/>
        </p:nvSpPr>
        <p:spPr>
          <a:xfrm>
            <a:off x="6248400" y="35814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6" name="Google Shape;166;p6" descr="Image"/>
          <p:cNvSpPr/>
          <p:nvPr/>
        </p:nvSpPr>
        <p:spPr>
          <a:xfrm>
            <a:off x="6400800" y="3733800"/>
            <a:ext cx="304800" cy="3048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Arial"/>
              <a:ea typeface="Arial"/>
              <a:cs typeface="Arial"/>
              <a:sym typeface="Arial"/>
            </a:endParaRPr>
          </a:p>
        </p:txBody>
      </p:sp>
      <p:sp>
        <p:nvSpPr>
          <p:cNvPr id="167" name="Google Shape;167;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buSzPts val="4400"/>
            </a:pPr>
            <a:r>
              <a:rPr lang="en-GB" sz="2800" b="1" dirty="0">
                <a:latin typeface="+mj-lt"/>
              </a:rPr>
              <a:t>The correlation between exam scores and the five demographic features was weak. In contrast, the three exam scores exhibited a strong correlation with each other.</a:t>
            </a:r>
            <a:endParaRPr sz="2800" b="1" dirty="0">
              <a:latin typeface="+mj-lt"/>
            </a:endParaRPr>
          </a:p>
        </p:txBody>
      </p:sp>
      <p:sp>
        <p:nvSpPr>
          <p:cNvPr id="168" name="Google Shape;168;p6"/>
          <p:cNvSpPr txBox="1"/>
          <p:nvPr/>
        </p:nvSpPr>
        <p:spPr>
          <a:xfrm>
            <a:off x="838200" y="1581125"/>
            <a:ext cx="10621625" cy="87712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700" b="1" dirty="0">
                <a:solidFill>
                  <a:schemeClr val="dk1"/>
                </a:solidFill>
              </a:rPr>
              <a:t>Summary: Across all three exam subjects, the relationships with demographic features were weak (correlation coefficients &lt; 0.5). In contrast, correlations among the exam scores themselves were strong, with the highest observed between reading and writing (r ≈ 0.95).</a:t>
            </a:r>
            <a:endParaRPr sz="1300" b="1" dirty="0"/>
          </a:p>
        </p:txBody>
      </p:sp>
      <p:pic>
        <p:nvPicPr>
          <p:cNvPr id="169" name="Google Shape;169;p6"/>
          <p:cNvPicPr preferRelativeResize="0"/>
          <p:nvPr/>
        </p:nvPicPr>
        <p:blipFill rotWithShape="1">
          <a:blip r:embed="rId3">
            <a:alphaModFix/>
          </a:blip>
          <a:srcRect t="4012"/>
          <a:stretch/>
        </p:blipFill>
        <p:spPr>
          <a:xfrm>
            <a:off x="177250" y="2586375"/>
            <a:ext cx="5169450" cy="4106525"/>
          </a:xfrm>
          <a:prstGeom prst="rect">
            <a:avLst/>
          </a:prstGeom>
          <a:noFill/>
          <a:ln>
            <a:noFill/>
          </a:ln>
        </p:spPr>
      </p:pic>
      <p:sp>
        <p:nvSpPr>
          <p:cNvPr id="170" name="Google Shape;170;p6"/>
          <p:cNvSpPr/>
          <p:nvPr/>
        </p:nvSpPr>
        <p:spPr>
          <a:xfrm>
            <a:off x="3618600" y="6290450"/>
            <a:ext cx="2629800" cy="304800"/>
          </a:xfrm>
          <a:prstGeom prst="rightArrow">
            <a:avLst>
              <a:gd name="adj1" fmla="val 50000"/>
              <a:gd name="adj2" fmla="val 50000"/>
            </a:avLst>
          </a:prstGeom>
          <a:solidFill>
            <a:srgbClr val="9FC5E8"/>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71" name="Google Shape;171;p6"/>
          <p:cNvPicPr preferRelativeResize="0"/>
          <p:nvPr/>
        </p:nvPicPr>
        <p:blipFill rotWithShape="1">
          <a:blip r:embed="rId4">
            <a:alphaModFix/>
          </a:blip>
          <a:srcRect t="3044"/>
          <a:stretch/>
        </p:blipFill>
        <p:spPr>
          <a:xfrm>
            <a:off x="6553200" y="2696875"/>
            <a:ext cx="4694575" cy="3898375"/>
          </a:xfrm>
          <a:prstGeom prst="rect">
            <a:avLst/>
          </a:prstGeom>
          <a:noFill/>
          <a:ln>
            <a:noFill/>
          </a:ln>
        </p:spPr>
      </p:pic>
      <p:sp>
        <p:nvSpPr>
          <p:cNvPr id="2" name="TextBox 1">
            <a:extLst>
              <a:ext uri="{FF2B5EF4-FFF2-40B4-BE49-F238E27FC236}">
                <a16:creationId xmlns:a16="http://schemas.microsoft.com/office/drawing/2014/main" id="{706B2DEC-0808-B686-A6AB-EF51B0850DD6}"/>
              </a:ext>
            </a:extLst>
          </p:cNvPr>
          <p:cNvSpPr txBox="1"/>
          <p:nvPr/>
        </p:nvSpPr>
        <p:spPr>
          <a:xfrm>
            <a:off x="2408904" y="2559646"/>
            <a:ext cx="1828800" cy="523220"/>
          </a:xfrm>
          <a:prstGeom prst="rect">
            <a:avLst/>
          </a:prstGeom>
          <a:noFill/>
        </p:spPr>
        <p:txBody>
          <a:bodyPr wrap="square" rtlCol="0">
            <a:spAutoFit/>
          </a:bodyPr>
          <a:lstStyle/>
          <a:p>
            <a:r>
              <a:rPr lang="en-GB" b="1" dirty="0"/>
              <a:t>Corr with scores unbanded</a:t>
            </a:r>
          </a:p>
        </p:txBody>
      </p:sp>
      <p:sp>
        <p:nvSpPr>
          <p:cNvPr id="3" name="TextBox 2">
            <a:extLst>
              <a:ext uri="{FF2B5EF4-FFF2-40B4-BE49-F238E27FC236}">
                <a16:creationId xmlns:a16="http://schemas.microsoft.com/office/drawing/2014/main" id="{16BAB49D-6B80-DAD5-366E-DD00D2BB9B1D}"/>
              </a:ext>
            </a:extLst>
          </p:cNvPr>
          <p:cNvSpPr txBox="1"/>
          <p:nvPr/>
        </p:nvSpPr>
        <p:spPr>
          <a:xfrm>
            <a:off x="8372169" y="2559646"/>
            <a:ext cx="2325328" cy="523220"/>
          </a:xfrm>
          <a:prstGeom prst="rect">
            <a:avLst/>
          </a:prstGeom>
          <a:noFill/>
        </p:spPr>
        <p:txBody>
          <a:bodyPr wrap="square" rtlCol="0">
            <a:spAutoFit/>
          </a:bodyPr>
          <a:lstStyle/>
          <a:p>
            <a:r>
              <a:rPr lang="en-GB" b="1" dirty="0"/>
              <a:t>Corr with scores banded &amp; unbanded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2"/>
          <p:cNvSpPr txBox="1">
            <a:spLocks noGrp="1"/>
          </p:cNvSpPr>
          <p:nvPr>
            <p:ph type="title"/>
          </p:nvPr>
        </p:nvSpPr>
        <p:spPr>
          <a:xfrm>
            <a:off x="818535" y="355034"/>
            <a:ext cx="11817600" cy="1325700"/>
          </a:xfrm>
          <a:prstGeom prst="rect">
            <a:avLst/>
          </a:prstGeom>
          <a:noFill/>
          <a:ln>
            <a:noFill/>
          </a:ln>
        </p:spPr>
        <p:txBody>
          <a:bodyPr spcFirstLastPara="1" wrap="square" lIns="91425" tIns="45700" rIns="91425" bIns="45700" anchor="ctr" anchorCtr="0">
            <a:normAutofit/>
          </a:bodyPr>
          <a:lstStyle/>
          <a:p>
            <a:pPr>
              <a:buSzPts val="4400"/>
            </a:pPr>
            <a:r>
              <a:rPr lang="en-GB" sz="2800" b="1" dirty="0">
                <a:latin typeface="+mj-lt"/>
              </a:rPr>
              <a:t>Predictive modelling- Review and analysis:</a:t>
            </a:r>
            <a:endParaRPr sz="2800" b="1" dirty="0">
              <a:latin typeface="+mj-lt"/>
            </a:endParaRPr>
          </a:p>
        </p:txBody>
      </p:sp>
      <p:sp>
        <p:nvSpPr>
          <p:cNvPr id="177" name="Google Shape;177;p12"/>
          <p:cNvSpPr txBox="1"/>
          <p:nvPr/>
        </p:nvSpPr>
        <p:spPr>
          <a:xfrm>
            <a:off x="977350" y="1623400"/>
            <a:ext cx="6626100" cy="8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dirty="0">
                <a:solidFill>
                  <a:schemeClr val="dk1"/>
                </a:solidFill>
              </a:rPr>
              <a:t>Methodology and approach </a:t>
            </a:r>
            <a:endParaRPr sz="2800" dirty="0">
              <a:solidFill>
                <a:schemeClr val="dk1"/>
              </a:solidFill>
            </a:endParaRPr>
          </a:p>
        </p:txBody>
      </p:sp>
      <p:sp>
        <p:nvSpPr>
          <p:cNvPr id="178" name="Google Shape;178;p12"/>
          <p:cNvSpPr txBox="1"/>
          <p:nvPr/>
        </p:nvSpPr>
        <p:spPr>
          <a:xfrm>
            <a:off x="7469293" y="1633480"/>
            <a:ext cx="5301000" cy="84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2800" dirty="0">
                <a:solidFill>
                  <a:schemeClr val="dk1"/>
                </a:solidFill>
              </a:rPr>
              <a:t>Feature importance </a:t>
            </a:r>
            <a:r>
              <a:rPr lang="en-GB" dirty="0">
                <a:solidFill>
                  <a:schemeClr val="dk1"/>
                </a:solidFill>
              </a:rPr>
              <a:t>(maths banded)</a:t>
            </a:r>
            <a:endParaRPr dirty="0">
              <a:solidFill>
                <a:schemeClr val="dk1"/>
              </a:solidFill>
            </a:endParaRPr>
          </a:p>
        </p:txBody>
      </p:sp>
      <p:pic>
        <p:nvPicPr>
          <p:cNvPr id="179" name="Google Shape;179;p12"/>
          <p:cNvPicPr preferRelativeResize="0"/>
          <p:nvPr/>
        </p:nvPicPr>
        <p:blipFill rotWithShape="1">
          <a:blip r:embed="rId3">
            <a:alphaModFix/>
          </a:blip>
          <a:srcRect l="5138" t="7429" r="10756" b="3164"/>
          <a:stretch/>
        </p:blipFill>
        <p:spPr>
          <a:xfrm>
            <a:off x="7479200" y="2178325"/>
            <a:ext cx="3768575" cy="4266725"/>
          </a:xfrm>
          <a:prstGeom prst="rect">
            <a:avLst/>
          </a:prstGeom>
          <a:noFill/>
          <a:ln>
            <a:noFill/>
          </a:ln>
        </p:spPr>
      </p:pic>
      <p:sp>
        <p:nvSpPr>
          <p:cNvPr id="180" name="Google Shape;180;p12"/>
          <p:cNvSpPr txBox="1"/>
          <p:nvPr/>
        </p:nvSpPr>
        <p:spPr>
          <a:xfrm>
            <a:off x="656475" y="2268025"/>
            <a:ext cx="5745900" cy="44493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AutoNum type="arabicPeriod"/>
            </a:pPr>
            <a:r>
              <a:rPr lang="en-GB" sz="1800" dirty="0">
                <a:solidFill>
                  <a:schemeClr val="dk1"/>
                </a:solidFill>
              </a:rPr>
              <a:t>We selected the Random Forest model for its strong accuracy. </a:t>
            </a:r>
            <a:endParaRPr sz="1800" dirty="0">
              <a:solidFill>
                <a:schemeClr val="dk1"/>
              </a:solidFill>
            </a:endParaRPr>
          </a:p>
          <a:p>
            <a:pPr marL="457200" lvl="0" indent="-342900" algn="l" rtl="0">
              <a:spcBef>
                <a:spcPts val="0"/>
              </a:spcBef>
              <a:spcAft>
                <a:spcPts val="0"/>
              </a:spcAft>
              <a:buClr>
                <a:schemeClr val="dk1"/>
              </a:buClr>
              <a:buSzPts val="1800"/>
              <a:buAutoNum type="arabicPeriod"/>
            </a:pPr>
            <a:r>
              <a:rPr lang="en-GB" sz="1800" dirty="0">
                <a:solidFill>
                  <a:schemeClr val="dk1"/>
                </a:solidFill>
              </a:rPr>
              <a:t>Banded scores were analysed with classification, while raw scores were used for regression.</a:t>
            </a:r>
            <a:endParaRPr sz="1800" dirty="0">
              <a:solidFill>
                <a:schemeClr val="dk1"/>
              </a:solidFill>
            </a:endParaRPr>
          </a:p>
          <a:p>
            <a:pPr marL="457200" lvl="0" indent="-342900" algn="l" rtl="0">
              <a:spcBef>
                <a:spcPts val="0"/>
              </a:spcBef>
              <a:spcAft>
                <a:spcPts val="0"/>
              </a:spcAft>
              <a:buClr>
                <a:schemeClr val="dk1"/>
              </a:buClr>
              <a:buSzPts val="1800"/>
              <a:buAutoNum type="arabicPeriod"/>
            </a:pPr>
            <a:r>
              <a:rPr lang="en-GB" sz="1800" dirty="0">
                <a:solidFill>
                  <a:schemeClr val="dk1"/>
                </a:solidFill>
              </a:rPr>
              <a:t>Data was split 80/20 for training and testing. Model performance was evaluated using confusion matrices, feature importance, and error metrics. </a:t>
            </a:r>
            <a:endParaRPr sz="1800" dirty="0">
              <a:solidFill>
                <a:schemeClr val="dk1"/>
              </a:solidFill>
            </a:endParaRPr>
          </a:p>
          <a:p>
            <a:pPr marL="457200" lvl="0" indent="-342900" algn="l" rtl="0">
              <a:spcBef>
                <a:spcPts val="0"/>
              </a:spcBef>
              <a:spcAft>
                <a:spcPts val="0"/>
              </a:spcAft>
              <a:buClr>
                <a:schemeClr val="dk1"/>
              </a:buClr>
              <a:buSzPts val="1800"/>
              <a:buAutoNum type="arabicPeriod"/>
            </a:pPr>
            <a:r>
              <a:rPr lang="en-GB" sz="1800" dirty="0">
                <a:solidFill>
                  <a:schemeClr val="dk1"/>
                </a:solidFill>
              </a:rPr>
              <a:t>Features were refined through elimination and iteration, and results were plotted for comparison.</a:t>
            </a:r>
            <a:endParaRPr sz="1800" dirty="0">
              <a:solidFill>
                <a:schemeClr val="dk1"/>
              </a:solidFill>
            </a:endParaRPr>
          </a:p>
        </p:txBody>
      </p:sp>
      <p:sp>
        <p:nvSpPr>
          <p:cNvPr id="181" name="Google Shape;181;p12"/>
          <p:cNvSpPr/>
          <p:nvPr/>
        </p:nvSpPr>
        <p:spPr>
          <a:xfrm rot="-1177234">
            <a:off x="6129778" y="5065288"/>
            <a:ext cx="1494686" cy="459644"/>
          </a:xfrm>
          <a:prstGeom prst="rightArrow">
            <a:avLst>
              <a:gd name="adj1" fmla="val 50000"/>
              <a:gd name="adj2" fmla="val 50000"/>
            </a:avLst>
          </a:prstGeom>
          <a:solidFill>
            <a:srgbClr val="CFE2F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2" name="Google Shape;182;p12"/>
          <p:cNvSpPr txBox="1"/>
          <p:nvPr/>
        </p:nvSpPr>
        <p:spPr>
          <a:xfrm>
            <a:off x="977350" y="5543905"/>
            <a:ext cx="6212100" cy="745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900" i="1" dirty="0">
                <a:solidFill>
                  <a:schemeClr val="dk1"/>
                </a:solidFill>
              </a:rPr>
              <a:t>Example graph: maths banded prediction shows top 3 features are reading score, writing score and gender</a:t>
            </a:r>
            <a:endParaRPr sz="1900" i="1" dirty="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EBCB-9035-A9C6-D805-1ABB0ECBDFAE}"/>
              </a:ext>
            </a:extLst>
          </p:cNvPr>
          <p:cNvSpPr>
            <a:spLocks noGrp="1"/>
          </p:cNvSpPr>
          <p:nvPr>
            <p:ph type="title"/>
          </p:nvPr>
        </p:nvSpPr>
        <p:spPr/>
        <p:txBody>
          <a:bodyPr/>
          <a:lstStyle/>
          <a:p>
            <a:pPr>
              <a:buSzPts val="4400"/>
            </a:pPr>
            <a:r>
              <a:rPr lang="en-GB" sz="2800" b="1" dirty="0">
                <a:latin typeface="+mj-lt"/>
              </a:rPr>
              <a:t>Model testing with banded maths score as an illustration of the predictive model:</a:t>
            </a:r>
          </a:p>
        </p:txBody>
      </p:sp>
      <p:pic>
        <p:nvPicPr>
          <p:cNvPr id="3" name="Picture 2" descr="A black and white image of a book with mathematical symbols&#10;&#10;AI-generated content may be incorrect.">
            <a:extLst>
              <a:ext uri="{FF2B5EF4-FFF2-40B4-BE49-F238E27FC236}">
                <a16:creationId xmlns:a16="http://schemas.microsoft.com/office/drawing/2014/main" id="{97DF5A97-C8EF-0AD4-651F-F16D8FFDD122}"/>
              </a:ext>
            </a:extLst>
          </p:cNvPr>
          <p:cNvPicPr>
            <a:picLocks noChangeAspect="1"/>
          </p:cNvPicPr>
          <p:nvPr/>
        </p:nvPicPr>
        <p:blipFill>
          <a:blip r:embed="rId2"/>
          <a:stretch>
            <a:fillRect/>
          </a:stretch>
        </p:blipFill>
        <p:spPr>
          <a:xfrm>
            <a:off x="7009764" y="2189817"/>
            <a:ext cx="2085073" cy="2085073"/>
          </a:xfrm>
          <a:prstGeom prst="rect">
            <a:avLst/>
          </a:prstGeom>
        </p:spPr>
      </p:pic>
      <p:sp>
        <p:nvSpPr>
          <p:cNvPr id="5" name="TextBox 4">
            <a:extLst>
              <a:ext uri="{FF2B5EF4-FFF2-40B4-BE49-F238E27FC236}">
                <a16:creationId xmlns:a16="http://schemas.microsoft.com/office/drawing/2014/main" id="{8C1353E5-066C-9001-2C16-C18F378394FB}"/>
              </a:ext>
            </a:extLst>
          </p:cNvPr>
          <p:cNvSpPr txBox="1"/>
          <p:nvPr/>
        </p:nvSpPr>
        <p:spPr>
          <a:xfrm>
            <a:off x="966019" y="2416392"/>
            <a:ext cx="5533103" cy="1631922"/>
          </a:xfrm>
          <a:prstGeom prst="rect">
            <a:avLst/>
          </a:prstGeom>
          <a:noFill/>
        </p:spPr>
        <p:txBody>
          <a:bodyPr wrap="square">
            <a:spAutoFit/>
          </a:bodyPr>
          <a:lstStyle/>
          <a:p>
            <a:pPr marL="0" lvl="0" indent="0" algn="l" rtl="0">
              <a:lnSpc>
                <a:spcPct val="115000"/>
              </a:lnSpc>
              <a:spcBef>
                <a:spcPts val="1200"/>
              </a:spcBef>
              <a:spcAft>
                <a:spcPts val="0"/>
              </a:spcAft>
              <a:buNone/>
            </a:pPr>
            <a:r>
              <a:rPr lang="en-GB" sz="2000" dirty="0">
                <a:solidFill>
                  <a:schemeClr val="dk1"/>
                </a:solidFill>
              </a:rPr>
              <a:t>Banding scheme was:</a:t>
            </a:r>
          </a:p>
          <a:p>
            <a:pPr marL="457200" lvl="0" indent="-317500" algn="l" rtl="0">
              <a:lnSpc>
                <a:spcPct val="115000"/>
              </a:lnSpc>
              <a:spcBef>
                <a:spcPts val="1200"/>
              </a:spcBef>
              <a:spcAft>
                <a:spcPts val="0"/>
              </a:spcAft>
              <a:buClr>
                <a:schemeClr val="dk1"/>
              </a:buClr>
              <a:buSzPts val="1400"/>
              <a:buChar char="●"/>
            </a:pPr>
            <a:r>
              <a:rPr lang="en-GB" sz="2000" b="1" dirty="0">
                <a:solidFill>
                  <a:schemeClr val="dk1"/>
                </a:solidFill>
              </a:rPr>
              <a:t>0 (Low):</a:t>
            </a:r>
            <a:r>
              <a:rPr lang="en-GB" sz="2000" dirty="0">
                <a:solidFill>
                  <a:schemeClr val="dk1"/>
                </a:solidFill>
              </a:rPr>
              <a:t> Scores up to 60</a:t>
            </a:r>
          </a:p>
          <a:p>
            <a:pPr marL="457200" lvl="0" indent="-317500" algn="l" rtl="0">
              <a:lnSpc>
                <a:spcPct val="115000"/>
              </a:lnSpc>
              <a:spcBef>
                <a:spcPts val="0"/>
              </a:spcBef>
              <a:spcAft>
                <a:spcPts val="0"/>
              </a:spcAft>
              <a:buClr>
                <a:schemeClr val="dk1"/>
              </a:buClr>
              <a:buSzPts val="1400"/>
              <a:buChar char="●"/>
            </a:pPr>
            <a:r>
              <a:rPr lang="en-GB" sz="2000" b="1" dirty="0">
                <a:solidFill>
                  <a:schemeClr val="dk1"/>
                </a:solidFill>
              </a:rPr>
              <a:t>1 (Medium):</a:t>
            </a:r>
            <a:r>
              <a:rPr lang="en-GB" sz="2000" dirty="0">
                <a:solidFill>
                  <a:schemeClr val="dk1"/>
                </a:solidFill>
              </a:rPr>
              <a:t> Scores between 61 and 75</a:t>
            </a:r>
          </a:p>
          <a:p>
            <a:pPr marL="457200" lvl="0" indent="-317500" algn="l" rtl="0">
              <a:lnSpc>
                <a:spcPct val="115000"/>
              </a:lnSpc>
              <a:spcBef>
                <a:spcPts val="0"/>
              </a:spcBef>
              <a:spcAft>
                <a:spcPts val="0"/>
              </a:spcAft>
              <a:buClr>
                <a:schemeClr val="dk1"/>
              </a:buClr>
              <a:buSzPts val="1400"/>
              <a:buChar char="●"/>
            </a:pPr>
            <a:r>
              <a:rPr lang="en-GB" sz="2000" b="1" dirty="0">
                <a:solidFill>
                  <a:schemeClr val="dk1"/>
                </a:solidFill>
              </a:rPr>
              <a:t>2 (High):</a:t>
            </a:r>
            <a:r>
              <a:rPr lang="en-GB" sz="2000" dirty="0">
                <a:solidFill>
                  <a:schemeClr val="dk1"/>
                </a:solidFill>
              </a:rPr>
              <a:t> Scores of 76 and above</a:t>
            </a:r>
            <a:endParaRPr lang="en-GB" sz="2000" dirty="0"/>
          </a:p>
        </p:txBody>
      </p:sp>
    </p:spTree>
    <p:extLst>
      <p:ext uri="{BB962C8B-B14F-4D97-AF65-F5344CB8AC3E}">
        <p14:creationId xmlns:p14="http://schemas.microsoft.com/office/powerpoint/2010/main" val="12848966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g3aac199a391_0_1"/>
          <p:cNvSpPr txBox="1">
            <a:spLocks noGrp="1"/>
          </p:cNvSpPr>
          <p:nvPr>
            <p:ph type="title"/>
          </p:nvPr>
        </p:nvSpPr>
        <p:spPr>
          <a:xfrm>
            <a:off x="838200" y="365125"/>
            <a:ext cx="11817600" cy="1325700"/>
          </a:xfrm>
          <a:prstGeom prst="rect">
            <a:avLst/>
          </a:prstGeom>
          <a:noFill/>
          <a:ln>
            <a:noFill/>
          </a:ln>
        </p:spPr>
        <p:txBody>
          <a:bodyPr spcFirstLastPara="1" wrap="square" lIns="91425" tIns="45700" rIns="91425" bIns="45700" anchor="ctr" anchorCtr="0">
            <a:normAutofit/>
          </a:bodyPr>
          <a:lstStyle/>
          <a:p>
            <a:pPr marL="0" lvl="0" indent="0">
              <a:buSzPts val="4400"/>
            </a:pPr>
            <a:r>
              <a:rPr lang="en-GB" sz="2800" b="1" dirty="0">
                <a:latin typeface="+mj-lt"/>
              </a:rPr>
              <a:t>Illustration of a Confusion Matrix with banded Math scores:</a:t>
            </a:r>
            <a:endParaRPr sz="2800" b="1" dirty="0">
              <a:latin typeface="+mj-lt"/>
            </a:endParaRPr>
          </a:p>
        </p:txBody>
      </p:sp>
      <p:pic>
        <p:nvPicPr>
          <p:cNvPr id="188" name="Google Shape;188;g3aac199a391_0_1"/>
          <p:cNvPicPr preferRelativeResize="0"/>
          <p:nvPr/>
        </p:nvPicPr>
        <p:blipFill>
          <a:blip r:embed="rId3">
            <a:alphaModFix/>
          </a:blip>
          <a:stretch>
            <a:fillRect/>
          </a:stretch>
        </p:blipFill>
        <p:spPr>
          <a:xfrm>
            <a:off x="967675" y="1915175"/>
            <a:ext cx="5981700" cy="4305300"/>
          </a:xfrm>
          <a:prstGeom prst="rect">
            <a:avLst/>
          </a:prstGeom>
          <a:noFill/>
          <a:ln>
            <a:noFill/>
          </a:ln>
        </p:spPr>
      </p:pic>
      <p:pic>
        <p:nvPicPr>
          <p:cNvPr id="189" name="Google Shape;189;g3aac199a391_0_1"/>
          <p:cNvPicPr preferRelativeResize="0"/>
          <p:nvPr/>
        </p:nvPicPr>
        <p:blipFill>
          <a:blip r:embed="rId4">
            <a:alphaModFix/>
          </a:blip>
          <a:stretch>
            <a:fillRect/>
          </a:stretch>
        </p:blipFill>
        <p:spPr>
          <a:xfrm>
            <a:off x="7269625" y="1690825"/>
            <a:ext cx="4524375" cy="2133600"/>
          </a:xfrm>
          <a:prstGeom prst="rect">
            <a:avLst/>
          </a:prstGeom>
          <a:noFill/>
          <a:ln>
            <a:noFill/>
          </a:ln>
        </p:spPr>
      </p:pic>
      <p:sp>
        <p:nvSpPr>
          <p:cNvPr id="190" name="Google Shape;190;g3aac199a391_0_1"/>
          <p:cNvSpPr txBox="1"/>
          <p:nvPr/>
        </p:nvSpPr>
        <p:spPr>
          <a:xfrm>
            <a:off x="967675" y="6220475"/>
            <a:ext cx="3788700" cy="455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GB" sz="2800">
                <a:solidFill>
                  <a:schemeClr val="dk1"/>
                </a:solidFill>
              </a:rPr>
              <a:t>Accuracy = 76.5%</a:t>
            </a:r>
            <a:endParaRPr sz="2800">
              <a:solidFill>
                <a:schemeClr val="dk1"/>
              </a:solidFill>
            </a:endParaRPr>
          </a:p>
        </p:txBody>
      </p:sp>
      <p:pic>
        <p:nvPicPr>
          <p:cNvPr id="191" name="Google Shape;191;g3aac199a391_0_1"/>
          <p:cNvPicPr preferRelativeResize="0"/>
          <p:nvPr/>
        </p:nvPicPr>
        <p:blipFill>
          <a:blip r:embed="rId5">
            <a:alphaModFix/>
          </a:blip>
          <a:stretch>
            <a:fillRect/>
          </a:stretch>
        </p:blipFill>
        <p:spPr>
          <a:xfrm>
            <a:off x="7245813" y="3976825"/>
            <a:ext cx="4572000" cy="20859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g3aaa7f7ca62_1_24"/>
          <p:cNvSpPr txBox="1">
            <a:spLocks noGrp="1"/>
          </p:cNvSpPr>
          <p:nvPr>
            <p:ph type="title"/>
          </p:nvPr>
        </p:nvSpPr>
        <p:spPr>
          <a:xfrm>
            <a:off x="838200" y="173403"/>
            <a:ext cx="10515600" cy="1325700"/>
          </a:xfrm>
          <a:prstGeom prst="rect">
            <a:avLst/>
          </a:prstGeom>
        </p:spPr>
        <p:txBody>
          <a:bodyPr spcFirstLastPara="1" wrap="square" lIns="91425" tIns="45700" rIns="91425" bIns="45700" anchor="ctr" anchorCtr="0">
            <a:normAutofit/>
          </a:bodyPr>
          <a:lstStyle/>
          <a:p>
            <a:pPr>
              <a:buSzPts val="4400"/>
            </a:pPr>
            <a:r>
              <a:rPr lang="en-GB" sz="2800" b="1" dirty="0">
                <a:latin typeface="+mj-lt"/>
              </a:rPr>
              <a:t>Predictive model (banded maths scores) illustrate that academic scores drive predictive power more than demographics:</a:t>
            </a:r>
            <a:endParaRPr sz="2800" b="1" dirty="0">
              <a:latin typeface="+mj-lt"/>
            </a:endParaRPr>
          </a:p>
        </p:txBody>
      </p:sp>
      <p:graphicFrame>
        <p:nvGraphicFramePr>
          <p:cNvPr id="197" name="Google Shape;197;g3aaa7f7ca62_1_24"/>
          <p:cNvGraphicFramePr/>
          <p:nvPr>
            <p:extLst>
              <p:ext uri="{D42A27DB-BD31-4B8C-83A1-F6EECF244321}">
                <p14:modId xmlns:p14="http://schemas.microsoft.com/office/powerpoint/2010/main" val="3521254307"/>
              </p:ext>
            </p:extLst>
          </p:nvPr>
        </p:nvGraphicFramePr>
        <p:xfrm>
          <a:off x="1037957" y="2983705"/>
          <a:ext cx="8593152" cy="3596400"/>
        </p:xfrm>
        <a:graphic>
          <a:graphicData uri="http://schemas.openxmlformats.org/drawingml/2006/table">
            <a:tbl>
              <a:tblPr>
                <a:noFill/>
                <a:tableStyleId>{9B8805F4-5151-4A3C-AF85-C32A6044E202}</a:tableStyleId>
              </a:tblPr>
              <a:tblGrid>
                <a:gridCol w="5508121">
                  <a:extLst>
                    <a:ext uri="{9D8B030D-6E8A-4147-A177-3AD203B41FA5}">
                      <a16:colId xmlns:a16="http://schemas.microsoft.com/office/drawing/2014/main" val="20000"/>
                    </a:ext>
                  </a:extLst>
                </a:gridCol>
                <a:gridCol w="3085031">
                  <a:extLst>
                    <a:ext uri="{9D8B030D-6E8A-4147-A177-3AD203B41FA5}">
                      <a16:colId xmlns:a16="http://schemas.microsoft.com/office/drawing/2014/main" val="20001"/>
                    </a:ext>
                  </a:extLst>
                </a:gridCol>
              </a:tblGrid>
              <a:tr h="381000">
                <a:tc>
                  <a:txBody>
                    <a:bodyPr/>
                    <a:lstStyle/>
                    <a:p>
                      <a:pPr marL="0" lvl="0" indent="0" algn="ctr" rtl="0">
                        <a:spcBef>
                          <a:spcPts val="0"/>
                        </a:spcBef>
                        <a:spcAft>
                          <a:spcPts val="0"/>
                        </a:spcAft>
                        <a:buNone/>
                      </a:pPr>
                      <a:r>
                        <a:rPr lang="en-GB" b="1" dirty="0"/>
                        <a:t>Banded Maths</a:t>
                      </a:r>
                      <a:endParaRPr b="1" dirty="0"/>
                    </a:p>
                  </a:txBody>
                  <a:tcPr marL="91425" marR="91425" marT="91425" marB="91425">
                    <a:solidFill>
                      <a:schemeClr val="accent4">
                        <a:lumMod val="20000"/>
                        <a:lumOff val="80000"/>
                      </a:schemeClr>
                    </a:solidFill>
                  </a:tcPr>
                </a:tc>
                <a:tc>
                  <a:txBody>
                    <a:bodyPr/>
                    <a:lstStyle/>
                    <a:p>
                      <a:pPr marL="0" lvl="0" indent="0" algn="ctr" rtl="0">
                        <a:spcBef>
                          <a:spcPts val="0"/>
                        </a:spcBef>
                        <a:spcAft>
                          <a:spcPts val="0"/>
                        </a:spcAft>
                        <a:buNone/>
                      </a:pPr>
                      <a:r>
                        <a:rPr lang="en-GB" b="1" dirty="0"/>
                        <a:t>Model Accuracy</a:t>
                      </a:r>
                      <a:endParaRPr b="1" dirty="0"/>
                    </a:p>
                  </a:txBody>
                  <a:tcPr marL="91425" marR="91425" marT="91425" marB="91425">
                    <a:solidFill>
                      <a:schemeClr val="accent4">
                        <a:lumMod val="20000"/>
                        <a:lumOff val="80000"/>
                      </a:schemeClr>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All 9 features (5 x demographics, continuous &amp; banded reading and writing scores) </a:t>
                      </a:r>
                      <a:endParaRPr dirty="0"/>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0.755</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dirty="0"/>
                        <a:t>7 features (excluding </a:t>
                      </a:r>
                      <a:r>
                        <a:rPr lang="en-GB" b="1" dirty="0"/>
                        <a:t>banded </a:t>
                      </a:r>
                      <a:r>
                        <a:rPr lang="en-GB" dirty="0"/>
                        <a:t>reading and writing scores) </a:t>
                      </a:r>
                      <a:endParaRPr dirty="0"/>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0.73</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Clr>
                          <a:schemeClr val="dk1"/>
                        </a:buClr>
                        <a:buSzPts val="1100"/>
                        <a:buFont typeface="Arial"/>
                        <a:buNone/>
                      </a:pPr>
                      <a:r>
                        <a:rPr lang="en-GB" dirty="0">
                          <a:solidFill>
                            <a:schemeClr val="dk1"/>
                          </a:solidFill>
                        </a:rPr>
                        <a:t>7 features (excluding </a:t>
                      </a:r>
                      <a:r>
                        <a:rPr lang="en-GB" b="1" dirty="0">
                          <a:solidFill>
                            <a:schemeClr val="dk1"/>
                          </a:solidFill>
                        </a:rPr>
                        <a:t>continuous</a:t>
                      </a:r>
                      <a:r>
                        <a:rPr lang="en-GB" dirty="0">
                          <a:solidFill>
                            <a:schemeClr val="dk1"/>
                          </a:solidFill>
                        </a:rPr>
                        <a:t> reading and writing scores) </a:t>
                      </a:r>
                      <a:endParaRPr dirty="0"/>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0.655</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r>
                        <a:rPr lang="en-GB"/>
                        <a:t>Top feature (reading score)</a:t>
                      </a:r>
                      <a:endParaRPr/>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0.625</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r>
                        <a:rPr lang="en-GB" dirty="0"/>
                        <a:t>Top 3 features (</a:t>
                      </a:r>
                      <a:r>
                        <a:rPr lang="en-GB" dirty="0">
                          <a:solidFill>
                            <a:schemeClr val="dk1"/>
                          </a:solidFill>
                        </a:rPr>
                        <a:t>reading,  writing and gender scores)</a:t>
                      </a:r>
                      <a:endParaRPr dirty="0"/>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0.745</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3957144732"/>
                  </a:ext>
                </a:extLst>
              </a:tr>
              <a:tr h="381000">
                <a:tc>
                  <a:txBody>
                    <a:bodyPr/>
                    <a:lstStyle/>
                    <a:p>
                      <a:pPr marL="0" lvl="0" indent="0" algn="l" rtl="0">
                        <a:spcBef>
                          <a:spcPts val="0"/>
                        </a:spcBef>
                        <a:spcAft>
                          <a:spcPts val="0"/>
                        </a:spcAft>
                        <a:buNone/>
                      </a:pPr>
                      <a:r>
                        <a:rPr lang="en-GB" dirty="0"/>
                        <a:t>Top 2 features (reading and writing scores)</a:t>
                      </a:r>
                      <a:endParaRPr dirty="0"/>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0.585</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r>
                        <a:rPr lang="en-GB" dirty="0"/>
                        <a:t>5 demographic features (gender, parental level of education, race/ethnicity, lunch, test preparation course)</a:t>
                      </a:r>
                      <a:endParaRPr dirty="0"/>
                    </a:p>
                  </a:txBody>
                  <a:tcPr marL="91425" marR="91425" marT="91425" marB="91425" anchor="ctr">
                    <a:solidFill>
                      <a:schemeClr val="accent4">
                        <a:lumMod val="20000"/>
                        <a:lumOff val="80000"/>
                      </a:schemeClr>
                    </a:solidFill>
                  </a:tcPr>
                </a:tc>
                <a:tc>
                  <a:txBody>
                    <a:bodyPr/>
                    <a:lstStyle/>
                    <a:p>
                      <a:pPr marL="0" lvl="0" indent="0" algn="ctr" rtl="0">
                        <a:spcBef>
                          <a:spcPts val="0"/>
                        </a:spcBef>
                        <a:spcAft>
                          <a:spcPts val="0"/>
                        </a:spcAft>
                        <a:buNone/>
                      </a:pPr>
                      <a:r>
                        <a:rPr lang="en-GB" b="1" dirty="0"/>
                        <a:t>0.36</a:t>
                      </a:r>
                      <a:endParaRPr b="1" dirty="0"/>
                    </a:p>
                  </a:txBody>
                  <a:tcPr marL="91425" marR="91425" marT="91425" marB="91425" anchor="ctr">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
        <p:nvSpPr>
          <p:cNvPr id="6" name="TextBox 5">
            <a:extLst>
              <a:ext uri="{FF2B5EF4-FFF2-40B4-BE49-F238E27FC236}">
                <a16:creationId xmlns:a16="http://schemas.microsoft.com/office/drawing/2014/main" id="{8515EAF1-CA3F-A6D9-4EC4-F2F11CEBEEC4}"/>
              </a:ext>
            </a:extLst>
          </p:cNvPr>
          <p:cNvSpPr txBox="1"/>
          <p:nvPr/>
        </p:nvSpPr>
        <p:spPr>
          <a:xfrm>
            <a:off x="952499" y="1328641"/>
            <a:ext cx="9242634" cy="1569660"/>
          </a:xfrm>
          <a:prstGeom prst="rect">
            <a:avLst/>
          </a:prstGeom>
          <a:noFill/>
        </p:spPr>
        <p:txBody>
          <a:bodyPr wrap="square">
            <a:spAutoFit/>
          </a:bodyPr>
          <a:lstStyle/>
          <a:p>
            <a:pPr lvl="0" eaLnBrk="0" fontAlgn="base" hangingPunct="0">
              <a:spcBef>
                <a:spcPct val="0"/>
              </a:spcBef>
              <a:spcAft>
                <a:spcPct val="0"/>
              </a:spcAft>
              <a:buClrTx/>
            </a:pPr>
            <a:r>
              <a:rPr lang="en-US" altLang="en-US" sz="1600" b="1" dirty="0">
                <a:solidFill>
                  <a:schemeClr val="tx1"/>
                </a:solidFill>
                <a:latin typeface="Arial" panose="020B0604020202020204" pitchFamily="34" charset="0"/>
              </a:rPr>
              <a:t>Summary:</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Demographics alone</a:t>
            </a:r>
            <a:r>
              <a:rPr lang="en-US" altLang="en-US" sz="1600" dirty="0">
                <a:solidFill>
                  <a:schemeClr val="tx1"/>
                </a:solidFill>
                <a:latin typeface="Arial" panose="020B0604020202020204" pitchFamily="34" charset="0"/>
              </a:rPr>
              <a:t> are weak predictors (accuracy: 0.36).</a:t>
            </a:r>
          </a:p>
          <a:p>
            <a:pPr marL="285750" lvl="0" indent="-285750"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Using all features</a:t>
            </a:r>
            <a:r>
              <a:rPr lang="en-US" altLang="en-US" sz="1600" dirty="0">
                <a:solidFill>
                  <a:schemeClr val="tx1"/>
                </a:solidFill>
                <a:latin typeface="Arial" panose="020B0604020202020204" pitchFamily="34" charset="0"/>
              </a:rPr>
              <a:t> gives the best predictive results, but a small subset (reading, writing, gender) gets close (accuracy: 0.755)</a:t>
            </a:r>
            <a:endParaRPr lang="en-GB" sz="1600" dirty="0"/>
          </a:p>
          <a:p>
            <a:pPr marL="265113" indent="-265113" eaLnBrk="0" fontAlgn="base" hangingPunct="0">
              <a:spcBef>
                <a:spcPct val="0"/>
              </a:spcBef>
              <a:spcAft>
                <a:spcPct val="0"/>
              </a:spcAft>
              <a:buClrTx/>
              <a:buFont typeface="Arial" panose="020B0604020202020204" pitchFamily="34" charset="0"/>
              <a:buChar char="•"/>
            </a:pPr>
            <a:r>
              <a:rPr kumimoji="0" lang="en-US" altLang="en-US" sz="1600" b="1" i="0" u="none" strike="noStrike" cap="none" normalizeH="0" baseline="0" dirty="0">
                <a:ln>
                  <a:noFill/>
                </a:ln>
                <a:solidFill>
                  <a:schemeClr val="tx1"/>
                </a:solidFill>
                <a:effectLst/>
                <a:latin typeface="Arial" panose="020B0604020202020204" pitchFamily="34" charset="0"/>
              </a:rPr>
              <a:t>Reading scores</a:t>
            </a:r>
            <a:r>
              <a:rPr kumimoji="0" lang="en-US" altLang="en-US" sz="1600" b="0" i="0" u="none" strike="noStrike" cap="none" normalizeH="0" baseline="0" dirty="0">
                <a:ln>
                  <a:noFill/>
                </a:ln>
                <a:solidFill>
                  <a:schemeClr val="tx1"/>
                </a:solidFill>
                <a:effectLst/>
                <a:latin typeface="Arial" panose="020B0604020202020204" pitchFamily="34" charset="0"/>
              </a:rPr>
              <a:t> are the strongest individual predictors of </a:t>
            </a:r>
            <a:r>
              <a:rPr lang="en-US" altLang="en-US" sz="1600" dirty="0">
                <a:solidFill>
                  <a:schemeClr val="tx1"/>
                </a:solidFill>
                <a:latin typeface="Arial" panose="020B0604020202020204" pitchFamily="34" charset="0"/>
              </a:rPr>
              <a:t>Math's</a:t>
            </a:r>
            <a:r>
              <a:rPr kumimoji="0" lang="en-US" altLang="en-US" sz="1600" b="0" i="0" u="none" strike="noStrike" cap="none" normalizeH="0" baseline="0" dirty="0">
                <a:ln>
                  <a:noFill/>
                </a:ln>
                <a:solidFill>
                  <a:schemeClr val="tx1"/>
                </a:solidFill>
                <a:effectLst/>
                <a:latin typeface="Arial" panose="020B0604020202020204" pitchFamily="34" charset="0"/>
              </a:rPr>
              <a:t> performance (accuracy: 0.625)</a:t>
            </a:r>
          </a:p>
          <a:p>
            <a:pPr marL="265113" indent="-265113" eaLnBrk="0" fontAlgn="base" hangingPunct="0">
              <a:spcBef>
                <a:spcPct val="0"/>
              </a:spcBef>
              <a:spcAft>
                <a:spcPct val="0"/>
              </a:spcAft>
              <a:buClrTx/>
              <a:buFont typeface="Arial" panose="020B0604020202020204" pitchFamily="34" charset="0"/>
              <a:buChar char="•"/>
            </a:pPr>
            <a:r>
              <a:rPr lang="en-US" altLang="en-US" sz="1600" b="1" dirty="0">
                <a:solidFill>
                  <a:schemeClr val="tx1"/>
                </a:solidFill>
                <a:latin typeface="Arial" panose="020B0604020202020204" pitchFamily="34" charset="0"/>
              </a:rPr>
              <a:t>Continuous reading &amp; writing scores </a:t>
            </a:r>
            <a:r>
              <a:rPr lang="en-US" altLang="en-US" sz="1600" dirty="0">
                <a:solidFill>
                  <a:schemeClr val="tx1"/>
                </a:solidFill>
                <a:latin typeface="Arial" panose="020B0604020202020204" pitchFamily="34" charset="0"/>
              </a:rPr>
              <a:t>are stronger predictors than banded scores</a:t>
            </a:r>
            <a:r>
              <a:rPr kumimoji="0" lang="en-US" altLang="en-US" sz="1600" b="0" i="0" u="none" strike="noStrike" cap="none" normalizeH="0" baseline="0" dirty="0">
                <a:ln>
                  <a:noFill/>
                </a:ln>
                <a:solidFill>
                  <a:schemeClr val="tx1"/>
                </a:solidFill>
                <a:effectLst/>
                <a:latin typeface="Arial" panose="020B0604020202020204" pitchFamily="34" charset="0"/>
              </a:rPr>
              <a:t>.</a:t>
            </a:r>
            <a:endParaRPr lang="en-GB"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g3aac199a391_0_17"/>
          <p:cNvSpPr txBox="1">
            <a:spLocks noGrp="1"/>
          </p:cNvSpPr>
          <p:nvPr>
            <p:ph type="title"/>
          </p:nvPr>
        </p:nvSpPr>
        <p:spPr>
          <a:xfrm>
            <a:off x="838200" y="365125"/>
            <a:ext cx="10809718" cy="1325700"/>
          </a:xfrm>
          <a:prstGeom prst="rect">
            <a:avLst/>
          </a:prstGeom>
          <a:noFill/>
          <a:ln>
            <a:noFill/>
          </a:ln>
        </p:spPr>
        <p:txBody>
          <a:bodyPr spcFirstLastPara="1" wrap="square" lIns="91425" tIns="45700" rIns="91425" bIns="45700" anchor="ctr" anchorCtr="0">
            <a:normAutofit/>
          </a:bodyPr>
          <a:lstStyle/>
          <a:p>
            <a:pPr>
              <a:buSzPts val="4400"/>
            </a:pPr>
            <a:r>
              <a:rPr lang="en-GB" sz="2800" b="1" dirty="0">
                <a:latin typeface="+mj-lt"/>
              </a:rPr>
              <a:t>Although demographics alone offer limited predictive power, there is slightly better performance for predicting writing scores than math scores:</a:t>
            </a:r>
          </a:p>
        </p:txBody>
      </p:sp>
      <p:grpSp>
        <p:nvGrpSpPr>
          <p:cNvPr id="2" name="Group 1">
            <a:extLst>
              <a:ext uri="{FF2B5EF4-FFF2-40B4-BE49-F238E27FC236}">
                <a16:creationId xmlns:a16="http://schemas.microsoft.com/office/drawing/2014/main" id="{CC07C376-A299-F262-562B-9D1EAD2D574A}"/>
              </a:ext>
            </a:extLst>
          </p:cNvPr>
          <p:cNvGrpSpPr/>
          <p:nvPr/>
        </p:nvGrpSpPr>
        <p:grpSpPr>
          <a:xfrm>
            <a:off x="983478" y="1961313"/>
            <a:ext cx="8046222" cy="3533477"/>
            <a:chOff x="838200" y="2585156"/>
            <a:chExt cx="8046222" cy="3533477"/>
          </a:xfrm>
        </p:grpSpPr>
        <p:graphicFrame>
          <p:nvGraphicFramePr>
            <p:cNvPr id="203" name="Google Shape;203;g3aac199a391_0_17"/>
            <p:cNvGraphicFramePr/>
            <p:nvPr>
              <p:extLst>
                <p:ext uri="{D42A27DB-BD31-4B8C-83A1-F6EECF244321}">
                  <p14:modId xmlns:p14="http://schemas.microsoft.com/office/powerpoint/2010/main" val="1698260480"/>
                </p:ext>
              </p:extLst>
            </p:nvPr>
          </p:nvGraphicFramePr>
          <p:xfrm>
            <a:off x="838200" y="3849004"/>
            <a:ext cx="8046222" cy="1005780"/>
          </p:xfrm>
          <a:graphic>
            <a:graphicData uri="http://schemas.openxmlformats.org/drawingml/2006/table">
              <a:tbl>
                <a:tblPr>
                  <a:noFill/>
                  <a:tableStyleId>{9B8805F4-5151-4A3C-AF85-C32A6044E202}</a:tableStyleId>
                </a:tblPr>
                <a:tblGrid>
                  <a:gridCol w="5191926">
                    <a:extLst>
                      <a:ext uri="{9D8B030D-6E8A-4147-A177-3AD203B41FA5}">
                        <a16:colId xmlns:a16="http://schemas.microsoft.com/office/drawing/2014/main" val="20000"/>
                      </a:ext>
                    </a:extLst>
                  </a:gridCol>
                  <a:gridCol w="2854296">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b="1" dirty="0"/>
                          <a:t>Banded Reading Scores</a:t>
                        </a:r>
                        <a:endParaRPr b="1" dirty="0"/>
                      </a:p>
                    </a:txBody>
                    <a:tcPr marL="91425" marR="91425" marT="91425" marB="91425"/>
                  </a:tc>
                  <a:tc>
                    <a:txBody>
                      <a:bodyPr/>
                      <a:lstStyle/>
                      <a:p>
                        <a:pPr marL="0" lvl="0" indent="0" algn="ctr" rtl="0">
                          <a:spcBef>
                            <a:spcPts val="0"/>
                          </a:spcBef>
                          <a:spcAft>
                            <a:spcPts val="0"/>
                          </a:spcAft>
                          <a:buNone/>
                        </a:pPr>
                        <a:r>
                          <a:rPr lang="en-GB" b="1" dirty="0"/>
                          <a:t>Accuracy</a:t>
                        </a:r>
                        <a:endParaRPr b="1"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5 demographic features (gender, parental level of education, race/ethnicity, lunch, test preparation course)</a:t>
                        </a:r>
                        <a:endParaRPr dirty="0"/>
                      </a:p>
                    </a:txBody>
                    <a:tcPr marL="91425" marR="91425" marT="91425" marB="91425" anchor="ctr"/>
                  </a:tc>
                  <a:tc>
                    <a:txBody>
                      <a:bodyPr/>
                      <a:lstStyle/>
                      <a:p>
                        <a:pPr marL="0" lvl="0" indent="0" algn="ctr" rtl="0">
                          <a:spcBef>
                            <a:spcPts val="0"/>
                          </a:spcBef>
                          <a:spcAft>
                            <a:spcPts val="0"/>
                          </a:spcAft>
                          <a:buNone/>
                        </a:pPr>
                        <a:r>
                          <a:rPr lang="en-GB" dirty="0"/>
                          <a:t>0.4</a:t>
                        </a:r>
                        <a:endParaRPr dirty="0"/>
                      </a:p>
                    </a:txBody>
                    <a:tcPr marL="91425" marR="91425" marT="91425" marB="91425" anchor="ctr"/>
                  </a:tc>
                  <a:extLst>
                    <a:ext uri="{0D108BD9-81ED-4DB2-BD59-A6C34878D82A}">
                      <a16:rowId xmlns:a16="http://schemas.microsoft.com/office/drawing/2014/main" val="10001"/>
                    </a:ext>
                  </a:extLst>
                </a:tr>
              </a:tbl>
            </a:graphicData>
          </a:graphic>
        </p:graphicFrame>
        <p:graphicFrame>
          <p:nvGraphicFramePr>
            <p:cNvPr id="204" name="Google Shape;204;g3aac199a391_0_17"/>
            <p:cNvGraphicFramePr/>
            <p:nvPr>
              <p:extLst>
                <p:ext uri="{D42A27DB-BD31-4B8C-83A1-F6EECF244321}">
                  <p14:modId xmlns:p14="http://schemas.microsoft.com/office/powerpoint/2010/main" val="256218087"/>
                </p:ext>
              </p:extLst>
            </p:nvPr>
          </p:nvGraphicFramePr>
          <p:xfrm>
            <a:off x="838200" y="2585156"/>
            <a:ext cx="8046222" cy="1005780"/>
          </p:xfrm>
          <a:graphic>
            <a:graphicData uri="http://schemas.openxmlformats.org/drawingml/2006/table">
              <a:tbl>
                <a:tblPr>
                  <a:noFill/>
                  <a:tableStyleId>{9B8805F4-5151-4A3C-AF85-C32A6044E202}</a:tableStyleId>
                </a:tblPr>
                <a:tblGrid>
                  <a:gridCol w="5183380">
                    <a:extLst>
                      <a:ext uri="{9D8B030D-6E8A-4147-A177-3AD203B41FA5}">
                        <a16:colId xmlns:a16="http://schemas.microsoft.com/office/drawing/2014/main" val="20000"/>
                      </a:ext>
                    </a:extLst>
                  </a:gridCol>
                  <a:gridCol w="2862842">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b="1" dirty="0"/>
                          <a:t>Banded Writing Scores</a:t>
                        </a:r>
                        <a:endParaRPr b="1" dirty="0"/>
                      </a:p>
                    </a:txBody>
                    <a:tcPr marL="91425" marR="91425" marT="91425" marB="91425"/>
                  </a:tc>
                  <a:tc>
                    <a:txBody>
                      <a:bodyPr/>
                      <a:lstStyle/>
                      <a:p>
                        <a:pPr marL="0" lvl="0" indent="0" algn="ctr" rtl="0">
                          <a:spcBef>
                            <a:spcPts val="0"/>
                          </a:spcBef>
                          <a:spcAft>
                            <a:spcPts val="0"/>
                          </a:spcAft>
                          <a:buNone/>
                        </a:pPr>
                        <a:r>
                          <a:rPr lang="en-GB" b="1" dirty="0"/>
                          <a:t>Accuracy</a:t>
                        </a:r>
                        <a:endParaRPr b="1"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5 demographic features (gender, parental level of education, race/ethnicity, lunch, test preparation course)</a:t>
                        </a:r>
                        <a:endParaRPr dirty="0"/>
                      </a:p>
                    </a:txBody>
                    <a:tcPr marL="91425" marR="91425" marT="91425" marB="91425" anchor="ctr"/>
                  </a:tc>
                  <a:tc>
                    <a:txBody>
                      <a:bodyPr/>
                      <a:lstStyle/>
                      <a:p>
                        <a:pPr marL="0" lvl="0" indent="0" algn="ctr" rtl="0">
                          <a:spcBef>
                            <a:spcPts val="0"/>
                          </a:spcBef>
                          <a:spcAft>
                            <a:spcPts val="0"/>
                          </a:spcAft>
                          <a:buNone/>
                        </a:pPr>
                        <a:r>
                          <a:rPr lang="en-GB" dirty="0"/>
                          <a:t>0.425</a:t>
                        </a:r>
                        <a:endParaRPr dirty="0"/>
                      </a:p>
                    </a:txBody>
                    <a:tcPr marL="91425" marR="91425" marT="91425" marB="91425" anchor="ctr"/>
                  </a:tc>
                  <a:extLst>
                    <a:ext uri="{0D108BD9-81ED-4DB2-BD59-A6C34878D82A}">
                      <a16:rowId xmlns:a16="http://schemas.microsoft.com/office/drawing/2014/main" val="10001"/>
                    </a:ext>
                  </a:extLst>
                </a:tr>
              </a:tbl>
            </a:graphicData>
          </a:graphic>
        </p:graphicFrame>
        <p:graphicFrame>
          <p:nvGraphicFramePr>
            <p:cNvPr id="205" name="Google Shape;205;g3aac199a391_0_17"/>
            <p:cNvGraphicFramePr/>
            <p:nvPr>
              <p:extLst>
                <p:ext uri="{D42A27DB-BD31-4B8C-83A1-F6EECF244321}">
                  <p14:modId xmlns:p14="http://schemas.microsoft.com/office/powerpoint/2010/main" val="2052357149"/>
                </p:ext>
              </p:extLst>
            </p:nvPr>
          </p:nvGraphicFramePr>
          <p:xfrm>
            <a:off x="838200" y="5112853"/>
            <a:ext cx="8046222" cy="1005780"/>
          </p:xfrm>
          <a:graphic>
            <a:graphicData uri="http://schemas.openxmlformats.org/drawingml/2006/table">
              <a:tbl>
                <a:tblPr>
                  <a:noFill/>
                  <a:tableStyleId>{9B8805F4-5151-4A3C-AF85-C32A6044E202}</a:tableStyleId>
                </a:tblPr>
                <a:tblGrid>
                  <a:gridCol w="5243201">
                    <a:extLst>
                      <a:ext uri="{9D8B030D-6E8A-4147-A177-3AD203B41FA5}">
                        <a16:colId xmlns:a16="http://schemas.microsoft.com/office/drawing/2014/main" val="20000"/>
                      </a:ext>
                    </a:extLst>
                  </a:gridCol>
                  <a:gridCol w="2803021">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b="1" dirty="0"/>
                          <a:t>Banded Maths Scores</a:t>
                        </a:r>
                        <a:endParaRPr b="1" dirty="0"/>
                      </a:p>
                    </a:txBody>
                    <a:tcPr marL="91425" marR="91425" marT="91425" marB="91425"/>
                  </a:tc>
                  <a:tc>
                    <a:txBody>
                      <a:bodyPr/>
                      <a:lstStyle/>
                      <a:p>
                        <a:pPr marL="0" lvl="0" indent="0" algn="ctr" rtl="0">
                          <a:spcBef>
                            <a:spcPts val="0"/>
                          </a:spcBef>
                          <a:spcAft>
                            <a:spcPts val="0"/>
                          </a:spcAft>
                          <a:buNone/>
                        </a:pPr>
                        <a:r>
                          <a:rPr lang="en-GB" b="1" dirty="0"/>
                          <a:t>Accuracy</a:t>
                        </a:r>
                        <a:endParaRPr b="1" dirty="0"/>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5 demographic features (gender, parental level of education, race/ethnicity, lunch, test preparation course)</a:t>
                        </a:r>
                        <a:endParaRPr dirty="0"/>
                      </a:p>
                    </a:txBody>
                    <a:tcPr marL="91425" marR="91425" marT="91425" marB="91425" anchor="ctr"/>
                  </a:tc>
                  <a:tc>
                    <a:txBody>
                      <a:bodyPr/>
                      <a:lstStyle/>
                      <a:p>
                        <a:pPr marL="0" lvl="0" indent="0" algn="ctr" rtl="0">
                          <a:spcBef>
                            <a:spcPts val="0"/>
                          </a:spcBef>
                          <a:spcAft>
                            <a:spcPts val="0"/>
                          </a:spcAft>
                          <a:buNone/>
                        </a:pPr>
                        <a:r>
                          <a:rPr lang="en-GB" dirty="0"/>
                          <a:t>0.36</a:t>
                        </a:r>
                        <a:endParaRPr dirty="0"/>
                      </a:p>
                    </a:txBody>
                    <a:tcPr marL="91425" marR="91425" marT="91425" marB="91425" anchor="ctr"/>
                  </a:tc>
                  <a:extLst>
                    <a:ext uri="{0D108BD9-81ED-4DB2-BD59-A6C34878D82A}">
                      <a16:rowId xmlns:a16="http://schemas.microsoft.com/office/drawing/2014/main" val="10001"/>
                    </a:ext>
                  </a:extLst>
                </a:tr>
              </a:tbl>
            </a:graphicData>
          </a:graphic>
        </p:graphicFrame>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59F5E-D7C6-6BD7-AF99-B29475680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173821-589D-AA33-F012-68826F14AF02}"/>
              </a:ext>
            </a:extLst>
          </p:cNvPr>
          <p:cNvSpPr>
            <a:spLocks noGrp="1"/>
          </p:cNvSpPr>
          <p:nvPr>
            <p:ph type="title"/>
          </p:nvPr>
        </p:nvSpPr>
        <p:spPr>
          <a:xfrm>
            <a:off x="1206500" y="2766218"/>
            <a:ext cx="10515600" cy="1325563"/>
          </a:xfrm>
        </p:spPr>
        <p:txBody>
          <a:bodyPr/>
          <a:lstStyle/>
          <a:p>
            <a:pPr>
              <a:buSzPts val="4400"/>
            </a:pPr>
            <a:r>
              <a:rPr lang="en-GB" sz="2800" b="1" dirty="0">
                <a:latin typeface="+mj-lt"/>
              </a:rPr>
              <a:t>Model testing with regression using continuous scores</a:t>
            </a:r>
          </a:p>
        </p:txBody>
      </p:sp>
    </p:spTree>
    <p:extLst>
      <p:ext uri="{BB962C8B-B14F-4D97-AF65-F5344CB8AC3E}">
        <p14:creationId xmlns:p14="http://schemas.microsoft.com/office/powerpoint/2010/main" val="1020783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aac199a391_0_46"/>
          <p:cNvSpPr txBox="1">
            <a:spLocks noGrp="1"/>
          </p:cNvSpPr>
          <p:nvPr>
            <p:ph type="title"/>
          </p:nvPr>
        </p:nvSpPr>
        <p:spPr>
          <a:xfrm>
            <a:off x="1001062" y="338198"/>
            <a:ext cx="11577825" cy="1325700"/>
          </a:xfrm>
          <a:prstGeom prst="rect">
            <a:avLst/>
          </a:prstGeom>
          <a:noFill/>
          <a:ln>
            <a:noFill/>
          </a:ln>
        </p:spPr>
        <p:txBody>
          <a:bodyPr spcFirstLastPara="1" wrap="square" lIns="91425" tIns="45700" rIns="91425" bIns="45700" anchor="ctr" anchorCtr="0">
            <a:normAutofit/>
          </a:bodyPr>
          <a:lstStyle/>
          <a:p>
            <a:pPr lvl="0">
              <a:buSzPct val="100000"/>
            </a:pPr>
            <a:r>
              <a:rPr lang="en-GB" sz="2800" dirty="0">
                <a:latin typeface="+mj-lt"/>
              </a:rPr>
              <a:t>The </a:t>
            </a:r>
            <a:r>
              <a:rPr lang="en-GB" sz="2800" b="1" dirty="0">
                <a:latin typeface="+mj-lt"/>
              </a:rPr>
              <a:t>reading score </a:t>
            </a:r>
            <a:r>
              <a:rPr lang="en-GB" sz="2800" dirty="0">
                <a:latin typeface="+mj-lt"/>
              </a:rPr>
              <a:t>is the single best predictor of the writing score. Demographics provide marginal context</a:t>
            </a:r>
            <a:endParaRPr sz="2800" dirty="0">
              <a:latin typeface="+mj-lt"/>
            </a:endParaRPr>
          </a:p>
        </p:txBody>
      </p:sp>
      <p:graphicFrame>
        <p:nvGraphicFramePr>
          <p:cNvPr id="211" name="Google Shape;211;g3aac199a391_0_46"/>
          <p:cNvGraphicFramePr/>
          <p:nvPr>
            <p:extLst>
              <p:ext uri="{D42A27DB-BD31-4B8C-83A1-F6EECF244321}">
                <p14:modId xmlns:p14="http://schemas.microsoft.com/office/powerpoint/2010/main" val="3566259964"/>
              </p:ext>
            </p:extLst>
          </p:nvPr>
        </p:nvGraphicFramePr>
        <p:xfrm>
          <a:off x="1077975" y="1906025"/>
          <a:ext cx="10287000" cy="2042070"/>
        </p:xfrm>
        <a:graphic>
          <a:graphicData uri="http://schemas.openxmlformats.org/drawingml/2006/table">
            <a:tbl>
              <a:tblPr>
                <a:noFill/>
                <a:tableStyleId>{9B8805F4-5151-4A3C-AF85-C32A6044E202}</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b="1" dirty="0"/>
                        <a:t>Predicting Writing Score</a:t>
                      </a:r>
                      <a:endParaRPr b="1"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5 demographic features (gender, parental level of education, race/ethnicity, lunch, test preparation course) </a:t>
                      </a:r>
                      <a:r>
                        <a:rPr lang="en-GB" b="1" dirty="0"/>
                        <a:t>+ reading score</a:t>
                      </a:r>
                      <a:endParaRPr b="1" dirty="0"/>
                    </a:p>
                  </a:txBody>
                  <a:tcPr marL="91425" marR="91425" marT="91425" marB="91425" anchor="ctr"/>
                </a:tc>
                <a:tc>
                  <a:txBody>
                    <a:bodyPr/>
                    <a:lstStyle/>
                    <a:p>
                      <a:pPr marL="0" lvl="0" indent="0" algn="l" rtl="0">
                        <a:spcBef>
                          <a:spcPts val="0"/>
                        </a:spcBef>
                        <a:spcAft>
                          <a:spcPts val="0"/>
                        </a:spcAft>
                        <a:buNone/>
                      </a:pPr>
                      <a:r>
                        <a:rPr lang="en-GB" b="1"/>
                        <a:t>R2 score: 0.8969871</a:t>
                      </a:r>
                      <a:endParaRPr b="1"/>
                    </a:p>
                    <a:p>
                      <a:pPr marL="0" lvl="0" indent="0" algn="l" rtl="0">
                        <a:spcBef>
                          <a:spcPts val="0"/>
                        </a:spcBef>
                        <a:spcAft>
                          <a:spcPts val="0"/>
                        </a:spcAft>
                        <a:buNone/>
                      </a:pPr>
                      <a:r>
                        <a:rPr lang="en-GB" b="1"/>
                        <a:t>Mean Absolute Error: 3.9122735</a:t>
                      </a:r>
                      <a:endParaRPr b="1"/>
                    </a:p>
                    <a:p>
                      <a:pPr marL="0" lvl="0" indent="0" algn="l" rtl="0">
                        <a:spcBef>
                          <a:spcPts val="0"/>
                        </a:spcBef>
                        <a:spcAft>
                          <a:spcPts val="0"/>
                        </a:spcAft>
                        <a:buNone/>
                      </a:pPr>
                      <a:r>
                        <a:rPr lang="en-GB" b="1"/>
                        <a:t>Root Mean Squared Error: 4.982755</a:t>
                      </a:r>
                      <a:endParaRPr b="1"/>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Clr>
                          <a:schemeClr val="dk1"/>
                        </a:buClr>
                        <a:buSzPts val="1100"/>
                        <a:buFont typeface="Arial"/>
                        <a:buNone/>
                      </a:pPr>
                      <a:r>
                        <a:rPr lang="en-GB">
                          <a:solidFill>
                            <a:schemeClr val="dk1"/>
                          </a:solidFill>
                        </a:rPr>
                        <a:t>5 demographic features (gender, parental level of education, race/ethnicity, lunch, test preparation course</a:t>
                      </a:r>
                      <a:endParaRPr/>
                    </a:p>
                  </a:txBody>
                  <a:tcPr marL="91425" marR="91425" marT="91425" marB="91425" anchor="ctr"/>
                </a:tc>
                <a:tc>
                  <a:txBody>
                    <a:bodyPr/>
                    <a:lstStyle/>
                    <a:p>
                      <a:pPr marL="0" lvl="0" indent="0" algn="l" rtl="0">
                        <a:spcBef>
                          <a:spcPts val="0"/>
                        </a:spcBef>
                        <a:spcAft>
                          <a:spcPts val="0"/>
                        </a:spcAft>
                        <a:buClr>
                          <a:schemeClr val="dk1"/>
                        </a:buClr>
                        <a:buSzPts val="1100"/>
                        <a:buFont typeface="Arial"/>
                        <a:buNone/>
                      </a:pPr>
                      <a:r>
                        <a:rPr lang="en-GB" b="1" dirty="0">
                          <a:solidFill>
                            <a:schemeClr val="dk1"/>
                          </a:solidFill>
                        </a:rPr>
                        <a:t>R2 score: 0.1017208</a:t>
                      </a:r>
                      <a:endParaRPr b="1" dirty="0">
                        <a:solidFill>
                          <a:schemeClr val="dk1"/>
                        </a:solidFill>
                      </a:endParaRPr>
                    </a:p>
                    <a:p>
                      <a:pPr marL="0" lvl="0" indent="0" algn="l" rtl="0">
                        <a:spcBef>
                          <a:spcPts val="0"/>
                        </a:spcBef>
                        <a:spcAft>
                          <a:spcPts val="0"/>
                        </a:spcAft>
                        <a:buClr>
                          <a:schemeClr val="dk1"/>
                        </a:buClr>
                        <a:buSzPts val="1100"/>
                        <a:buFont typeface="Arial"/>
                        <a:buNone/>
                      </a:pPr>
                      <a:r>
                        <a:rPr lang="en-GB" b="1" dirty="0">
                          <a:solidFill>
                            <a:schemeClr val="dk1"/>
                          </a:solidFill>
                        </a:rPr>
                        <a:t>Mean Absolute Error: 11.20518199469</a:t>
                      </a:r>
                      <a:endParaRPr b="1" dirty="0">
                        <a:solidFill>
                          <a:schemeClr val="dk1"/>
                        </a:solidFill>
                      </a:endParaRPr>
                    </a:p>
                    <a:p>
                      <a:pPr marL="0" lvl="0" indent="0" algn="l" rtl="0">
                        <a:spcBef>
                          <a:spcPts val="0"/>
                        </a:spcBef>
                        <a:spcAft>
                          <a:spcPts val="0"/>
                        </a:spcAft>
                        <a:buClr>
                          <a:schemeClr val="dk1"/>
                        </a:buClr>
                        <a:buSzPts val="1100"/>
                        <a:buFont typeface="Arial"/>
                        <a:buNone/>
                      </a:pPr>
                      <a:r>
                        <a:rPr lang="en-GB" b="1" dirty="0">
                          <a:solidFill>
                            <a:schemeClr val="dk1"/>
                          </a:solidFill>
                        </a:rPr>
                        <a:t>Root Mean Squared Error: 14.713956534</a:t>
                      </a:r>
                      <a:endParaRPr b="1" dirty="0"/>
                    </a:p>
                  </a:txBody>
                  <a:tcPr marL="91425" marR="91425" marT="91425" marB="91425" anchor="ctr"/>
                </a:tc>
                <a:extLst>
                  <a:ext uri="{0D108BD9-81ED-4DB2-BD59-A6C34878D82A}">
                    <a16:rowId xmlns:a16="http://schemas.microsoft.com/office/drawing/2014/main" val="10002"/>
                  </a:ext>
                </a:extLst>
              </a:tr>
            </a:tbl>
          </a:graphicData>
        </a:graphic>
      </p:graphicFrame>
      <p:graphicFrame>
        <p:nvGraphicFramePr>
          <p:cNvPr id="212" name="Google Shape;212;g3aac199a391_0_46"/>
          <p:cNvGraphicFramePr/>
          <p:nvPr>
            <p:extLst>
              <p:ext uri="{D42A27DB-BD31-4B8C-83A1-F6EECF244321}">
                <p14:modId xmlns:p14="http://schemas.microsoft.com/office/powerpoint/2010/main" val="3522506606"/>
              </p:ext>
            </p:extLst>
          </p:nvPr>
        </p:nvGraphicFramePr>
        <p:xfrm>
          <a:off x="1077975" y="4432350"/>
          <a:ext cx="10287000" cy="2042070"/>
        </p:xfrm>
        <a:graphic>
          <a:graphicData uri="http://schemas.openxmlformats.org/drawingml/2006/table">
            <a:tbl>
              <a:tblPr>
                <a:noFill/>
                <a:tableStyleId>{9B8805F4-5151-4A3C-AF85-C32A6044E202}</a:tableStyleId>
              </a:tblPr>
              <a:tblGrid>
                <a:gridCol w="5143500">
                  <a:extLst>
                    <a:ext uri="{9D8B030D-6E8A-4147-A177-3AD203B41FA5}">
                      <a16:colId xmlns:a16="http://schemas.microsoft.com/office/drawing/2014/main" val="20000"/>
                    </a:ext>
                  </a:extLst>
                </a:gridCol>
                <a:gridCol w="5143500">
                  <a:extLst>
                    <a:ext uri="{9D8B030D-6E8A-4147-A177-3AD203B41FA5}">
                      <a16:colId xmlns:a16="http://schemas.microsoft.com/office/drawing/2014/main" val="20001"/>
                    </a:ext>
                  </a:extLst>
                </a:gridCol>
              </a:tblGrid>
              <a:tr h="381000">
                <a:tc>
                  <a:txBody>
                    <a:bodyPr/>
                    <a:lstStyle/>
                    <a:p>
                      <a:pPr marL="0" lvl="0" indent="0" algn="l" rtl="0">
                        <a:spcBef>
                          <a:spcPts val="0"/>
                        </a:spcBef>
                        <a:spcAft>
                          <a:spcPts val="0"/>
                        </a:spcAft>
                        <a:buNone/>
                      </a:pPr>
                      <a:r>
                        <a:rPr lang="en-GB" b="1" dirty="0"/>
                        <a:t>Predicting Writing Score</a:t>
                      </a: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GB" dirty="0"/>
                        <a:t>5 demographic features (gender, parental level of education, race/ethnicity, lunch, test preparation course) </a:t>
                      </a:r>
                      <a:r>
                        <a:rPr lang="en-GB" b="1" dirty="0"/>
                        <a:t>+ math score</a:t>
                      </a:r>
                      <a:endParaRPr b="1" dirty="0"/>
                    </a:p>
                  </a:txBody>
                  <a:tcPr marL="91425" marR="91425" marT="91425" marB="91425" anchor="ctr"/>
                </a:tc>
                <a:tc>
                  <a:txBody>
                    <a:bodyPr/>
                    <a:lstStyle/>
                    <a:p>
                      <a:pPr marL="0" lvl="0" indent="0" algn="l" rtl="0">
                        <a:spcBef>
                          <a:spcPts val="0"/>
                        </a:spcBef>
                        <a:spcAft>
                          <a:spcPts val="0"/>
                        </a:spcAft>
                        <a:buNone/>
                      </a:pPr>
                      <a:r>
                        <a:rPr lang="en-GB" b="1" dirty="0"/>
                        <a:t>R2 score: 0.8465262365</a:t>
                      </a:r>
                      <a:endParaRPr b="1" dirty="0"/>
                    </a:p>
                    <a:p>
                      <a:pPr marL="0" lvl="0" indent="0" algn="l" rtl="0">
                        <a:spcBef>
                          <a:spcPts val="0"/>
                        </a:spcBef>
                        <a:spcAft>
                          <a:spcPts val="0"/>
                        </a:spcAft>
                        <a:buNone/>
                      </a:pPr>
                      <a:r>
                        <a:rPr lang="en-GB" b="1" dirty="0"/>
                        <a:t>Mean Absolute Error: 4.96230869</a:t>
                      </a:r>
                      <a:endParaRPr b="1" dirty="0"/>
                    </a:p>
                    <a:p>
                      <a:pPr marL="0" lvl="0" indent="0" algn="l" rtl="0">
                        <a:spcBef>
                          <a:spcPts val="0"/>
                        </a:spcBef>
                        <a:spcAft>
                          <a:spcPts val="0"/>
                        </a:spcAft>
                        <a:buNone/>
                      </a:pPr>
                      <a:r>
                        <a:rPr lang="en-GB" b="1" dirty="0"/>
                        <a:t>Root Mean Squared Error: 6.081922575958346</a:t>
                      </a:r>
                      <a:endParaRPr b="1" dirty="0"/>
                    </a:p>
                  </a:txBody>
                  <a:tcPr marL="91425" marR="91425" marT="91425" marB="91425" anchor="ct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GB">
                          <a:solidFill>
                            <a:schemeClr val="dk1"/>
                          </a:solidFill>
                        </a:rPr>
                        <a:t>5 demographic features (gender, parental level of education, race/ethnicity, lunch, test preparation course</a:t>
                      </a:r>
                      <a:endParaRPr/>
                    </a:p>
                  </a:txBody>
                  <a:tcPr marL="91425" marR="91425" marT="91425" marB="91425" anchor="ctr"/>
                </a:tc>
                <a:tc>
                  <a:txBody>
                    <a:bodyPr/>
                    <a:lstStyle/>
                    <a:p>
                      <a:pPr marL="0" lvl="0" indent="0" algn="l" rtl="0">
                        <a:spcBef>
                          <a:spcPts val="0"/>
                        </a:spcBef>
                        <a:spcAft>
                          <a:spcPts val="0"/>
                        </a:spcAft>
                        <a:buNone/>
                      </a:pPr>
                      <a:r>
                        <a:rPr lang="en-GB" b="1" dirty="0">
                          <a:solidFill>
                            <a:schemeClr val="dk1"/>
                          </a:solidFill>
                        </a:rPr>
                        <a:t>R2 score:0.101728768</a:t>
                      </a:r>
                      <a:endParaRPr b="1" dirty="0">
                        <a:solidFill>
                          <a:schemeClr val="dk1"/>
                        </a:solidFill>
                      </a:endParaRPr>
                    </a:p>
                    <a:p>
                      <a:pPr marL="0" lvl="0" indent="0" algn="l" rtl="0">
                        <a:spcBef>
                          <a:spcPts val="0"/>
                        </a:spcBef>
                        <a:spcAft>
                          <a:spcPts val="0"/>
                        </a:spcAft>
                        <a:buNone/>
                      </a:pPr>
                      <a:r>
                        <a:rPr lang="en-GB" b="1" dirty="0">
                          <a:solidFill>
                            <a:schemeClr val="dk1"/>
                          </a:solidFill>
                        </a:rPr>
                        <a:t>Mean Absolute Error: 11.205181994694376</a:t>
                      </a:r>
                      <a:endParaRPr b="1" dirty="0">
                        <a:solidFill>
                          <a:schemeClr val="dk1"/>
                        </a:solidFill>
                      </a:endParaRPr>
                    </a:p>
                    <a:p>
                      <a:pPr marL="0" lvl="0" indent="0" algn="l" rtl="0">
                        <a:spcBef>
                          <a:spcPts val="0"/>
                        </a:spcBef>
                        <a:spcAft>
                          <a:spcPts val="0"/>
                        </a:spcAft>
                        <a:buNone/>
                      </a:pPr>
                      <a:r>
                        <a:rPr lang="en-GB" b="1" dirty="0">
                          <a:solidFill>
                            <a:schemeClr val="dk1"/>
                          </a:solidFill>
                        </a:rPr>
                        <a:t>Root Mean Squared Error: 14.713956537767022</a:t>
                      </a:r>
                      <a:endParaRPr b="1" dirty="0"/>
                    </a:p>
                  </a:txBody>
                  <a:tcPr marL="91425" marR="91425" marT="91425" marB="91425"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D6DD25-E137-BBDB-BB8D-0292B28A4D0B}"/>
              </a:ext>
            </a:extLst>
          </p:cNvPr>
          <p:cNvSpPr>
            <a:spLocks noGrp="1"/>
          </p:cNvSpPr>
          <p:nvPr>
            <p:ph type="title"/>
          </p:nvPr>
        </p:nvSpPr>
        <p:spPr>
          <a:xfrm>
            <a:off x="838200" y="365125"/>
            <a:ext cx="10515600" cy="1860400"/>
          </a:xfrm>
        </p:spPr>
        <p:txBody>
          <a:bodyPr>
            <a:normAutofit/>
          </a:bodyPr>
          <a:lstStyle/>
          <a:p>
            <a:r>
              <a:rPr lang="en-GB" sz="5200" b="1" dirty="0">
                <a:latin typeface="+mj-lt"/>
              </a:rPr>
              <a:t>Dashboard for further analysis:</a:t>
            </a:r>
          </a:p>
        </p:txBody>
      </p:sp>
      <p:pic>
        <p:nvPicPr>
          <p:cNvPr id="5" name="Picture 4">
            <a:extLst>
              <a:ext uri="{FF2B5EF4-FFF2-40B4-BE49-F238E27FC236}">
                <a16:creationId xmlns:a16="http://schemas.microsoft.com/office/drawing/2014/main" id="{E0A9A6DA-1A67-E480-4BDC-52752ED0EF2C}"/>
              </a:ext>
            </a:extLst>
          </p:cNvPr>
          <p:cNvPicPr>
            <a:picLocks noChangeAspect="1"/>
          </p:cNvPicPr>
          <p:nvPr/>
        </p:nvPicPr>
        <p:blipFill>
          <a:blip r:embed="rId2"/>
          <a:stretch>
            <a:fillRect/>
          </a:stretch>
        </p:blipFill>
        <p:spPr>
          <a:xfrm>
            <a:off x="181234" y="2433193"/>
            <a:ext cx="5828261" cy="3802940"/>
          </a:xfrm>
          <a:prstGeom prst="rect">
            <a:avLst/>
          </a:prstGeom>
        </p:spPr>
      </p:pic>
      <p:pic>
        <p:nvPicPr>
          <p:cNvPr id="7" name="Picture 6" descr="A screenshot of a graph&#10;&#10;AI-generated content may be incorrect.">
            <a:extLst>
              <a:ext uri="{FF2B5EF4-FFF2-40B4-BE49-F238E27FC236}">
                <a16:creationId xmlns:a16="http://schemas.microsoft.com/office/drawing/2014/main" id="{32F72BBE-D298-BADF-20FB-082B8CC06160}"/>
              </a:ext>
            </a:extLst>
          </p:cNvPr>
          <p:cNvPicPr>
            <a:picLocks noChangeAspect="1"/>
          </p:cNvPicPr>
          <p:nvPr/>
        </p:nvPicPr>
        <p:blipFill>
          <a:blip r:embed="rId3"/>
          <a:stretch>
            <a:fillRect/>
          </a:stretch>
        </p:blipFill>
        <p:spPr>
          <a:xfrm>
            <a:off x="5919019" y="2412205"/>
            <a:ext cx="6091747" cy="3685507"/>
          </a:xfrm>
          <a:prstGeom prst="rect">
            <a:avLst/>
          </a:prstGeom>
        </p:spPr>
      </p:pic>
    </p:spTree>
    <p:extLst>
      <p:ext uri="{BB962C8B-B14F-4D97-AF65-F5344CB8AC3E}">
        <p14:creationId xmlns:p14="http://schemas.microsoft.com/office/powerpoint/2010/main" val="277127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pic>
        <p:nvPicPr>
          <p:cNvPr id="2" name="Picture 1" descr="A high angle view of students in a classroom&#10;&#10;AI-generated content may be incorrect.">
            <a:extLst>
              <a:ext uri="{FF2B5EF4-FFF2-40B4-BE49-F238E27FC236}">
                <a16:creationId xmlns:a16="http://schemas.microsoft.com/office/drawing/2014/main" id="{1AB09E1E-8219-7B75-34E2-0BE1DEEC9327}"/>
              </a:ext>
            </a:extLst>
          </p:cNvPr>
          <p:cNvPicPr>
            <a:picLocks noChangeAspect="1"/>
          </p:cNvPicPr>
          <p:nvPr/>
        </p:nvPicPr>
        <p:blipFill>
          <a:blip r:embed="rId3"/>
          <a:stretch>
            <a:fillRect/>
          </a:stretch>
        </p:blipFill>
        <p:spPr>
          <a:xfrm>
            <a:off x="8312928" y="2591596"/>
            <a:ext cx="3334900" cy="2549523"/>
          </a:xfrm>
          <a:prstGeom prst="rect">
            <a:avLst/>
          </a:prstGeom>
        </p:spPr>
      </p:pic>
      <p:sp>
        <p:nvSpPr>
          <p:cNvPr id="217" name="Google Shape;217;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sz="2800" b="1" dirty="0">
                <a:latin typeface="+mj-lt"/>
              </a:rPr>
              <a:t>Recommendations for next steps for improving the model’s predictability:</a:t>
            </a:r>
            <a:endParaRPr sz="2800" b="1" dirty="0">
              <a:latin typeface="+mj-lt"/>
            </a:endParaRPr>
          </a:p>
        </p:txBody>
      </p:sp>
      <p:sp>
        <p:nvSpPr>
          <p:cNvPr id="218" name="Google Shape;218;p13"/>
          <p:cNvSpPr txBox="1">
            <a:spLocks noGrp="1"/>
          </p:cNvSpPr>
          <p:nvPr>
            <p:ph type="body" idx="1"/>
          </p:nvPr>
        </p:nvSpPr>
        <p:spPr>
          <a:xfrm>
            <a:off x="906567" y="1690688"/>
            <a:ext cx="7570862" cy="4351338"/>
          </a:xfrm>
          <a:prstGeom prst="rect">
            <a:avLst/>
          </a:prstGeom>
          <a:solidFill>
            <a:schemeClr val="accent4">
              <a:lumMod val="20000"/>
              <a:lumOff val="80000"/>
            </a:schemeClr>
          </a:solidFill>
          <a:ln>
            <a:noFill/>
          </a:ln>
        </p:spPr>
        <p:txBody>
          <a:bodyPr spcFirstLastPara="1" wrap="square" lIns="91425" tIns="45700" rIns="91425" bIns="45700" anchor="t" anchorCtr="0">
            <a:normAutofit/>
          </a:bodyPr>
          <a:lstStyle/>
          <a:p>
            <a:pPr marL="635000" indent="-457200">
              <a:spcBef>
                <a:spcPts val="0"/>
              </a:spcBef>
              <a:buSzPts val="2800"/>
            </a:pPr>
            <a:r>
              <a:rPr lang="en-GB" sz="2000" dirty="0"/>
              <a:t>Improving data quality:</a:t>
            </a:r>
          </a:p>
          <a:p>
            <a:pPr marL="1092200" lvl="1" indent="-457200">
              <a:spcBef>
                <a:spcPts val="0"/>
              </a:spcBef>
              <a:buSzPts val="2800"/>
            </a:pPr>
            <a:r>
              <a:rPr lang="en-GB" sz="2000" dirty="0"/>
              <a:t>more data samples</a:t>
            </a:r>
            <a:endParaRPr sz="2000" dirty="0"/>
          </a:p>
          <a:p>
            <a:pPr marL="1092200" lvl="1" indent="-457200">
              <a:spcBef>
                <a:spcPts val="0"/>
              </a:spcBef>
              <a:buSzPts val="2800"/>
            </a:pPr>
            <a:r>
              <a:rPr lang="en-GB" sz="2000" dirty="0"/>
              <a:t>real data  vs synthetic data</a:t>
            </a:r>
          </a:p>
          <a:p>
            <a:pPr marL="1092200" lvl="1" indent="-457200">
              <a:spcBef>
                <a:spcPts val="0"/>
              </a:spcBef>
              <a:buSzPts val="2800"/>
            </a:pPr>
            <a:r>
              <a:rPr lang="en-GB" sz="2000" dirty="0"/>
              <a:t>additional feature engineering</a:t>
            </a:r>
            <a:endParaRPr sz="2000" dirty="0"/>
          </a:p>
          <a:p>
            <a:pPr marL="635000" indent="-457200">
              <a:spcBef>
                <a:spcPts val="0"/>
              </a:spcBef>
              <a:buSzPts val="2800"/>
            </a:pPr>
            <a:r>
              <a:rPr lang="en-GB" sz="2000" dirty="0"/>
              <a:t>Cross-validation techniques:</a:t>
            </a:r>
          </a:p>
          <a:p>
            <a:pPr marL="1092200" lvl="1" indent="-457200">
              <a:spcBef>
                <a:spcPts val="0"/>
              </a:spcBef>
              <a:buSzPts val="2800"/>
            </a:pPr>
            <a:r>
              <a:rPr lang="en-GB" sz="2000" dirty="0"/>
              <a:t>k-fold</a:t>
            </a:r>
          </a:p>
          <a:p>
            <a:pPr marL="1092200" lvl="1" indent="-457200">
              <a:spcBef>
                <a:spcPts val="0"/>
              </a:spcBef>
              <a:buSzPts val="2800"/>
            </a:pPr>
            <a:r>
              <a:rPr lang="en-GB" sz="2000" dirty="0"/>
              <a:t>hyperparameter tuning</a:t>
            </a:r>
          </a:p>
          <a:p>
            <a:pPr marL="635000" indent="-457200">
              <a:spcBef>
                <a:spcPts val="0"/>
              </a:spcBef>
              <a:buSzPts val="2800"/>
            </a:pPr>
            <a:r>
              <a:rPr lang="en-GB" sz="2000" dirty="0"/>
              <a:t>Model selection:</a:t>
            </a:r>
          </a:p>
          <a:p>
            <a:pPr marL="1092200" lvl="1" indent="-457200">
              <a:spcBef>
                <a:spcPts val="0"/>
              </a:spcBef>
              <a:buSzPts val="2800"/>
            </a:pPr>
            <a:r>
              <a:rPr lang="en-GB" sz="2000" dirty="0"/>
              <a:t>review alternative machine learning models and compare their performance</a:t>
            </a:r>
          </a:p>
          <a:p>
            <a:pPr marL="635000" indent="-457200">
              <a:spcBef>
                <a:spcPts val="0"/>
              </a:spcBef>
              <a:buSzPts val="2800"/>
            </a:pPr>
            <a:r>
              <a:rPr lang="en-GB" sz="2000" dirty="0"/>
              <a:t>Feature selection:</a:t>
            </a:r>
          </a:p>
          <a:p>
            <a:pPr marL="1092200" lvl="1" indent="-457200">
              <a:spcBef>
                <a:spcPts val="0"/>
              </a:spcBef>
              <a:buSzPts val="2800"/>
            </a:pPr>
            <a:r>
              <a:rPr lang="en-GB" sz="2000" dirty="0"/>
              <a:t>Reduce dimensionality e.g. Principal Component Analysis (PCA) or Recursive Feature Elimination (RFE)</a:t>
            </a:r>
          </a:p>
          <a:p>
            <a:pPr marL="635000" indent="-457200">
              <a:spcBef>
                <a:spcPts val="0"/>
              </a:spcBef>
              <a:buSzPts val="2800"/>
            </a:pPr>
            <a:r>
              <a:rPr lang="en-GB" sz="2000" dirty="0"/>
              <a:t>Data Preprocessing:</a:t>
            </a:r>
          </a:p>
          <a:p>
            <a:pPr marL="1092200" lvl="1" indent="-457200">
              <a:spcBef>
                <a:spcPts val="0"/>
              </a:spcBef>
              <a:buSzPts val="2800"/>
            </a:pPr>
            <a:r>
              <a:rPr lang="en-GB" sz="2000" dirty="0"/>
              <a:t> Standardisation/Normalisation – scaling features</a:t>
            </a:r>
          </a:p>
          <a:p>
            <a:pPr marL="1549400" lvl="2" indent="-457200">
              <a:spcBef>
                <a:spcPts val="0"/>
              </a:spcBef>
              <a:buSzPts val="2800"/>
            </a:pPr>
            <a:endParaRPr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6BBD0-6B7C-DEA7-4AA2-07C640425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CD4AA7-6C52-B3FD-0348-C016043B390B}"/>
              </a:ext>
            </a:extLst>
          </p:cNvPr>
          <p:cNvSpPr>
            <a:spLocks noGrp="1"/>
          </p:cNvSpPr>
          <p:nvPr>
            <p:ph type="title"/>
          </p:nvPr>
        </p:nvSpPr>
        <p:spPr>
          <a:xfrm>
            <a:off x="5051283" y="2766218"/>
            <a:ext cx="2089434" cy="1325563"/>
          </a:xfrm>
        </p:spPr>
        <p:txBody>
          <a:bodyPr/>
          <a:lstStyle/>
          <a:p>
            <a:pPr>
              <a:buSzPts val="4400"/>
            </a:pPr>
            <a:r>
              <a:rPr lang="en-GB" sz="2800" b="1" dirty="0">
                <a:latin typeface="+mj-lt"/>
              </a:rPr>
              <a:t>Appendix</a:t>
            </a:r>
          </a:p>
        </p:txBody>
      </p:sp>
    </p:spTree>
    <p:extLst>
      <p:ext uri="{BB962C8B-B14F-4D97-AF65-F5344CB8AC3E}">
        <p14:creationId xmlns:p14="http://schemas.microsoft.com/office/powerpoint/2010/main" val="960890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g3aaa7f7ca62_0_3"/>
          <p:cNvSpPr txBox="1">
            <a:spLocks noGrp="1"/>
          </p:cNvSpPr>
          <p:nvPr>
            <p:ph type="title"/>
          </p:nvPr>
        </p:nvSpPr>
        <p:spPr>
          <a:xfrm>
            <a:off x="838200" y="122750"/>
            <a:ext cx="10515600" cy="1325700"/>
          </a:xfrm>
          <a:prstGeom prst="rect">
            <a:avLst/>
          </a:prstGeom>
        </p:spPr>
        <p:txBody>
          <a:bodyPr spcFirstLastPara="1" wrap="square" lIns="91425" tIns="45700" rIns="91425" bIns="45700" anchor="ctr" anchorCtr="0">
            <a:normAutofit/>
          </a:bodyPr>
          <a:lstStyle/>
          <a:p>
            <a:pPr marL="0" lvl="0" indent="0" algn="l" rtl="0">
              <a:spcBef>
                <a:spcPts val="0"/>
              </a:spcBef>
              <a:spcAft>
                <a:spcPts val="0"/>
              </a:spcAft>
              <a:buNone/>
            </a:pPr>
            <a:r>
              <a:rPr lang="en-GB" dirty="0"/>
              <a:t>Trello board:</a:t>
            </a:r>
            <a:endParaRPr dirty="0"/>
          </a:p>
        </p:txBody>
      </p:sp>
      <p:pic>
        <p:nvPicPr>
          <p:cNvPr id="96" name="Google Shape;96;g3aaa7f7ca62_0_3"/>
          <p:cNvPicPr preferRelativeResize="0"/>
          <p:nvPr/>
        </p:nvPicPr>
        <p:blipFill>
          <a:blip r:embed="rId3">
            <a:alphaModFix/>
          </a:blip>
          <a:stretch>
            <a:fillRect/>
          </a:stretch>
        </p:blipFill>
        <p:spPr>
          <a:xfrm>
            <a:off x="120563" y="2360200"/>
            <a:ext cx="11950874" cy="4440751"/>
          </a:xfrm>
          <a:prstGeom prst="rect">
            <a:avLst/>
          </a:prstGeom>
          <a:noFill/>
          <a:ln>
            <a:noFill/>
          </a:ln>
        </p:spPr>
      </p:pic>
      <p:sp>
        <p:nvSpPr>
          <p:cNvPr id="97" name="Google Shape;97;g3aaa7f7ca62_0_3"/>
          <p:cNvSpPr txBox="1"/>
          <p:nvPr/>
        </p:nvSpPr>
        <p:spPr>
          <a:xfrm>
            <a:off x="516125" y="1075050"/>
            <a:ext cx="11149500" cy="627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GB" sz="1800">
                <a:solidFill>
                  <a:schemeClr val="dk1"/>
                </a:solidFill>
              </a:rPr>
              <a:t>The team divided up and organised the tasks under the following categories: </a:t>
            </a:r>
            <a:endParaRPr sz="18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Define task and motivation </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Set up documents (Jupyter notebook, PowerPoint, GitHub and etc.)</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Data review and cleaning</a:t>
            </a:r>
            <a:endParaRPr sz="1600">
              <a:solidFill>
                <a:schemeClr val="dk1"/>
              </a:solidFill>
            </a:endParaRPr>
          </a:p>
          <a:p>
            <a:pPr marL="457200" lvl="0" indent="0" algn="l" rtl="0">
              <a:spcBef>
                <a:spcPts val="0"/>
              </a:spcBef>
              <a:spcAft>
                <a:spcPts val="0"/>
              </a:spcAft>
              <a:buNone/>
            </a:pPr>
            <a:endParaRPr sz="1600">
              <a:solidFill>
                <a:schemeClr val="dk1"/>
              </a:solidFill>
            </a:endParaRPr>
          </a:p>
          <a:p>
            <a:pPr marL="0" lvl="0" indent="0" algn="l" rtl="0">
              <a:spcBef>
                <a:spcPts val="0"/>
              </a:spcBef>
              <a:spcAft>
                <a:spcPts val="0"/>
              </a:spcAft>
              <a:buNone/>
            </a:pPr>
            <a:endParaRPr sz="1800">
              <a:solidFill>
                <a:schemeClr val="dk1"/>
              </a:solidFill>
            </a:endParaRPr>
          </a:p>
        </p:txBody>
      </p:sp>
      <p:sp>
        <p:nvSpPr>
          <p:cNvPr id="98" name="Google Shape;98;g3aaa7f7ca62_0_3"/>
          <p:cNvSpPr txBox="1"/>
          <p:nvPr/>
        </p:nvSpPr>
        <p:spPr>
          <a:xfrm>
            <a:off x="7885900" y="1305825"/>
            <a:ext cx="4776600" cy="7983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Char char="●"/>
            </a:pPr>
            <a:r>
              <a:rPr lang="en-GB" sz="1600">
                <a:solidFill>
                  <a:schemeClr val="dk1"/>
                </a:solidFill>
              </a:rPr>
              <a:t>EDA</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Feature Engineering </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Predictive modelling </a:t>
            </a:r>
            <a:endParaRPr sz="1600">
              <a:solidFill>
                <a:schemeClr val="dk1"/>
              </a:solidFill>
            </a:endParaRPr>
          </a:p>
          <a:p>
            <a:pPr marL="457200" lvl="0" indent="-330200" algn="l" rtl="0">
              <a:spcBef>
                <a:spcPts val="0"/>
              </a:spcBef>
              <a:spcAft>
                <a:spcPts val="0"/>
              </a:spcAft>
              <a:buClr>
                <a:schemeClr val="dk1"/>
              </a:buClr>
              <a:buSzPts val="1600"/>
              <a:buChar char="●"/>
            </a:pPr>
            <a:r>
              <a:rPr lang="en-GB" sz="1600">
                <a:solidFill>
                  <a:schemeClr val="dk1"/>
                </a:solidFill>
              </a:rPr>
              <a:t>Presentation  </a:t>
            </a:r>
            <a:endParaRPr sz="28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37A1E8A8-A597-7362-2855-C4D1BF929D8A}"/>
            </a:ext>
          </a:extLst>
        </p:cNvPr>
        <p:cNvGrpSpPr/>
        <p:nvPr/>
      </p:nvGrpSpPr>
      <p:grpSpPr>
        <a:xfrm>
          <a:off x="0" y="0"/>
          <a:ext cx="0" cy="0"/>
          <a:chOff x="0" y="0"/>
          <a:chExt cx="0" cy="0"/>
        </a:xfrm>
      </p:grpSpPr>
      <p:sp>
        <p:nvSpPr>
          <p:cNvPr id="223" name="Google Shape;223;p3">
            <a:extLst>
              <a:ext uri="{FF2B5EF4-FFF2-40B4-BE49-F238E27FC236}">
                <a16:creationId xmlns:a16="http://schemas.microsoft.com/office/drawing/2014/main" id="{68BC9352-FEEF-2994-D80F-930D20217E6C}"/>
              </a:ext>
            </a:extLst>
          </p:cNvPr>
          <p:cNvSpPr txBox="1">
            <a:spLocks noGrp="1"/>
          </p:cNvSpPr>
          <p:nvPr>
            <p:ph type="title"/>
          </p:nvPr>
        </p:nvSpPr>
        <p:spPr>
          <a:xfrm>
            <a:off x="838200" y="365125"/>
            <a:ext cx="11353800" cy="1066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dirty="0"/>
              <a:t>Prediction and Actual Plot:</a:t>
            </a:r>
            <a:endParaRPr dirty="0"/>
          </a:p>
        </p:txBody>
      </p:sp>
      <p:sp>
        <p:nvSpPr>
          <p:cNvPr id="224" name="Google Shape;224;p3">
            <a:extLst>
              <a:ext uri="{FF2B5EF4-FFF2-40B4-BE49-F238E27FC236}">
                <a16:creationId xmlns:a16="http://schemas.microsoft.com/office/drawing/2014/main" id="{9A9102EB-6CA3-DB99-69D4-C46A258BE937}"/>
              </a:ext>
            </a:extLst>
          </p:cNvPr>
          <p:cNvSpPr txBox="1"/>
          <p:nvPr/>
        </p:nvSpPr>
        <p:spPr>
          <a:xfrm>
            <a:off x="838200" y="180459"/>
            <a:ext cx="868925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0" i="0" u="sng" strike="noStrike" cap="none">
                <a:solidFill>
                  <a:srgbClr val="0B57D0"/>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https://www.kaggle.com/datasets/alizabrand/school-performance-analysis</a:t>
            </a:r>
            <a:endParaRPr sz="1800">
              <a:solidFill>
                <a:schemeClr val="dk1"/>
              </a:solidFill>
              <a:latin typeface="Arial"/>
              <a:ea typeface="Arial"/>
              <a:cs typeface="Arial"/>
              <a:sym typeface="Arial"/>
            </a:endParaRPr>
          </a:p>
        </p:txBody>
      </p:sp>
      <p:pic>
        <p:nvPicPr>
          <p:cNvPr id="1028" name="Picture 4">
            <a:extLst>
              <a:ext uri="{FF2B5EF4-FFF2-40B4-BE49-F238E27FC236}">
                <a16:creationId xmlns:a16="http://schemas.microsoft.com/office/drawing/2014/main" id="{7E40F4D7-6937-5EF4-D13B-72D70F27772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8649" y="1335088"/>
            <a:ext cx="6877619" cy="514575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8047765-D34B-7CFD-AEB2-F668E258ACB2}"/>
              </a:ext>
            </a:extLst>
          </p:cNvPr>
          <p:cNvSpPr txBox="1"/>
          <p:nvPr/>
        </p:nvSpPr>
        <p:spPr>
          <a:xfrm>
            <a:off x="7670083" y="3333750"/>
            <a:ext cx="3714750" cy="1384995"/>
          </a:xfrm>
          <a:prstGeom prst="rect">
            <a:avLst/>
          </a:prstGeom>
          <a:noFill/>
        </p:spPr>
        <p:txBody>
          <a:bodyPr wrap="square">
            <a:spAutoFit/>
          </a:bodyPr>
          <a:lstStyle/>
          <a:p>
            <a:pPr rtl="0">
              <a:buNone/>
            </a:pPr>
            <a:r>
              <a:rPr lang="en-GB" sz="1400" b="0" i="0" u="none" strike="noStrike" dirty="0">
                <a:solidFill>
                  <a:srgbClr val="000000"/>
                </a:solidFill>
                <a:effectLst/>
                <a:latin typeface="Arial" panose="020B0604020202020204" pitchFamily="34" charset="0"/>
              </a:rPr>
              <a:t>This plot compares original writing scores with model predictions, showing how closely the regression model tracks the true values when academic features are included.</a:t>
            </a:r>
            <a:endParaRPr lang="en-GB" b="0" dirty="0">
              <a:effectLst/>
            </a:endParaRPr>
          </a:p>
          <a:p>
            <a:pPr>
              <a:buNone/>
            </a:pPr>
            <a:br>
              <a:rPr lang="en-GB" dirty="0"/>
            </a:br>
            <a:endParaRPr lang="en-GB" dirty="0"/>
          </a:p>
        </p:txBody>
      </p:sp>
    </p:spTree>
    <p:extLst>
      <p:ext uri="{BB962C8B-B14F-4D97-AF65-F5344CB8AC3E}">
        <p14:creationId xmlns:p14="http://schemas.microsoft.com/office/powerpoint/2010/main" val="3787104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2">
          <a:extLst>
            <a:ext uri="{FF2B5EF4-FFF2-40B4-BE49-F238E27FC236}">
              <a16:creationId xmlns:a16="http://schemas.microsoft.com/office/drawing/2014/main" id="{40118EF1-7C18-1D2E-9BA5-A26010A2BCA5}"/>
            </a:ext>
          </a:extLst>
        </p:cNvPr>
        <p:cNvGrpSpPr/>
        <p:nvPr/>
      </p:nvGrpSpPr>
      <p:grpSpPr>
        <a:xfrm>
          <a:off x="0" y="0"/>
          <a:ext cx="0" cy="0"/>
          <a:chOff x="0" y="0"/>
          <a:chExt cx="0" cy="0"/>
        </a:xfrm>
      </p:grpSpPr>
      <p:sp>
        <p:nvSpPr>
          <p:cNvPr id="223" name="Google Shape;223;p3">
            <a:extLst>
              <a:ext uri="{FF2B5EF4-FFF2-40B4-BE49-F238E27FC236}">
                <a16:creationId xmlns:a16="http://schemas.microsoft.com/office/drawing/2014/main" id="{2073E664-C2E9-3530-8C92-C802F4422287}"/>
              </a:ext>
            </a:extLst>
          </p:cNvPr>
          <p:cNvSpPr txBox="1">
            <a:spLocks noGrp="1"/>
          </p:cNvSpPr>
          <p:nvPr>
            <p:ph type="title"/>
          </p:nvPr>
        </p:nvSpPr>
        <p:spPr>
          <a:xfrm>
            <a:off x="838200" y="365125"/>
            <a:ext cx="11353800" cy="1066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GB" dirty="0"/>
              <a:t>Summary of background research:</a:t>
            </a:r>
            <a:endParaRPr dirty="0"/>
          </a:p>
        </p:txBody>
      </p:sp>
      <p:sp>
        <p:nvSpPr>
          <p:cNvPr id="224" name="Google Shape;224;p3">
            <a:extLst>
              <a:ext uri="{FF2B5EF4-FFF2-40B4-BE49-F238E27FC236}">
                <a16:creationId xmlns:a16="http://schemas.microsoft.com/office/drawing/2014/main" id="{A1DFEA3F-2E4F-ABBA-F7C1-BDA595E81682}"/>
              </a:ext>
            </a:extLst>
          </p:cNvPr>
          <p:cNvSpPr txBox="1"/>
          <p:nvPr/>
        </p:nvSpPr>
        <p:spPr>
          <a:xfrm>
            <a:off x="838200" y="180459"/>
            <a:ext cx="868925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800" b="0" i="0" u="sng" strike="noStrike" cap="none">
                <a:solidFill>
                  <a:srgbClr val="0B57D0"/>
                </a:solidFill>
                <a:latin typeface="Arial"/>
                <a:ea typeface="Arial"/>
                <a:cs typeface="Arial"/>
                <a:sym typeface="Arial"/>
                <a:hlinkClick r:id="rId3">
                  <a:extLst>
                    <a:ext uri="{A12FA001-AC4F-418D-AE19-62706E023703}">
                      <ahyp:hlinkClr xmlns:ahyp="http://schemas.microsoft.com/office/drawing/2018/hyperlinkcolor" val="tx"/>
                    </a:ext>
                  </a:extLst>
                </a:hlinkClick>
              </a:rPr>
              <a:t>https://www.kaggle.com/datasets/alizabrand/school-performance-analysis</a:t>
            </a:r>
            <a:endParaRPr sz="1800">
              <a:solidFill>
                <a:schemeClr val="dk1"/>
              </a:solidFill>
              <a:latin typeface="Arial"/>
              <a:ea typeface="Arial"/>
              <a:cs typeface="Arial"/>
              <a:sym typeface="Arial"/>
            </a:endParaRPr>
          </a:p>
        </p:txBody>
      </p:sp>
      <p:sp>
        <p:nvSpPr>
          <p:cNvPr id="4" name="TextBox 3">
            <a:extLst>
              <a:ext uri="{FF2B5EF4-FFF2-40B4-BE49-F238E27FC236}">
                <a16:creationId xmlns:a16="http://schemas.microsoft.com/office/drawing/2014/main" id="{A6B67AA4-4E52-2C55-0B5A-6BC26126C774}"/>
              </a:ext>
            </a:extLst>
          </p:cNvPr>
          <p:cNvSpPr txBox="1"/>
          <p:nvPr/>
        </p:nvSpPr>
        <p:spPr>
          <a:xfrm>
            <a:off x="838200" y="1822450"/>
            <a:ext cx="10833100" cy="2246769"/>
          </a:xfrm>
          <a:prstGeom prst="rect">
            <a:avLst/>
          </a:prstGeom>
          <a:noFill/>
        </p:spPr>
        <p:txBody>
          <a:bodyPr wrap="square">
            <a:spAutoFit/>
          </a:bodyPr>
          <a:lstStyle/>
          <a:p>
            <a:pPr marL="285750" indent="-285750">
              <a:buFont typeface="Arial" panose="020B0604020202020204" pitchFamily="34" charset="0"/>
              <a:buChar char="•"/>
            </a:pPr>
            <a:r>
              <a:rPr lang="en-GB" dirty="0"/>
              <a:t>Higher parental education and socioeconomic status (SES) are consistently associated with stronger academic performance due to greater access to support and resources at home. Ethnic minority students—particularly Black and Latino learners—often experience additional barriers, largely influenced by SES, school quality, and resource availability rather than ethnicity alone.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Gender-related performance differences exist but are generally smaller and subject-specific compared to the much stronger effects of SES and parental education. </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Overall, these demographic factors help shape expectations around student achievement patterns in U.S. education research.</a:t>
            </a:r>
          </a:p>
          <a:p>
            <a:pPr>
              <a:buNone/>
            </a:pPr>
            <a:br>
              <a:rPr lang="en-GB" dirty="0"/>
            </a:br>
            <a:endParaRPr lang="en-GB" dirty="0"/>
          </a:p>
        </p:txBody>
      </p:sp>
    </p:spTree>
    <p:extLst>
      <p:ext uri="{BB962C8B-B14F-4D97-AF65-F5344CB8AC3E}">
        <p14:creationId xmlns:p14="http://schemas.microsoft.com/office/powerpoint/2010/main" val="28702784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193</TotalTime>
  <Words>1904</Words>
  <Application>Microsoft Office PowerPoint</Application>
  <PresentationFormat>Widescreen</PresentationFormat>
  <Paragraphs>213</Paragraphs>
  <Slides>21</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Play</vt:lpstr>
      <vt:lpstr>Office Theme</vt:lpstr>
      <vt:lpstr>Can demographic characteristics alone be used to predict students’ educational performance across core subjects, such as Maths, Reading, and Writing?</vt:lpstr>
      <vt:lpstr>Contents: </vt:lpstr>
      <vt:lpstr>PowerPoint Presentation</vt:lpstr>
      <vt:lpstr>Main motivation for selecting this dataset:</vt:lpstr>
      <vt:lpstr>Exploration of the dataset features:</vt:lpstr>
      <vt:lpstr>Score distributions are fairly symmetrical and consistent across all 3 subjects (visualisations on next slide):</vt:lpstr>
      <vt:lpstr>As score distributions are fairly symmetrical and consistent across all 3 subjects, we applied a unified banding to all scores to aid analysis:</vt:lpstr>
      <vt:lpstr>The correlation between exam scores and the five demographic features was weak. In contrast, the three exam scores exhibited a strong correlation with each other.</vt:lpstr>
      <vt:lpstr>Predictive modelling- Review and analysis:</vt:lpstr>
      <vt:lpstr>Model testing with banded maths score as an illustration of the predictive model:</vt:lpstr>
      <vt:lpstr>Illustration of a Confusion Matrix with banded Math scores:</vt:lpstr>
      <vt:lpstr>Predictive model (banded maths scores) illustrate that academic scores drive predictive power more than demographics:</vt:lpstr>
      <vt:lpstr>Although demographics alone offer limited predictive power, there is slightly better performance for predicting writing scores than math scores:</vt:lpstr>
      <vt:lpstr>Model testing with regression using continuous scores</vt:lpstr>
      <vt:lpstr>The reading score is the single best predictor of the writing score. Demographics provide marginal context</vt:lpstr>
      <vt:lpstr>Dashboard for further analysis:</vt:lpstr>
      <vt:lpstr>Recommendations for next steps for improving the model’s predictability:</vt:lpstr>
      <vt:lpstr>Appendix</vt:lpstr>
      <vt:lpstr>Trello board:</vt:lpstr>
      <vt:lpstr>Prediction and Actual Plot:</vt:lpstr>
      <vt:lpstr>Summary of background research: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Teresa McGarry</dc:creator>
  <cp:lastModifiedBy>Ace Pagaddu</cp:lastModifiedBy>
  <cp:revision>3</cp:revision>
  <dcterms:created xsi:type="dcterms:W3CDTF">2025-11-21T13:21:10Z</dcterms:created>
  <dcterms:modified xsi:type="dcterms:W3CDTF">2025-12-01T12:35:34Z</dcterms:modified>
</cp:coreProperties>
</file>
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Lst>
  <p:sldSz cy="6858000" cx="12192000"/>
  <p:notesSz cx="6858000" cy="9144000"/>
  <p:embeddedFontLst>
    <p:embeddedFont>
      <p:font typeface="Play"/>
      <p:regular r:id="rId24"/>
      <p:bold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6" roundtripDataSignature="AMtx7mjhEnR6KqtWvVVv83PzTKKGH367A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17BD42C-041C-47A8-ABBD-10D010B4723F}">
  <a:tblStyle styleId="{617BD42C-041C-47A8-ABBD-10D010B4723F}" styleName="Table_0">
    <a:wholeTbl>
      <a:tcTxStyle b="off" i="off">
        <a:font>
          <a:latin typeface="Aptos"/>
          <a:ea typeface="Aptos"/>
          <a:cs typeface="Aptos"/>
        </a:font>
        <a:schemeClr val="dk1"/>
      </a:tcTxStyle>
      <a:tcStyle>
        <a:tcBdr>
          <a:left>
            <a:ln cap="flat" cmpd="sng" w="12700">
              <a:solidFill>
                <a:schemeClr val="dk1"/>
              </a:solidFill>
              <a:prstDash val="solid"/>
              <a:round/>
              <a:headEnd len="sm" w="sm" type="none"/>
              <a:tailEnd len="sm" w="sm" type="none"/>
            </a:ln>
          </a:left>
          <a:right>
            <a:ln cap="flat" cmpd="sng" w="12700">
              <a:solidFill>
                <a:schemeClr val="dk1"/>
              </a:solidFill>
              <a:prstDash val="solid"/>
              <a:round/>
              <a:headEnd len="sm" w="sm" type="none"/>
              <a:tailEnd len="sm" w="sm" type="none"/>
            </a:ln>
          </a:right>
          <a:top>
            <a:ln cap="flat" cmpd="sng" w="12700">
              <a:solidFill>
                <a:schemeClr val="dk1"/>
              </a:solidFill>
              <a:prstDash val="solid"/>
              <a:round/>
              <a:headEnd len="sm" w="sm" type="none"/>
              <a:tailEnd len="sm" w="sm" type="none"/>
            </a:ln>
          </a:top>
          <a:bottom>
            <a:ln cap="flat" cmpd="sng" w="12700">
              <a:solidFill>
                <a:schemeClr val="dk1"/>
              </a:solidFill>
              <a:prstDash val="solid"/>
              <a:round/>
              <a:headEnd len="sm" w="sm" type="none"/>
              <a:tailEnd len="sm" w="sm" type="none"/>
            </a:ln>
          </a:bottom>
          <a:insideH>
            <a:ln cap="flat" cmpd="sng" w="12700">
              <a:solidFill>
                <a:schemeClr val="dk1"/>
              </a:solidFill>
              <a:prstDash val="solid"/>
              <a:round/>
              <a:headEnd len="sm" w="sm" type="none"/>
              <a:tailEnd len="sm" w="sm" type="none"/>
            </a:ln>
          </a:insideH>
          <a:insideV>
            <a:ln cap="flat" cmpd="sng" w="12700">
              <a:solidFill>
                <a:schemeClr val="dk1"/>
              </a:solidFill>
              <a:prstDash val="solid"/>
              <a:round/>
              <a:headEnd len="sm" w="sm" type="none"/>
              <a:tailEnd len="sm" w="sm" type="none"/>
            </a:ln>
          </a:insideV>
        </a:tcBdr>
        <a:fill>
          <a:solidFill>
            <a:srgbClr val="FFFFFF">
              <a:alpha val="0"/>
            </a:srgbClr>
          </a:solidFill>
        </a:fill>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48205E3B-803B-47F0-A93E-CFBADB7F0A1F}" styleName="Table_1">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3D69C190-72E3-4A0A-91AC-61E209EC6283}" styleName="Table_2">
    <a:wholeTbl>
      <a:tcTxStyle b="off" i="off">
        <a:font>
          <a:latin typeface="Aptos"/>
          <a:ea typeface="Aptos"/>
          <a:cs typeface="Aptos"/>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Aptos"/>
          <a:ea typeface="Aptos"/>
          <a:cs typeface="Aptos"/>
        </a:font>
        <a:schemeClr val="lt1"/>
      </a:tcTxStyle>
      <a:tcStyle>
        <a:fill>
          <a:solidFill>
            <a:schemeClr val="accent1"/>
          </a:solidFill>
        </a:fill>
      </a:tcStyle>
    </a:lastCol>
    <a:firstCol>
      <a:tcTxStyle b="on" i="off">
        <a:font>
          <a:latin typeface="Aptos"/>
          <a:ea typeface="Aptos"/>
          <a:cs typeface="Aptos"/>
        </a:font>
        <a:schemeClr val="lt1"/>
      </a:tcTxStyle>
      <a:tcStyle>
        <a:fill>
          <a:solidFill>
            <a:schemeClr val="accent1"/>
          </a:solidFill>
        </a:fill>
      </a:tcStyle>
    </a:firstCol>
    <a:lastRow>
      <a:tcTxStyle b="on" i="off">
        <a:font>
          <a:latin typeface="Aptos"/>
          <a:ea typeface="Aptos"/>
          <a:cs typeface="Aptos"/>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Aptos"/>
          <a:ea typeface="Aptos"/>
          <a:cs typeface="Aptos"/>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font" Target="fonts/Play-regular.fntdata"/><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customschemas.google.com/relationships/presentationmetadata" Target="metadata"/><Relationship Id="rId25" Type="http://schemas.openxmlformats.org/officeDocument/2006/relationships/font" Target="fonts/Play-bold.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3aaa7f7ca62_0_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3aaa7f7ca62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g3aac0129f3a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g3aac0129f3a_0_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aaa7f7ca62_1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aaa7f7ca62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3" name="Google Shape;163;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g3abc35d3d02_2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176" name="Google Shape;176;g3abc35d3d02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g3aac199a39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g3aac199a391_0_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aaa7f7ca62_1_2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aaa7f7ca62_1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b="1" lang="en-GB" sz="1000">
                <a:solidFill>
                  <a:schemeClr val="dk1"/>
                </a:solidFill>
              </a:rPr>
              <a:t>All 9 features → 0.755</a:t>
            </a:r>
            <a:r>
              <a:rPr lang="en-GB" sz="1000">
                <a:solidFill>
                  <a:schemeClr val="dk1"/>
                </a:solidFill>
              </a:rPr>
              <a:t> This is your baseline. Using everything gives the highest accuracy, as expected.</a:t>
            </a:r>
            <a:endParaRPr sz="1000">
              <a:solidFill>
                <a:schemeClr val="dk1"/>
              </a:solidFill>
            </a:endParaRPr>
          </a:p>
          <a:p>
            <a:pPr indent="0" lvl="0" marL="0" rtl="0" algn="l">
              <a:spcBef>
                <a:spcPts val="0"/>
              </a:spcBef>
              <a:spcAft>
                <a:spcPts val="0"/>
              </a:spcAft>
              <a:buClr>
                <a:schemeClr val="dk1"/>
              </a:buClr>
              <a:buSzPts val="1100"/>
              <a:buFont typeface="Arial"/>
              <a:buNone/>
            </a:pPr>
            <a:r>
              <a:rPr b="1" lang="en-GB" sz="1000">
                <a:solidFill>
                  <a:schemeClr val="dk1"/>
                </a:solidFill>
              </a:rPr>
              <a:t>7 features (excluding banded reading/writing) → 0.73</a:t>
            </a:r>
            <a:r>
              <a:rPr lang="en-GB" sz="1000">
                <a:solidFill>
                  <a:schemeClr val="dk1"/>
                </a:solidFill>
              </a:rPr>
              <a:t> Slight drop compared to all features. Makes sense: reading/writing banded scores carry predictive signal, so removing them reduces accuracy.</a:t>
            </a:r>
            <a:endParaRPr sz="1000">
              <a:solidFill>
                <a:schemeClr val="dk1"/>
              </a:solidFill>
            </a:endParaRPr>
          </a:p>
          <a:p>
            <a:pPr indent="0" lvl="0" marL="0" rtl="0" algn="l">
              <a:spcBef>
                <a:spcPts val="0"/>
              </a:spcBef>
              <a:spcAft>
                <a:spcPts val="0"/>
              </a:spcAft>
              <a:buClr>
                <a:schemeClr val="dk1"/>
              </a:buClr>
              <a:buSzPts val="1100"/>
              <a:buFont typeface="Arial"/>
              <a:buNone/>
            </a:pPr>
            <a:r>
              <a:rPr b="1" lang="en-GB" sz="1000">
                <a:solidFill>
                  <a:schemeClr val="dk1"/>
                </a:solidFill>
              </a:rPr>
              <a:t>7 features (excluding continuous reading/writing) → 0.655</a:t>
            </a:r>
            <a:r>
              <a:rPr lang="en-GB" sz="1000">
                <a:solidFill>
                  <a:schemeClr val="dk1"/>
                </a:solidFill>
              </a:rPr>
              <a:t> Much bigger drop. Continuous reading/writing scores are stronger predictors than banded ones, so excluding them hurts more.</a:t>
            </a:r>
            <a:endParaRPr sz="1000">
              <a:solidFill>
                <a:schemeClr val="dk1"/>
              </a:solidFill>
            </a:endParaRPr>
          </a:p>
          <a:p>
            <a:pPr indent="0" lvl="0" marL="0" rtl="0" algn="l">
              <a:spcBef>
                <a:spcPts val="0"/>
              </a:spcBef>
              <a:spcAft>
                <a:spcPts val="0"/>
              </a:spcAft>
              <a:buClr>
                <a:schemeClr val="dk1"/>
              </a:buClr>
              <a:buSzPts val="1100"/>
              <a:buFont typeface="Arial"/>
              <a:buNone/>
            </a:pPr>
            <a:r>
              <a:rPr b="1" lang="en-GB" sz="1000">
                <a:solidFill>
                  <a:schemeClr val="dk1"/>
                </a:solidFill>
              </a:rPr>
              <a:t>Top feature (reading score) → 0.625</a:t>
            </a:r>
            <a:r>
              <a:rPr lang="en-GB" sz="1000">
                <a:solidFill>
                  <a:schemeClr val="dk1"/>
                </a:solidFill>
              </a:rPr>
              <a:t> Reading alone is fairly predictive, but not enough to capture full variance. This aligns with intuition: maths and reading are correlated.</a:t>
            </a:r>
            <a:endParaRPr sz="1000">
              <a:solidFill>
                <a:schemeClr val="dk1"/>
              </a:solidFill>
            </a:endParaRPr>
          </a:p>
          <a:p>
            <a:pPr indent="0" lvl="0" marL="0" rtl="0" algn="l">
              <a:spcBef>
                <a:spcPts val="0"/>
              </a:spcBef>
              <a:spcAft>
                <a:spcPts val="0"/>
              </a:spcAft>
              <a:buClr>
                <a:schemeClr val="dk1"/>
              </a:buClr>
              <a:buSzPts val="1100"/>
              <a:buFont typeface="Arial"/>
              <a:buNone/>
            </a:pPr>
            <a:r>
              <a:rPr b="1" lang="en-GB" sz="1000">
                <a:solidFill>
                  <a:schemeClr val="dk1"/>
                </a:solidFill>
              </a:rPr>
              <a:t>Top 2 features (reading + writing) → 0.585</a:t>
            </a:r>
            <a:r>
              <a:rPr lang="en-GB" sz="1000">
                <a:solidFill>
                  <a:schemeClr val="dk1"/>
                </a:solidFill>
              </a:rPr>
              <a:t> Interesting: accuracy </a:t>
            </a:r>
            <a:r>
              <a:rPr i="1" lang="en-GB" sz="1000">
                <a:solidFill>
                  <a:schemeClr val="dk1"/>
                </a:solidFill>
              </a:rPr>
              <a:t>drops</a:t>
            </a:r>
            <a:r>
              <a:rPr lang="en-GB" sz="1000">
                <a:solidFill>
                  <a:schemeClr val="dk1"/>
                </a:solidFill>
              </a:rPr>
              <a:t> compared to reading alone. That suggests writing score may be </a:t>
            </a:r>
            <a:r>
              <a:rPr b="1" lang="en-GB" sz="1000">
                <a:solidFill>
                  <a:schemeClr val="dk1"/>
                </a:solidFill>
              </a:rPr>
              <a:t>collinear</a:t>
            </a:r>
            <a:r>
              <a:rPr lang="en-GB" sz="1000">
                <a:solidFill>
                  <a:schemeClr val="dk1"/>
                </a:solidFill>
              </a:rPr>
              <a:t> or even noisy relative to maths, reducing model performance when paired with reading.</a:t>
            </a:r>
            <a:endParaRPr sz="1000">
              <a:solidFill>
                <a:schemeClr val="dk1"/>
              </a:solidFill>
            </a:endParaRPr>
          </a:p>
          <a:p>
            <a:pPr indent="0" lvl="0" marL="0" rtl="0" algn="l">
              <a:spcBef>
                <a:spcPts val="0"/>
              </a:spcBef>
              <a:spcAft>
                <a:spcPts val="0"/>
              </a:spcAft>
              <a:buClr>
                <a:schemeClr val="dk1"/>
              </a:buClr>
              <a:buSzPts val="1100"/>
              <a:buFont typeface="Arial"/>
              <a:buNone/>
            </a:pPr>
            <a:r>
              <a:rPr b="1" lang="en-GB" sz="1000">
                <a:solidFill>
                  <a:schemeClr val="dk1"/>
                </a:solidFill>
              </a:rPr>
              <a:t>Top 3 features (reading + writing + gender) → 0.745</a:t>
            </a:r>
            <a:r>
              <a:rPr lang="en-GB" sz="1000">
                <a:solidFill>
                  <a:schemeClr val="dk1"/>
                </a:solidFill>
              </a:rPr>
              <a:t> Big jump! Gender adds useful discriminatory signal, and perhaps the model leverages interaction effects. This result is consistent with demographic features sometimes boosting accuracy when combined with academic scores.</a:t>
            </a:r>
            <a:endParaRPr sz="1000">
              <a:solidFill>
                <a:schemeClr val="dk1"/>
              </a:solidFill>
            </a:endParaRPr>
          </a:p>
          <a:p>
            <a:pPr indent="0" lvl="0" marL="0" rtl="0" algn="l">
              <a:spcBef>
                <a:spcPts val="0"/>
              </a:spcBef>
              <a:spcAft>
                <a:spcPts val="0"/>
              </a:spcAft>
              <a:buClr>
                <a:schemeClr val="dk1"/>
              </a:buClr>
              <a:buSzPts val="1100"/>
              <a:buFont typeface="Arial"/>
              <a:buNone/>
            </a:pPr>
            <a:r>
              <a:rPr b="1" lang="en-GB" sz="1000">
                <a:solidFill>
                  <a:schemeClr val="dk1"/>
                </a:solidFill>
              </a:rPr>
              <a:t>5 demographic features only → 0.36</a:t>
            </a:r>
            <a:r>
              <a:rPr lang="en-GB" sz="1000">
                <a:solidFill>
                  <a:schemeClr val="dk1"/>
                </a:solidFill>
              </a:rPr>
              <a:t> Very low, which makes sense. Demographics alone are weak predictors of maths achievement compared to direct performance measures.</a:t>
            </a:r>
            <a:endParaRPr sz="1000">
              <a:solidFill>
                <a:schemeClr val="dk1"/>
              </a:solidFill>
            </a:endParaRPr>
          </a:p>
          <a:p>
            <a:pPr indent="0" lvl="0" marL="0" rtl="0" algn="l">
              <a:spcBef>
                <a:spcPts val="0"/>
              </a:spcBef>
              <a:spcAft>
                <a:spcPts val="0"/>
              </a:spcAft>
              <a:buNone/>
            </a:pPr>
            <a:r>
              <a:t/>
            </a:r>
            <a:endParaRPr sz="1000"/>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aac199a391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9" name="Google Shape;209;g3aac199a391_0_1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aac199a391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7" name="Google Shape;217;g3aac199a391_0_4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 name="Shape 222"/>
        <p:cNvGrpSpPr/>
        <p:nvPr/>
      </p:nvGrpSpPr>
      <p:grpSpPr>
        <a:xfrm>
          <a:off x="0" y="0"/>
          <a:ext cx="0" cy="0"/>
          <a:chOff x="0" y="0"/>
          <a:chExt cx="0" cy="0"/>
        </a:xfrm>
      </p:grpSpPr>
      <p:sp>
        <p:nvSpPr>
          <p:cNvPr id="223" name="Google Shape;223;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15"/>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 name="Google Shape;13;p15"/>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4" name="Google Shape;14;p1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 name="Google Shape;15;p1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 name="Google Shape;16;p1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7" name="Shape 17"/>
        <p:cNvGrpSpPr/>
        <p:nvPr/>
      </p:nvGrpSpPr>
      <p:grpSpPr>
        <a:xfrm>
          <a:off x="0" y="0"/>
          <a:ext cx="0" cy="0"/>
          <a:chOff x="0" y="0"/>
          <a:chExt cx="0" cy="0"/>
        </a:xfrm>
      </p:grpSpPr>
      <p:sp>
        <p:nvSpPr>
          <p:cNvPr id="18" name="Google Shape;18;p16"/>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 name="Google Shape;19;p16"/>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0" name="Google Shape;20;p1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2" name="Google Shape;22;p1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3" name="Shape 23"/>
        <p:cNvGrpSpPr/>
        <p:nvPr/>
      </p:nvGrpSpPr>
      <p:grpSpPr>
        <a:xfrm>
          <a:off x="0" y="0"/>
          <a:ext cx="0" cy="0"/>
          <a:chOff x="0" y="0"/>
          <a:chExt cx="0" cy="0"/>
        </a:xfrm>
      </p:grpSpPr>
      <p:sp>
        <p:nvSpPr>
          <p:cNvPr id="24" name="Google Shape;24;p1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 name="Google Shape;25;p1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1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7" name="Google Shape;27;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8" name="Shape 28"/>
        <p:cNvGrpSpPr/>
        <p:nvPr/>
      </p:nvGrpSpPr>
      <p:grpSpPr>
        <a:xfrm>
          <a:off x="0" y="0"/>
          <a:ext cx="0" cy="0"/>
          <a:chOff x="0" y="0"/>
          <a:chExt cx="0" cy="0"/>
        </a:xfrm>
      </p:grpSpPr>
      <p:sp>
        <p:nvSpPr>
          <p:cNvPr id="29" name="Google Shape;29;p18"/>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0" name="Google Shape;30;p18"/>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757575"/>
              </a:buClr>
              <a:buSzPts val="2400"/>
              <a:buNone/>
              <a:defRPr sz="2400">
                <a:solidFill>
                  <a:srgbClr val="757575"/>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1" name="Google Shape;31;p1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4" name="Shape 34"/>
        <p:cNvGrpSpPr/>
        <p:nvPr/>
      </p:nvGrpSpPr>
      <p:grpSpPr>
        <a:xfrm>
          <a:off x="0" y="0"/>
          <a:ext cx="0" cy="0"/>
          <a:chOff x="0" y="0"/>
          <a:chExt cx="0" cy="0"/>
        </a:xfrm>
      </p:grpSpPr>
      <p:sp>
        <p:nvSpPr>
          <p:cNvPr id="35" name="Google Shape;35;p19"/>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6" name="Google Shape;36;p19"/>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7" name="Google Shape;37;p19"/>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8" name="Google Shape;38;p1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1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0" name="Google Shape;40;p1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1" name="Shape 41"/>
        <p:cNvGrpSpPr/>
        <p:nvPr/>
      </p:nvGrpSpPr>
      <p:grpSpPr>
        <a:xfrm>
          <a:off x="0" y="0"/>
          <a:ext cx="0" cy="0"/>
          <a:chOff x="0" y="0"/>
          <a:chExt cx="0" cy="0"/>
        </a:xfrm>
      </p:grpSpPr>
      <p:sp>
        <p:nvSpPr>
          <p:cNvPr id="42" name="Google Shape;42;p20"/>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3" name="Google Shape;43;p20"/>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4" name="Google Shape;44;p20"/>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5" name="Google Shape;45;p20"/>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6" name="Google Shape;46;p20"/>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7" name="Google Shape;47;p2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2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9" name="Google Shape;49;p2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0" name="Shape 50"/>
        <p:cNvGrpSpPr/>
        <p:nvPr/>
      </p:nvGrpSpPr>
      <p:grpSpPr>
        <a:xfrm>
          <a:off x="0" y="0"/>
          <a:ext cx="0" cy="0"/>
          <a:chOff x="0" y="0"/>
          <a:chExt cx="0" cy="0"/>
        </a:xfrm>
      </p:grpSpPr>
      <p:sp>
        <p:nvSpPr>
          <p:cNvPr id="51" name="Google Shape;51;p2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2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2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22"/>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22"/>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57" name="Google Shape;57;p22"/>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58" name="Google Shape;58;p2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2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2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23"/>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23"/>
          <p:cNvSpPr/>
          <p:nvPr>
            <p:ph idx="2" type="pic"/>
          </p:nvPr>
        </p:nvSpPr>
        <p:spPr>
          <a:xfrm>
            <a:off x="5183188" y="987425"/>
            <a:ext cx="6172200" cy="4873625"/>
          </a:xfrm>
          <a:prstGeom prst="rect">
            <a:avLst/>
          </a:prstGeom>
          <a:noFill/>
          <a:ln>
            <a:noFill/>
          </a:ln>
        </p:spPr>
      </p:sp>
      <p:sp>
        <p:nvSpPr>
          <p:cNvPr id="64" name="Google Shape;64;p23"/>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5" name="Google Shape;65;p2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2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2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24"/>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1" name="Google Shape;71;p2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2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2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25"/>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25"/>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7" name="Google Shape;77;p2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2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2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Play"/>
              <a:buNone/>
              <a:defRPr b="0" i="0" sz="4400" u="none" cap="none" strike="noStrik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8" name="Google Shape;8;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9" name="Google Shape;9;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10" name="Google Shape;10;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Arial"/>
                <a:ea typeface="Arial"/>
                <a:cs typeface="Arial"/>
                <a:sym typeface="Arial"/>
              </a:defRPr>
            </a:lvl1pPr>
            <a:lvl2pPr indent="0" lvl="1" marL="0" marR="0" rtl="0" algn="r">
              <a:spcBef>
                <a:spcPts val="0"/>
              </a:spcBef>
              <a:buNone/>
              <a:defRPr b="0" i="0" sz="1200" u="none" cap="none" strike="noStrike">
                <a:solidFill>
                  <a:srgbClr val="757575"/>
                </a:solidFill>
                <a:latin typeface="Arial"/>
                <a:ea typeface="Arial"/>
                <a:cs typeface="Arial"/>
                <a:sym typeface="Arial"/>
              </a:defRPr>
            </a:lvl2pPr>
            <a:lvl3pPr indent="0" lvl="2" marL="0" marR="0" rtl="0" algn="r">
              <a:spcBef>
                <a:spcPts val="0"/>
              </a:spcBef>
              <a:buNone/>
              <a:defRPr b="0" i="0" sz="1200" u="none" cap="none" strike="noStrike">
                <a:solidFill>
                  <a:srgbClr val="757575"/>
                </a:solidFill>
                <a:latin typeface="Arial"/>
                <a:ea typeface="Arial"/>
                <a:cs typeface="Arial"/>
                <a:sym typeface="Arial"/>
              </a:defRPr>
            </a:lvl3pPr>
            <a:lvl4pPr indent="0" lvl="3" marL="0" marR="0" rtl="0" algn="r">
              <a:spcBef>
                <a:spcPts val="0"/>
              </a:spcBef>
              <a:buNone/>
              <a:defRPr b="0" i="0" sz="1200" u="none" cap="none" strike="noStrike">
                <a:solidFill>
                  <a:srgbClr val="757575"/>
                </a:solidFill>
                <a:latin typeface="Arial"/>
                <a:ea typeface="Arial"/>
                <a:cs typeface="Arial"/>
                <a:sym typeface="Arial"/>
              </a:defRPr>
            </a:lvl4pPr>
            <a:lvl5pPr indent="0" lvl="4" marL="0" marR="0" rtl="0" algn="r">
              <a:spcBef>
                <a:spcPts val="0"/>
              </a:spcBef>
              <a:buNone/>
              <a:defRPr b="0" i="0" sz="1200" u="none" cap="none" strike="noStrike">
                <a:solidFill>
                  <a:srgbClr val="757575"/>
                </a:solidFill>
                <a:latin typeface="Arial"/>
                <a:ea typeface="Arial"/>
                <a:cs typeface="Arial"/>
                <a:sym typeface="Arial"/>
              </a:defRPr>
            </a:lvl5pPr>
            <a:lvl6pPr indent="0" lvl="5" marL="0" marR="0" rtl="0" algn="r">
              <a:spcBef>
                <a:spcPts val="0"/>
              </a:spcBef>
              <a:buNone/>
              <a:defRPr b="0" i="0" sz="1200" u="none" cap="none" strike="noStrike">
                <a:solidFill>
                  <a:srgbClr val="757575"/>
                </a:solidFill>
                <a:latin typeface="Arial"/>
                <a:ea typeface="Arial"/>
                <a:cs typeface="Arial"/>
                <a:sym typeface="Arial"/>
              </a:defRPr>
            </a:lvl6pPr>
            <a:lvl7pPr indent="0" lvl="6" marL="0" marR="0" rtl="0" algn="r">
              <a:spcBef>
                <a:spcPts val="0"/>
              </a:spcBef>
              <a:buNone/>
              <a:defRPr b="0" i="0" sz="1200" u="none" cap="none" strike="noStrike">
                <a:solidFill>
                  <a:srgbClr val="757575"/>
                </a:solidFill>
                <a:latin typeface="Arial"/>
                <a:ea typeface="Arial"/>
                <a:cs typeface="Arial"/>
                <a:sym typeface="Arial"/>
              </a:defRPr>
            </a:lvl7pPr>
            <a:lvl8pPr indent="0" lvl="7" marL="0" marR="0" rtl="0" algn="r">
              <a:spcBef>
                <a:spcPts val="0"/>
              </a:spcBef>
              <a:buNone/>
              <a:defRPr b="0" i="0" sz="1200" u="none" cap="none" strike="noStrike">
                <a:solidFill>
                  <a:srgbClr val="757575"/>
                </a:solidFill>
                <a:latin typeface="Arial"/>
                <a:ea typeface="Arial"/>
                <a:cs typeface="Arial"/>
                <a:sym typeface="Arial"/>
              </a:defRPr>
            </a:lvl8pPr>
            <a:lvl9pPr indent="0" lvl="8" marL="0" marR="0" rtl="0" algn="r">
              <a:spcBef>
                <a:spcPts val="0"/>
              </a:spcBef>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hyperlink" Target="https://www.kaggle.com/datasets/alizabrand/school-performance-analysis"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hyperlink" Target="https://github.com/M-3rlin/StudentPerformanceAnalysis/tree/main"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7.png"/><Relationship Id="rId4" Type="http://schemas.openxmlformats.org/officeDocument/2006/relationships/image" Target="../media/image4.png"/><Relationship Id="rId5"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www.kaggle.com/datasets/alizabrand/school-performance-analysis"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
          <p:cNvSpPr txBox="1"/>
          <p:nvPr>
            <p:ph type="ctrTitle"/>
          </p:nvPr>
        </p:nvSpPr>
        <p:spPr>
          <a:xfrm>
            <a:off x="790950" y="2731525"/>
            <a:ext cx="10610100" cy="1691100"/>
          </a:xfrm>
          <a:prstGeom prst="rect">
            <a:avLst/>
          </a:prstGeom>
          <a:noFill/>
          <a:ln>
            <a:noFill/>
          </a:ln>
        </p:spPr>
        <p:txBody>
          <a:bodyPr anchorCtr="0" anchor="b" bIns="45700" lIns="91425" spcFirstLastPara="1" rIns="91425" wrap="square" tIns="45700">
            <a:normAutofit fontScale="90000"/>
          </a:bodyPr>
          <a:lstStyle/>
          <a:p>
            <a:pPr indent="0" lvl="0" marL="0" rtl="0" algn="ctr">
              <a:lnSpc>
                <a:spcPct val="90000"/>
              </a:lnSpc>
              <a:spcBef>
                <a:spcPts val="0"/>
              </a:spcBef>
              <a:spcAft>
                <a:spcPts val="0"/>
              </a:spcAft>
              <a:buClr>
                <a:schemeClr val="dk1"/>
              </a:buClr>
              <a:buSzPct val="101886"/>
              <a:buFont typeface="Play"/>
              <a:buNone/>
            </a:pPr>
            <a:r>
              <a:rPr lang="en-GB" sz="5300"/>
              <a:t>Student Performance Analysis: </a:t>
            </a:r>
            <a:endParaRPr sz="5300"/>
          </a:p>
          <a:p>
            <a:pPr indent="0" lvl="0" marL="0" rtl="0" algn="ctr">
              <a:lnSpc>
                <a:spcPct val="90000"/>
              </a:lnSpc>
              <a:spcBef>
                <a:spcPts val="0"/>
              </a:spcBef>
              <a:spcAft>
                <a:spcPts val="0"/>
              </a:spcAft>
              <a:buClr>
                <a:schemeClr val="dk1"/>
              </a:buClr>
              <a:buSzPct val="101886"/>
              <a:buFont typeface="Play"/>
              <a:buNone/>
            </a:pPr>
            <a:r>
              <a:t/>
            </a:r>
            <a:endParaRPr sz="5300"/>
          </a:p>
          <a:p>
            <a:pPr indent="0" lvl="0" marL="0" rtl="0" algn="ctr">
              <a:lnSpc>
                <a:spcPct val="90000"/>
              </a:lnSpc>
              <a:spcBef>
                <a:spcPts val="0"/>
              </a:spcBef>
              <a:spcAft>
                <a:spcPts val="0"/>
              </a:spcAft>
              <a:buClr>
                <a:schemeClr val="dk1"/>
              </a:buClr>
              <a:buSzPct val="150000"/>
              <a:buFont typeface="Play"/>
              <a:buNone/>
            </a:pPr>
            <a:r>
              <a:rPr i="1" lang="en-GB" sz="3600">
                <a:latin typeface="Arial"/>
                <a:ea typeface="Arial"/>
                <a:cs typeface="Arial"/>
                <a:sym typeface="Arial"/>
              </a:rPr>
              <a:t>Hypothesis: </a:t>
            </a:r>
            <a:r>
              <a:rPr i="1" lang="en-GB" sz="3600">
                <a:latin typeface="Arial"/>
                <a:ea typeface="Arial"/>
                <a:cs typeface="Arial"/>
                <a:sym typeface="Arial"/>
              </a:rPr>
              <a:t>Demographic</a:t>
            </a:r>
            <a:r>
              <a:rPr i="1" lang="en-GB" sz="3600">
                <a:latin typeface="Arial"/>
                <a:ea typeface="Arial"/>
                <a:cs typeface="Arial"/>
                <a:sym typeface="Arial"/>
              </a:rPr>
              <a:t> characteristics can be </a:t>
            </a:r>
            <a:r>
              <a:rPr i="1" lang="en-GB" sz="3600">
                <a:latin typeface="Arial"/>
                <a:ea typeface="Arial"/>
                <a:cs typeface="Arial"/>
                <a:sym typeface="Arial"/>
              </a:rPr>
              <a:t>used</a:t>
            </a:r>
            <a:r>
              <a:rPr i="1" lang="en-GB" sz="3600">
                <a:latin typeface="Arial"/>
                <a:ea typeface="Arial"/>
                <a:cs typeface="Arial"/>
                <a:sym typeface="Arial"/>
              </a:rPr>
              <a:t> to determine students’ </a:t>
            </a:r>
            <a:r>
              <a:rPr i="1" lang="en-GB" sz="3600">
                <a:latin typeface="Arial"/>
                <a:ea typeface="Arial"/>
                <a:cs typeface="Arial"/>
                <a:sym typeface="Arial"/>
              </a:rPr>
              <a:t>educational performance across core subjects, including Maths, Reading, and English.</a:t>
            </a:r>
            <a:endParaRPr i="1" sz="3600"/>
          </a:p>
        </p:txBody>
      </p:sp>
      <p:sp>
        <p:nvSpPr>
          <p:cNvPr id="85" name="Google Shape;85;p1"/>
          <p:cNvSpPr txBox="1"/>
          <p:nvPr>
            <p:ph idx="4294967295" type="title"/>
          </p:nvPr>
        </p:nvSpPr>
        <p:spPr>
          <a:xfrm>
            <a:off x="838200" y="5275100"/>
            <a:ext cx="5010300" cy="7032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GB" sz="1800"/>
              <a:t>By: </a:t>
            </a:r>
            <a:r>
              <a:rPr i="1" lang="en-GB" sz="1800"/>
              <a:t>Group 1 (Abdul, Ace, Bhavita, Igor &amp; Teresa)</a:t>
            </a:r>
            <a:endParaRPr i="1" sz="18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2"/>
          <p:cNvSpPr txBox="1"/>
          <p:nvPr>
            <p:ph type="title"/>
          </p:nvPr>
        </p:nvSpPr>
        <p:spPr>
          <a:xfrm>
            <a:off x="838200" y="94425"/>
            <a:ext cx="10515600" cy="13257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GB"/>
              <a:t>Contents: </a:t>
            </a:r>
            <a:endParaRPr/>
          </a:p>
        </p:txBody>
      </p:sp>
      <p:sp>
        <p:nvSpPr>
          <p:cNvPr id="91" name="Google Shape;91;p2"/>
          <p:cNvSpPr txBox="1"/>
          <p:nvPr>
            <p:ph idx="1" type="body"/>
          </p:nvPr>
        </p:nvSpPr>
        <p:spPr>
          <a:xfrm>
            <a:off x="838200" y="1582994"/>
            <a:ext cx="10515600" cy="4593969"/>
          </a:xfrm>
          <a:prstGeom prst="rect">
            <a:avLst/>
          </a:prstGeom>
          <a:noFill/>
          <a:ln>
            <a:noFill/>
          </a:ln>
        </p:spPr>
        <p:txBody>
          <a:bodyPr anchorCtr="0" anchor="t" bIns="45700" lIns="91425" spcFirstLastPara="1" rIns="91425" wrap="square" tIns="45700">
            <a:normAutofit fontScale="47500" lnSpcReduction="10000"/>
          </a:bodyPr>
          <a:lstStyle/>
          <a:p>
            <a:pPr indent="-148590" lvl="0" marL="228600" rtl="0" algn="l">
              <a:lnSpc>
                <a:spcPct val="90000"/>
              </a:lnSpc>
              <a:spcBef>
                <a:spcPts val="0"/>
              </a:spcBef>
              <a:spcAft>
                <a:spcPts val="0"/>
              </a:spcAft>
              <a:buClr>
                <a:schemeClr val="dk1"/>
              </a:buClr>
              <a:buSzPct val="100000"/>
              <a:buChar char="•"/>
            </a:pPr>
            <a:r>
              <a:rPr lang="en-GB"/>
              <a:t>Trello Board  																				3</a:t>
            </a:r>
            <a:endParaRPr/>
          </a:p>
          <a:p>
            <a:pPr indent="-148590" lvl="0" marL="228600" rtl="0" algn="l">
              <a:lnSpc>
                <a:spcPct val="90000"/>
              </a:lnSpc>
              <a:spcBef>
                <a:spcPts val="1000"/>
              </a:spcBef>
              <a:spcAft>
                <a:spcPts val="0"/>
              </a:spcAft>
              <a:buClr>
                <a:schemeClr val="dk1"/>
              </a:buClr>
              <a:buSzPct val="100000"/>
              <a:buChar char="•"/>
            </a:pPr>
            <a:r>
              <a:rPr lang="en-GB"/>
              <a:t>Dataset and Core Questions																	4</a:t>
            </a:r>
            <a:endParaRPr/>
          </a:p>
          <a:p>
            <a:pPr indent="-148590" lvl="0" marL="228600" rtl="0" algn="l">
              <a:lnSpc>
                <a:spcPct val="90000"/>
              </a:lnSpc>
              <a:spcBef>
                <a:spcPts val="1000"/>
              </a:spcBef>
              <a:spcAft>
                <a:spcPts val="0"/>
              </a:spcAft>
              <a:buClr>
                <a:schemeClr val="dk1"/>
              </a:buClr>
              <a:buSzPct val="100000"/>
              <a:buChar char="•"/>
            </a:pPr>
            <a:r>
              <a:rPr lang="en-GB"/>
              <a:t>Key Findings &amp; Conclusions																	5</a:t>
            </a:r>
            <a:endParaRPr/>
          </a:p>
          <a:p>
            <a:pPr indent="-168592" lvl="0" marL="228600" rtl="0" algn="l">
              <a:spcBef>
                <a:spcPts val="1000"/>
              </a:spcBef>
              <a:spcAft>
                <a:spcPts val="0"/>
              </a:spcAft>
              <a:buSzPct val="64285"/>
              <a:buChar char="•"/>
            </a:pPr>
            <a:r>
              <a:rPr lang="en-GB"/>
              <a:t>Distribution of Features																		6</a:t>
            </a:r>
            <a:endParaRPr/>
          </a:p>
          <a:p>
            <a:pPr indent="-148590" lvl="0" marL="228600" rtl="0" algn="l">
              <a:lnSpc>
                <a:spcPct val="90000"/>
              </a:lnSpc>
              <a:spcBef>
                <a:spcPts val="1000"/>
              </a:spcBef>
              <a:spcAft>
                <a:spcPts val="0"/>
              </a:spcAft>
              <a:buClr>
                <a:schemeClr val="dk1"/>
              </a:buClr>
              <a:buSzPct val="100000"/>
              <a:buChar char="•"/>
            </a:pPr>
            <a:r>
              <a:rPr lang="en-GB"/>
              <a:t>Score Distributions																			7</a:t>
            </a:r>
            <a:endParaRPr/>
          </a:p>
          <a:p>
            <a:pPr indent="-148590" lvl="0" marL="228600" rtl="0" algn="l">
              <a:lnSpc>
                <a:spcPct val="90000"/>
              </a:lnSpc>
              <a:spcBef>
                <a:spcPts val="1000"/>
              </a:spcBef>
              <a:spcAft>
                <a:spcPts val="0"/>
              </a:spcAft>
              <a:buClr>
                <a:schemeClr val="dk1"/>
              </a:buClr>
              <a:buSzPct val="100000"/>
              <a:buChar char="•"/>
            </a:pPr>
            <a:r>
              <a:rPr lang="en-GB"/>
              <a:t>Descriptive Statistics of the Features																8</a:t>
            </a:r>
            <a:endParaRPr/>
          </a:p>
          <a:p>
            <a:pPr indent="-118427" lvl="0" marL="228600" rtl="0" algn="l">
              <a:lnSpc>
                <a:spcPct val="90000"/>
              </a:lnSpc>
              <a:spcBef>
                <a:spcPts val="1000"/>
              </a:spcBef>
              <a:spcAft>
                <a:spcPts val="0"/>
              </a:spcAft>
              <a:buSzPct val="64285"/>
              <a:buChar char="•"/>
            </a:pPr>
            <a:r>
              <a:rPr lang="en-GB"/>
              <a:t>Classification of Scores (Maths, Writing and Reading)													9</a:t>
            </a:r>
            <a:endParaRPr/>
          </a:p>
          <a:p>
            <a:pPr indent="-118427" lvl="0" marL="228600" rtl="0" algn="l">
              <a:lnSpc>
                <a:spcPct val="90000"/>
              </a:lnSpc>
              <a:spcBef>
                <a:spcPts val="1000"/>
              </a:spcBef>
              <a:spcAft>
                <a:spcPts val="0"/>
              </a:spcAft>
              <a:buSzPct val="64285"/>
              <a:buChar char="•"/>
            </a:pPr>
            <a:r>
              <a:rPr lang="en-GB"/>
              <a:t>Correlation of s</a:t>
            </a:r>
            <a:r>
              <a:rPr lang="en-GB"/>
              <a:t>cores and features																10</a:t>
            </a:r>
            <a:endParaRPr/>
          </a:p>
          <a:p>
            <a:pPr indent="-118427" lvl="0" marL="228600" rtl="0" algn="l">
              <a:lnSpc>
                <a:spcPct val="90000"/>
              </a:lnSpc>
              <a:spcBef>
                <a:spcPts val="1000"/>
              </a:spcBef>
              <a:spcAft>
                <a:spcPts val="0"/>
              </a:spcAft>
              <a:buSzPct val="64285"/>
              <a:buChar char="•"/>
            </a:pPr>
            <a:r>
              <a:rPr lang="en-GB"/>
              <a:t>Prediction vs Actual Plot																		11</a:t>
            </a:r>
            <a:endParaRPr/>
          </a:p>
          <a:p>
            <a:pPr indent="-118427" lvl="0" marL="228600" rtl="0" algn="l">
              <a:lnSpc>
                <a:spcPct val="90000"/>
              </a:lnSpc>
              <a:spcBef>
                <a:spcPts val="1000"/>
              </a:spcBef>
              <a:spcAft>
                <a:spcPts val="0"/>
              </a:spcAft>
              <a:buSzPct val="64285"/>
              <a:buChar char="•"/>
            </a:pPr>
            <a:r>
              <a:rPr lang="en-GB"/>
              <a:t>Predictive Modelling - Review &amp; Analysis															12</a:t>
            </a:r>
            <a:endParaRPr/>
          </a:p>
          <a:p>
            <a:pPr indent="-118427" lvl="0" marL="228600" rtl="0" algn="l">
              <a:lnSpc>
                <a:spcPct val="90000"/>
              </a:lnSpc>
              <a:spcBef>
                <a:spcPts val="1000"/>
              </a:spcBef>
              <a:spcAft>
                <a:spcPts val="0"/>
              </a:spcAft>
              <a:buSzPct val="64285"/>
              <a:buChar char="•"/>
            </a:pPr>
            <a:r>
              <a:rPr lang="en-GB"/>
              <a:t>Illustration: Banded Math Scores																	13</a:t>
            </a:r>
            <a:endParaRPr/>
          </a:p>
          <a:p>
            <a:pPr indent="-118427" lvl="0" marL="228600" rtl="0" algn="l">
              <a:lnSpc>
                <a:spcPct val="90000"/>
              </a:lnSpc>
              <a:spcBef>
                <a:spcPts val="1000"/>
              </a:spcBef>
              <a:spcAft>
                <a:spcPts val="0"/>
              </a:spcAft>
              <a:buSzPct val="64285"/>
              <a:buChar char="•"/>
            </a:pPr>
            <a:r>
              <a:rPr lang="en-GB"/>
              <a:t>Predictive Model Results																		14</a:t>
            </a:r>
            <a:endParaRPr/>
          </a:p>
          <a:p>
            <a:pPr indent="-118427" lvl="0" marL="228600" rtl="0" algn="l">
              <a:lnSpc>
                <a:spcPct val="90000"/>
              </a:lnSpc>
              <a:spcBef>
                <a:spcPts val="1000"/>
              </a:spcBef>
              <a:spcAft>
                <a:spcPts val="0"/>
              </a:spcAft>
              <a:buSzPct val="64285"/>
              <a:buChar char="•"/>
            </a:pPr>
            <a:r>
              <a:rPr lang="en-GB"/>
              <a:t>Banded Scopes &amp; Demographics																	15</a:t>
            </a:r>
            <a:endParaRPr/>
          </a:p>
          <a:p>
            <a:pPr indent="-148590" lvl="0" marL="228600" rtl="0" algn="l">
              <a:lnSpc>
                <a:spcPct val="90000"/>
              </a:lnSpc>
              <a:spcBef>
                <a:spcPts val="1000"/>
              </a:spcBef>
              <a:spcAft>
                <a:spcPts val="0"/>
              </a:spcAft>
              <a:buClr>
                <a:schemeClr val="dk1"/>
              </a:buClr>
              <a:buSzPct val="100000"/>
              <a:buChar char="•"/>
            </a:pPr>
            <a:r>
              <a:rPr lang="en-GB"/>
              <a:t>Reading Score is the Single Best </a:t>
            </a:r>
            <a:r>
              <a:rPr lang="en-GB"/>
              <a:t>Predictor</a:t>
            </a:r>
            <a:r>
              <a:rPr lang="en-GB"/>
              <a:t> of Writing Score												16</a:t>
            </a:r>
            <a:endParaRPr/>
          </a:p>
          <a:p>
            <a:pPr indent="-148590" lvl="0" marL="228600" rtl="0" algn="l">
              <a:lnSpc>
                <a:spcPct val="90000"/>
              </a:lnSpc>
              <a:spcBef>
                <a:spcPts val="1000"/>
              </a:spcBef>
              <a:spcAft>
                <a:spcPts val="0"/>
              </a:spcAft>
              <a:buClr>
                <a:schemeClr val="dk1"/>
              </a:buClr>
              <a:buSzPct val="100000"/>
              <a:buChar char="•"/>
            </a:pPr>
            <a:r>
              <a:rPr lang="en-GB"/>
              <a:t>Conclusion and recommendation for next steps</a:t>
            </a:r>
            <a:r>
              <a:rPr lang="en-GB"/>
              <a:t> 														17</a:t>
            </a:r>
            <a:endParaRPr/>
          </a:p>
          <a:p>
            <a:pPr indent="-118427" lvl="0" marL="228600" rtl="0" algn="l">
              <a:lnSpc>
                <a:spcPct val="90000"/>
              </a:lnSpc>
              <a:spcBef>
                <a:spcPts val="1000"/>
              </a:spcBef>
              <a:spcAft>
                <a:spcPts val="0"/>
              </a:spcAft>
              <a:buSzPct val="64285"/>
              <a:buChar char="•"/>
            </a:pPr>
            <a:r>
              <a:rPr lang="en-GB"/>
              <a:t>Appendix 1: Initial planning phase 																18</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g3aaa7f7ca62_0_3"/>
          <p:cNvSpPr txBox="1"/>
          <p:nvPr>
            <p:ph type="title"/>
          </p:nvPr>
        </p:nvSpPr>
        <p:spPr>
          <a:xfrm>
            <a:off x="838200" y="122750"/>
            <a:ext cx="10515600" cy="1325700"/>
          </a:xfrm>
          <a:prstGeom prst="rect">
            <a:avLst/>
          </a:prstGeom>
        </p:spPr>
        <p:txBody>
          <a:bodyPr anchorCtr="0" anchor="ctr" bIns="45700" lIns="91425" spcFirstLastPara="1" rIns="91425" wrap="square" tIns="45700">
            <a:normAutofit/>
          </a:bodyPr>
          <a:lstStyle/>
          <a:p>
            <a:pPr indent="0" lvl="0" marL="0" rtl="0" algn="l">
              <a:spcBef>
                <a:spcPts val="0"/>
              </a:spcBef>
              <a:spcAft>
                <a:spcPts val="0"/>
              </a:spcAft>
              <a:buNone/>
            </a:pPr>
            <a:r>
              <a:rPr lang="en-GB"/>
              <a:t>Trello board:</a:t>
            </a:r>
            <a:endParaRPr/>
          </a:p>
        </p:txBody>
      </p:sp>
      <p:pic>
        <p:nvPicPr>
          <p:cNvPr id="97" name="Google Shape;97;g3aaa7f7ca62_0_3"/>
          <p:cNvPicPr preferRelativeResize="0"/>
          <p:nvPr/>
        </p:nvPicPr>
        <p:blipFill>
          <a:blip r:embed="rId3">
            <a:alphaModFix/>
          </a:blip>
          <a:stretch>
            <a:fillRect/>
          </a:stretch>
        </p:blipFill>
        <p:spPr>
          <a:xfrm>
            <a:off x="120563" y="2360200"/>
            <a:ext cx="11950874" cy="4440751"/>
          </a:xfrm>
          <a:prstGeom prst="rect">
            <a:avLst/>
          </a:prstGeom>
          <a:noFill/>
          <a:ln>
            <a:noFill/>
          </a:ln>
        </p:spPr>
      </p:pic>
      <p:sp>
        <p:nvSpPr>
          <p:cNvPr id="98" name="Google Shape;98;g3aaa7f7ca62_0_3"/>
          <p:cNvSpPr txBox="1"/>
          <p:nvPr/>
        </p:nvSpPr>
        <p:spPr>
          <a:xfrm>
            <a:off x="516125" y="1075050"/>
            <a:ext cx="11149500" cy="627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800">
                <a:solidFill>
                  <a:schemeClr val="dk1"/>
                </a:solidFill>
              </a:rPr>
              <a:t>T</a:t>
            </a:r>
            <a:r>
              <a:rPr lang="en-GB" sz="1800">
                <a:solidFill>
                  <a:schemeClr val="dk1"/>
                </a:solidFill>
              </a:rPr>
              <a:t>he team divided up and organised the tasks under the following categories: </a:t>
            </a:r>
            <a:endParaRPr sz="1800">
              <a:solidFill>
                <a:schemeClr val="dk1"/>
              </a:solidFill>
            </a:endParaRPr>
          </a:p>
          <a:p>
            <a:pPr indent="-330200" lvl="0" marL="457200" rtl="0" algn="l">
              <a:spcBef>
                <a:spcPts val="0"/>
              </a:spcBef>
              <a:spcAft>
                <a:spcPts val="0"/>
              </a:spcAft>
              <a:buClr>
                <a:schemeClr val="dk1"/>
              </a:buClr>
              <a:buSzPts val="1600"/>
              <a:buChar char="●"/>
            </a:pPr>
            <a:r>
              <a:rPr lang="en-GB" sz="1600">
                <a:solidFill>
                  <a:schemeClr val="dk1"/>
                </a:solidFill>
              </a:rPr>
              <a:t>Define task and motivation </a:t>
            </a:r>
            <a:endParaRPr sz="1600">
              <a:solidFill>
                <a:schemeClr val="dk1"/>
              </a:solidFill>
            </a:endParaRPr>
          </a:p>
          <a:p>
            <a:pPr indent="-330200" lvl="0" marL="457200" rtl="0" algn="l">
              <a:spcBef>
                <a:spcPts val="0"/>
              </a:spcBef>
              <a:spcAft>
                <a:spcPts val="0"/>
              </a:spcAft>
              <a:buClr>
                <a:schemeClr val="dk1"/>
              </a:buClr>
              <a:buSzPts val="1600"/>
              <a:buChar char="●"/>
            </a:pPr>
            <a:r>
              <a:rPr lang="en-GB" sz="1600">
                <a:solidFill>
                  <a:schemeClr val="dk1"/>
                </a:solidFill>
              </a:rPr>
              <a:t>Set up documents (Jupyter notebook, PowerPoint, GitHub and etc.)</a:t>
            </a:r>
            <a:endParaRPr sz="1600">
              <a:solidFill>
                <a:schemeClr val="dk1"/>
              </a:solidFill>
            </a:endParaRPr>
          </a:p>
          <a:p>
            <a:pPr indent="-330200" lvl="0" marL="457200" rtl="0" algn="l">
              <a:spcBef>
                <a:spcPts val="0"/>
              </a:spcBef>
              <a:spcAft>
                <a:spcPts val="0"/>
              </a:spcAft>
              <a:buClr>
                <a:schemeClr val="dk1"/>
              </a:buClr>
              <a:buSzPts val="1600"/>
              <a:buChar char="●"/>
            </a:pPr>
            <a:r>
              <a:rPr lang="en-GB" sz="1600">
                <a:solidFill>
                  <a:schemeClr val="dk1"/>
                </a:solidFill>
              </a:rPr>
              <a:t>Data review and cleaning</a:t>
            </a:r>
            <a:endParaRPr sz="1600">
              <a:solidFill>
                <a:schemeClr val="dk1"/>
              </a:solidFill>
            </a:endParaRPr>
          </a:p>
          <a:p>
            <a:pPr indent="0" lvl="0" marL="457200" rtl="0" algn="l">
              <a:spcBef>
                <a:spcPts val="0"/>
              </a:spcBef>
              <a:spcAft>
                <a:spcPts val="0"/>
              </a:spcAft>
              <a:buNone/>
            </a:pPr>
            <a:r>
              <a:t/>
            </a:r>
            <a:endParaRPr sz="1600">
              <a:solidFill>
                <a:schemeClr val="dk1"/>
              </a:solidFill>
            </a:endParaRPr>
          </a:p>
          <a:p>
            <a:pPr indent="0" lvl="0" marL="0" rtl="0" algn="l">
              <a:spcBef>
                <a:spcPts val="0"/>
              </a:spcBef>
              <a:spcAft>
                <a:spcPts val="0"/>
              </a:spcAft>
              <a:buNone/>
            </a:pPr>
            <a:r>
              <a:t/>
            </a:r>
            <a:endParaRPr sz="1800">
              <a:solidFill>
                <a:schemeClr val="dk1"/>
              </a:solidFill>
            </a:endParaRPr>
          </a:p>
        </p:txBody>
      </p:sp>
      <p:sp>
        <p:nvSpPr>
          <p:cNvPr id="99" name="Google Shape;99;g3aaa7f7ca62_0_3"/>
          <p:cNvSpPr txBox="1"/>
          <p:nvPr/>
        </p:nvSpPr>
        <p:spPr>
          <a:xfrm>
            <a:off x="7885900" y="1305825"/>
            <a:ext cx="4776600" cy="798300"/>
          </a:xfrm>
          <a:prstGeom prst="rect">
            <a:avLst/>
          </a:prstGeom>
          <a:noFill/>
          <a:ln>
            <a:noFill/>
          </a:ln>
        </p:spPr>
        <p:txBody>
          <a:bodyPr anchorCtr="0" anchor="t" bIns="91425" lIns="91425" spcFirstLastPara="1" rIns="91425" wrap="square" tIns="91425">
            <a:noAutofit/>
          </a:bodyPr>
          <a:lstStyle/>
          <a:p>
            <a:pPr indent="-330200" lvl="0" marL="457200" rtl="0" algn="l">
              <a:spcBef>
                <a:spcPts val="0"/>
              </a:spcBef>
              <a:spcAft>
                <a:spcPts val="0"/>
              </a:spcAft>
              <a:buClr>
                <a:schemeClr val="dk1"/>
              </a:buClr>
              <a:buSzPts val="1600"/>
              <a:buChar char="●"/>
            </a:pPr>
            <a:r>
              <a:rPr lang="en-GB" sz="1600">
                <a:solidFill>
                  <a:schemeClr val="dk1"/>
                </a:solidFill>
              </a:rPr>
              <a:t>EDA</a:t>
            </a:r>
            <a:endParaRPr sz="1600">
              <a:solidFill>
                <a:schemeClr val="dk1"/>
              </a:solidFill>
            </a:endParaRPr>
          </a:p>
          <a:p>
            <a:pPr indent="-330200" lvl="0" marL="457200" rtl="0" algn="l">
              <a:spcBef>
                <a:spcPts val="0"/>
              </a:spcBef>
              <a:spcAft>
                <a:spcPts val="0"/>
              </a:spcAft>
              <a:buClr>
                <a:schemeClr val="dk1"/>
              </a:buClr>
              <a:buSzPts val="1600"/>
              <a:buChar char="●"/>
            </a:pPr>
            <a:r>
              <a:rPr lang="en-GB" sz="1600">
                <a:solidFill>
                  <a:schemeClr val="dk1"/>
                </a:solidFill>
              </a:rPr>
              <a:t>Feature Engineering </a:t>
            </a:r>
            <a:endParaRPr sz="1600">
              <a:solidFill>
                <a:schemeClr val="dk1"/>
              </a:solidFill>
            </a:endParaRPr>
          </a:p>
          <a:p>
            <a:pPr indent="-330200" lvl="0" marL="457200" rtl="0" algn="l">
              <a:spcBef>
                <a:spcPts val="0"/>
              </a:spcBef>
              <a:spcAft>
                <a:spcPts val="0"/>
              </a:spcAft>
              <a:buClr>
                <a:schemeClr val="dk1"/>
              </a:buClr>
              <a:buSzPts val="1600"/>
              <a:buChar char="●"/>
            </a:pPr>
            <a:r>
              <a:rPr lang="en-GB" sz="1600">
                <a:solidFill>
                  <a:schemeClr val="dk1"/>
                </a:solidFill>
              </a:rPr>
              <a:t>Predictive modelling </a:t>
            </a:r>
            <a:endParaRPr sz="1600">
              <a:solidFill>
                <a:schemeClr val="dk1"/>
              </a:solidFill>
            </a:endParaRPr>
          </a:p>
          <a:p>
            <a:pPr indent="-330200" lvl="0" marL="457200" rtl="0" algn="l">
              <a:spcBef>
                <a:spcPts val="0"/>
              </a:spcBef>
              <a:spcAft>
                <a:spcPts val="0"/>
              </a:spcAft>
              <a:buClr>
                <a:schemeClr val="dk1"/>
              </a:buClr>
              <a:buSzPts val="1600"/>
              <a:buChar char="●"/>
            </a:pPr>
            <a:r>
              <a:rPr lang="en-GB" sz="1600">
                <a:solidFill>
                  <a:schemeClr val="dk1"/>
                </a:solidFill>
              </a:rPr>
              <a:t>Presentation  </a:t>
            </a:r>
            <a:endParaRPr sz="28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pic>
        <p:nvPicPr>
          <p:cNvPr id="104" name="Google Shape;104;p4"/>
          <p:cNvPicPr preferRelativeResize="0"/>
          <p:nvPr/>
        </p:nvPicPr>
        <p:blipFill>
          <a:blip r:embed="rId3">
            <a:alphaModFix/>
          </a:blip>
          <a:stretch>
            <a:fillRect/>
          </a:stretch>
        </p:blipFill>
        <p:spPr>
          <a:xfrm>
            <a:off x="9638800" y="335902"/>
            <a:ext cx="2466925" cy="2309700"/>
          </a:xfrm>
          <a:prstGeom prst="rect">
            <a:avLst/>
          </a:prstGeom>
          <a:noFill/>
          <a:ln>
            <a:noFill/>
          </a:ln>
        </p:spPr>
      </p:pic>
      <p:sp>
        <p:nvSpPr>
          <p:cNvPr id="105" name="Google Shape;105;p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GB"/>
              <a:t>Data set and core question:</a:t>
            </a:r>
            <a:endParaRPr/>
          </a:p>
        </p:txBody>
      </p:sp>
      <p:sp>
        <p:nvSpPr>
          <p:cNvPr id="106" name="Google Shape;106;p4"/>
          <p:cNvSpPr txBox="1"/>
          <p:nvPr/>
        </p:nvSpPr>
        <p:spPr>
          <a:xfrm>
            <a:off x="1128125" y="3286200"/>
            <a:ext cx="8714400" cy="2308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GB" sz="1800">
                <a:solidFill>
                  <a:schemeClr val="dk1"/>
                </a:solidFill>
              </a:rPr>
              <a:t>This dataset consists of 1,000 synthetic records capturing student exam performance in reading, writing and maths alongside key demographic attributes namely:</a:t>
            </a:r>
            <a:r>
              <a:rPr lang="en-GB" sz="1800">
                <a:solidFill>
                  <a:schemeClr val="dk1"/>
                </a:solidFill>
                <a:latin typeface="Arial"/>
                <a:ea typeface="Arial"/>
                <a:cs typeface="Arial"/>
                <a:sym typeface="Arial"/>
              </a:rPr>
              <a:t>:</a:t>
            </a:r>
            <a:endParaRPr/>
          </a:p>
          <a:p>
            <a:pPr indent="-285750" lvl="0" marL="285750" marR="0" rtl="0" algn="l">
              <a:spcBef>
                <a:spcPts val="0"/>
              </a:spcBef>
              <a:spcAft>
                <a:spcPts val="0"/>
              </a:spcAft>
              <a:buClr>
                <a:schemeClr val="dk1"/>
              </a:buClr>
              <a:buSzPts val="1800"/>
              <a:buFont typeface="Arial"/>
              <a:buChar char="•"/>
            </a:pPr>
            <a:r>
              <a:rPr lang="en-GB" sz="1800">
                <a:solidFill>
                  <a:schemeClr val="dk1"/>
                </a:solidFill>
                <a:latin typeface="Arial"/>
                <a:ea typeface="Arial"/>
                <a:cs typeface="Arial"/>
                <a:sym typeface="Arial"/>
              </a:rPr>
              <a:t>Gender </a:t>
            </a:r>
            <a:endParaRPr/>
          </a:p>
          <a:p>
            <a:pPr indent="-285750" lvl="0" marL="285750" marR="0" rtl="0" algn="l">
              <a:spcBef>
                <a:spcPts val="0"/>
              </a:spcBef>
              <a:spcAft>
                <a:spcPts val="0"/>
              </a:spcAft>
              <a:buClr>
                <a:schemeClr val="dk1"/>
              </a:buClr>
              <a:buSzPts val="1800"/>
              <a:buFont typeface="Arial"/>
              <a:buChar char="•"/>
            </a:pPr>
            <a:r>
              <a:rPr lang="en-GB" sz="1800">
                <a:solidFill>
                  <a:schemeClr val="dk1"/>
                </a:solidFill>
                <a:latin typeface="Arial"/>
                <a:ea typeface="Arial"/>
                <a:cs typeface="Arial"/>
                <a:sym typeface="Arial"/>
              </a:rPr>
              <a:t>Parental education </a:t>
            </a:r>
            <a:endParaRPr/>
          </a:p>
          <a:p>
            <a:pPr indent="-285750" lvl="0" marL="285750" marR="0" rtl="0" algn="l">
              <a:spcBef>
                <a:spcPts val="0"/>
              </a:spcBef>
              <a:spcAft>
                <a:spcPts val="0"/>
              </a:spcAft>
              <a:buClr>
                <a:schemeClr val="dk1"/>
              </a:buClr>
              <a:buSzPts val="1800"/>
              <a:buFont typeface="Arial"/>
              <a:buChar char="•"/>
            </a:pPr>
            <a:r>
              <a:rPr lang="en-GB" sz="1800">
                <a:solidFill>
                  <a:schemeClr val="dk1"/>
                </a:solidFill>
                <a:latin typeface="Arial"/>
                <a:ea typeface="Arial"/>
                <a:cs typeface="Arial"/>
                <a:sym typeface="Arial"/>
              </a:rPr>
              <a:t>Lunch type</a:t>
            </a:r>
            <a:endParaRPr/>
          </a:p>
          <a:p>
            <a:pPr indent="-285750" lvl="0" marL="285750" marR="0" rtl="0" algn="l">
              <a:spcBef>
                <a:spcPts val="0"/>
              </a:spcBef>
              <a:spcAft>
                <a:spcPts val="0"/>
              </a:spcAft>
              <a:buClr>
                <a:schemeClr val="dk1"/>
              </a:buClr>
              <a:buSzPts val="1800"/>
              <a:buFont typeface="Arial"/>
              <a:buChar char="•"/>
            </a:pPr>
            <a:r>
              <a:rPr lang="en-GB" sz="1800">
                <a:solidFill>
                  <a:schemeClr val="dk1"/>
                </a:solidFill>
                <a:latin typeface="Arial"/>
                <a:ea typeface="Arial"/>
                <a:cs typeface="Arial"/>
                <a:sym typeface="Arial"/>
              </a:rPr>
              <a:t>Test preparation </a:t>
            </a:r>
            <a:endParaRPr/>
          </a:p>
          <a:p>
            <a:pPr indent="-285750" lvl="0" marL="285750" marR="0" rtl="0" algn="l">
              <a:spcBef>
                <a:spcPts val="0"/>
              </a:spcBef>
              <a:spcAft>
                <a:spcPts val="0"/>
              </a:spcAft>
              <a:buClr>
                <a:schemeClr val="dk1"/>
              </a:buClr>
              <a:buSzPts val="1800"/>
              <a:buFont typeface="Arial"/>
              <a:buChar char="•"/>
            </a:pPr>
            <a:r>
              <a:rPr lang="en-GB" sz="1800">
                <a:solidFill>
                  <a:schemeClr val="dk1"/>
                </a:solidFill>
                <a:latin typeface="Arial"/>
                <a:ea typeface="Arial"/>
                <a:cs typeface="Arial"/>
                <a:sym typeface="Arial"/>
              </a:rPr>
              <a:t>Race/ethnicity</a:t>
            </a:r>
            <a:endParaRPr/>
          </a:p>
        </p:txBody>
      </p:sp>
      <p:sp>
        <p:nvSpPr>
          <p:cNvPr id="107" name="Google Shape;107;p4"/>
          <p:cNvSpPr txBox="1"/>
          <p:nvPr/>
        </p:nvSpPr>
        <p:spPr>
          <a:xfrm>
            <a:off x="941075" y="1321400"/>
            <a:ext cx="8534400" cy="338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GB" sz="1600">
                <a:solidFill>
                  <a:schemeClr val="dk1"/>
                </a:solidFill>
                <a:latin typeface="Arial"/>
                <a:ea typeface="Arial"/>
                <a:cs typeface="Arial"/>
                <a:sym typeface="Arial"/>
              </a:rPr>
              <a:t>Link :</a:t>
            </a:r>
            <a:r>
              <a:rPr lang="en-GB" sz="1600">
                <a:solidFill>
                  <a:schemeClr val="dk1"/>
                </a:solidFill>
              </a:rPr>
              <a:t> </a:t>
            </a:r>
            <a:r>
              <a:rPr lang="en-GB" sz="1600" u="sng">
                <a:solidFill>
                  <a:schemeClr val="hlink"/>
                </a:solidFill>
                <a:latin typeface="Arial"/>
                <a:ea typeface="Arial"/>
                <a:cs typeface="Arial"/>
                <a:sym typeface="Arial"/>
                <a:hlinkClick r:id="rId4"/>
              </a:rPr>
              <a:t>https://www.kaggle.com/datasets/alizabrand/school-performance-analysis</a:t>
            </a:r>
            <a:endParaRPr sz="1200" u="sng">
              <a:solidFill>
                <a:srgbClr val="0B57D0"/>
              </a:solidFill>
            </a:endParaRPr>
          </a:p>
        </p:txBody>
      </p:sp>
      <p:sp>
        <p:nvSpPr>
          <p:cNvPr id="108" name="Google Shape;108;p4"/>
          <p:cNvSpPr txBox="1"/>
          <p:nvPr/>
        </p:nvSpPr>
        <p:spPr>
          <a:xfrm>
            <a:off x="1053275" y="5590000"/>
            <a:ext cx="9171300" cy="708000"/>
          </a:xfrm>
          <a:prstGeom prst="rect">
            <a:avLst/>
          </a:prstGeom>
          <a:solidFill>
            <a:srgbClr val="C9DAF8"/>
          </a:solid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2000">
                <a:solidFill>
                  <a:schemeClr val="dk1"/>
                </a:solidFill>
              </a:rPr>
              <a:t>Core question:</a:t>
            </a:r>
            <a:r>
              <a:rPr lang="en-GB" sz="2000">
                <a:solidFill>
                  <a:schemeClr val="dk1"/>
                </a:solidFill>
                <a:latin typeface="Arial"/>
                <a:ea typeface="Arial"/>
                <a:cs typeface="Arial"/>
                <a:sym typeface="Arial"/>
              </a:rPr>
              <a:t> </a:t>
            </a:r>
            <a:r>
              <a:rPr b="0" i="0" lang="en-GB" sz="2000">
                <a:solidFill>
                  <a:schemeClr val="dk1"/>
                </a:solidFill>
                <a:latin typeface="Arial"/>
                <a:ea typeface="Arial"/>
                <a:cs typeface="Arial"/>
                <a:sym typeface="Arial"/>
              </a:rPr>
              <a:t>What is the best single predictor of a student's final educational performance across core subjects, including Maths, Reading, and English?</a:t>
            </a:r>
            <a:endParaRPr sz="2000">
              <a:solidFill>
                <a:schemeClr val="dk1"/>
              </a:solidFill>
              <a:latin typeface="Arial"/>
              <a:ea typeface="Arial"/>
              <a:cs typeface="Arial"/>
              <a:sym typeface="Arial"/>
            </a:endParaRPr>
          </a:p>
        </p:txBody>
      </p:sp>
      <p:sp>
        <p:nvSpPr>
          <p:cNvPr id="109" name="Google Shape;109;p4"/>
          <p:cNvSpPr txBox="1"/>
          <p:nvPr/>
        </p:nvSpPr>
        <p:spPr>
          <a:xfrm>
            <a:off x="941075" y="1690700"/>
            <a:ext cx="9395700" cy="1631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GB" sz="2000">
                <a:solidFill>
                  <a:schemeClr val="dk1"/>
                </a:solidFill>
              </a:rPr>
              <a:t>Main motivation for selecting </a:t>
            </a:r>
            <a:r>
              <a:rPr lang="en-GB" sz="2000">
                <a:solidFill>
                  <a:schemeClr val="dk1"/>
                </a:solidFill>
              </a:rPr>
              <a:t>this</a:t>
            </a:r>
            <a:r>
              <a:rPr lang="en-GB" sz="2000">
                <a:solidFill>
                  <a:schemeClr val="dk1"/>
                </a:solidFill>
              </a:rPr>
              <a:t> dataset</a:t>
            </a:r>
            <a:r>
              <a:rPr lang="en-GB" sz="2000">
                <a:solidFill>
                  <a:schemeClr val="dk1"/>
                </a:solidFill>
                <a:latin typeface="Arial"/>
                <a:ea typeface="Arial"/>
                <a:cs typeface="Arial"/>
                <a:sym typeface="Arial"/>
              </a:rPr>
              <a:t>: </a:t>
            </a:r>
            <a:endParaRPr sz="2000">
              <a:solidFill>
                <a:schemeClr val="dk1"/>
              </a:solidFill>
              <a:latin typeface="Arial"/>
              <a:ea typeface="Arial"/>
              <a:cs typeface="Arial"/>
              <a:sym typeface="Arial"/>
            </a:endParaRPr>
          </a:p>
          <a:p>
            <a:pPr indent="0" lvl="0" marL="0" marR="0" rtl="0" algn="l">
              <a:spcBef>
                <a:spcPts val="0"/>
              </a:spcBef>
              <a:spcAft>
                <a:spcPts val="0"/>
              </a:spcAft>
              <a:buNone/>
            </a:pPr>
            <a:r>
              <a:rPr lang="en-GB" sz="2000">
                <a:solidFill>
                  <a:schemeClr val="dk1"/>
                </a:solidFill>
              </a:rPr>
              <a:t>Education </a:t>
            </a:r>
            <a:r>
              <a:rPr lang="en-GB" sz="2000">
                <a:solidFill>
                  <a:schemeClr val="dk1"/>
                </a:solidFill>
              </a:rPr>
              <a:t>should</a:t>
            </a:r>
            <a:r>
              <a:rPr lang="en-GB" sz="2000">
                <a:solidFill>
                  <a:schemeClr val="dk1"/>
                </a:solidFill>
              </a:rPr>
              <a:t> be inclusive </a:t>
            </a:r>
            <a:r>
              <a:rPr lang="en-GB" sz="2000">
                <a:solidFill>
                  <a:schemeClr val="dk1"/>
                </a:solidFill>
              </a:rPr>
              <a:t>system</a:t>
            </a:r>
            <a:r>
              <a:rPr lang="en-GB" sz="2000">
                <a:solidFill>
                  <a:schemeClr val="dk1"/>
                </a:solidFill>
              </a:rPr>
              <a:t> permitting fair and equal opportunity to all demographics. This project will review which, if any, demographics can be used to predict exam results. The results can then be used to inform government </a:t>
            </a:r>
            <a:r>
              <a:rPr lang="en-GB" sz="2000">
                <a:solidFill>
                  <a:schemeClr val="dk1"/>
                </a:solidFill>
              </a:rPr>
              <a:t>educational strategies and funding.</a:t>
            </a:r>
            <a:endParaRPr sz="2000">
              <a:solidFill>
                <a:schemeClr val="dk1"/>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 name="Shape 113"/>
        <p:cNvGrpSpPr/>
        <p:nvPr/>
      </p:nvGrpSpPr>
      <p:grpSpPr>
        <a:xfrm>
          <a:off x="0" y="0"/>
          <a:ext cx="0" cy="0"/>
          <a:chOff x="0" y="0"/>
          <a:chExt cx="0" cy="0"/>
        </a:xfrm>
      </p:grpSpPr>
      <p:pic>
        <p:nvPicPr>
          <p:cNvPr id="114" name="Google Shape;114;g3aac0129f3a_0_1"/>
          <p:cNvPicPr preferRelativeResize="0"/>
          <p:nvPr/>
        </p:nvPicPr>
        <p:blipFill>
          <a:blip r:embed="rId3">
            <a:alphaModFix/>
          </a:blip>
          <a:stretch>
            <a:fillRect/>
          </a:stretch>
        </p:blipFill>
        <p:spPr>
          <a:xfrm>
            <a:off x="9638800" y="335902"/>
            <a:ext cx="2466925" cy="2309700"/>
          </a:xfrm>
          <a:prstGeom prst="rect">
            <a:avLst/>
          </a:prstGeom>
          <a:noFill/>
          <a:ln>
            <a:noFill/>
          </a:ln>
        </p:spPr>
      </p:pic>
      <p:sp>
        <p:nvSpPr>
          <p:cNvPr id="115" name="Google Shape;115;g3aac0129f3a_0_1"/>
          <p:cNvSpPr txBox="1"/>
          <p:nvPr>
            <p:ph type="title"/>
          </p:nvPr>
        </p:nvSpPr>
        <p:spPr>
          <a:xfrm>
            <a:off x="838200" y="365125"/>
            <a:ext cx="10515600" cy="13257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GB"/>
              <a:t>Key Findings &amp; Conclusions:</a:t>
            </a:r>
            <a:endParaRPr/>
          </a:p>
        </p:txBody>
      </p:sp>
      <p:sp>
        <p:nvSpPr>
          <p:cNvPr id="116" name="Google Shape;116;g3aac0129f3a_0_1"/>
          <p:cNvSpPr txBox="1"/>
          <p:nvPr/>
        </p:nvSpPr>
        <p:spPr>
          <a:xfrm>
            <a:off x="1128125" y="3286200"/>
            <a:ext cx="8714400" cy="36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GB" sz="1800">
                <a:solidFill>
                  <a:schemeClr val="dk1"/>
                </a:solidFill>
              </a:rPr>
              <a:t>T</a:t>
            </a:r>
            <a:endParaRPr/>
          </a:p>
        </p:txBody>
      </p:sp>
      <p:sp>
        <p:nvSpPr>
          <p:cNvPr id="117" name="Google Shape;117;g3aac0129f3a_0_1"/>
          <p:cNvSpPr txBox="1"/>
          <p:nvPr/>
        </p:nvSpPr>
        <p:spPr>
          <a:xfrm>
            <a:off x="941075" y="1690700"/>
            <a:ext cx="9395700" cy="2555100"/>
          </a:xfrm>
          <a:prstGeom prst="rect">
            <a:avLst/>
          </a:prstGeom>
          <a:noFill/>
          <a:ln>
            <a:noFill/>
          </a:ln>
        </p:spPr>
        <p:txBody>
          <a:bodyPr anchorCtr="0" anchor="t" bIns="45700" lIns="91425" spcFirstLastPara="1" rIns="91425" wrap="square" tIns="45700">
            <a:spAutoFit/>
          </a:bodyPr>
          <a:lstStyle/>
          <a:p>
            <a:pPr indent="-355600" lvl="0" marL="457200" marR="0" rtl="0" algn="l">
              <a:spcBef>
                <a:spcPts val="0"/>
              </a:spcBef>
              <a:spcAft>
                <a:spcPts val="0"/>
              </a:spcAft>
              <a:buClr>
                <a:schemeClr val="dk1"/>
              </a:buClr>
              <a:buSzPts val="2000"/>
              <a:buFont typeface="Arial"/>
              <a:buChar char="●"/>
            </a:pPr>
            <a:r>
              <a:rPr lang="en-GB" sz="2000">
                <a:solidFill>
                  <a:schemeClr val="dk1"/>
                </a:solidFill>
              </a:rPr>
              <a:t>Reading alone is the most powerful single indicator of academic prowess, which aligns with educational </a:t>
            </a:r>
            <a:r>
              <a:rPr lang="en-GB" sz="2000">
                <a:solidFill>
                  <a:schemeClr val="dk1"/>
                </a:solidFill>
              </a:rPr>
              <a:t>theory</a:t>
            </a:r>
            <a:r>
              <a:rPr lang="en-GB" sz="2000">
                <a:solidFill>
                  <a:schemeClr val="dk1"/>
                </a:solidFill>
              </a:rPr>
              <a:t> that competency in literacy supports broad academic achievements</a:t>
            </a:r>
            <a:endParaRPr sz="2000">
              <a:solidFill>
                <a:schemeClr val="dk1"/>
              </a:solidFill>
            </a:endParaRPr>
          </a:p>
          <a:p>
            <a:pPr indent="0" lvl="0" marL="457200" marR="0" rtl="0" algn="l">
              <a:spcBef>
                <a:spcPts val="0"/>
              </a:spcBef>
              <a:spcAft>
                <a:spcPts val="0"/>
              </a:spcAft>
              <a:buNone/>
            </a:pPr>
            <a:r>
              <a:t/>
            </a:r>
            <a:endParaRPr sz="2000">
              <a:solidFill>
                <a:schemeClr val="dk1"/>
              </a:solidFill>
            </a:endParaRPr>
          </a:p>
          <a:p>
            <a:pPr indent="-355600" lvl="0" marL="457200" marR="0" rtl="0" algn="l">
              <a:spcBef>
                <a:spcPts val="0"/>
              </a:spcBef>
              <a:spcAft>
                <a:spcPts val="0"/>
              </a:spcAft>
              <a:buClr>
                <a:schemeClr val="dk1"/>
              </a:buClr>
              <a:buSzPts val="2000"/>
              <a:buFont typeface="Arial"/>
              <a:buChar char="●"/>
            </a:pPr>
            <a:r>
              <a:rPr lang="en-GB" sz="2000">
                <a:solidFill>
                  <a:schemeClr val="dk1"/>
                </a:solidFill>
              </a:rPr>
              <a:t>Reading and maths are the strongest predictors of writing achievement</a:t>
            </a:r>
            <a:endParaRPr sz="2000">
              <a:solidFill>
                <a:schemeClr val="dk1"/>
              </a:solidFill>
            </a:endParaRPr>
          </a:p>
          <a:p>
            <a:pPr indent="0" lvl="0" marL="457200" marR="0" rtl="0" algn="l">
              <a:spcBef>
                <a:spcPts val="0"/>
              </a:spcBef>
              <a:spcAft>
                <a:spcPts val="0"/>
              </a:spcAft>
              <a:buNone/>
            </a:pPr>
            <a:r>
              <a:t/>
            </a:r>
            <a:endParaRPr sz="2000">
              <a:solidFill>
                <a:schemeClr val="dk1"/>
              </a:solidFill>
            </a:endParaRPr>
          </a:p>
          <a:p>
            <a:pPr indent="-355600" lvl="0" marL="457200" marR="0" rtl="0" algn="l">
              <a:spcBef>
                <a:spcPts val="0"/>
              </a:spcBef>
              <a:spcAft>
                <a:spcPts val="0"/>
              </a:spcAft>
              <a:buClr>
                <a:schemeClr val="dk1"/>
              </a:buClr>
              <a:buSzPts val="2000"/>
              <a:buChar char="●"/>
            </a:pPr>
            <a:r>
              <a:rPr lang="en-GB" sz="2000">
                <a:solidFill>
                  <a:schemeClr val="dk1"/>
                </a:solidFill>
              </a:rPr>
              <a:t>Demographics</a:t>
            </a:r>
            <a:r>
              <a:rPr lang="en-GB" sz="2000">
                <a:solidFill>
                  <a:schemeClr val="dk1"/>
                </a:solidFill>
              </a:rPr>
              <a:t> alone are </a:t>
            </a:r>
            <a:r>
              <a:rPr lang="en-GB" sz="2000">
                <a:solidFill>
                  <a:schemeClr val="dk1"/>
                </a:solidFill>
              </a:rPr>
              <a:t>insufficient</a:t>
            </a:r>
            <a:r>
              <a:rPr lang="en-GB" sz="2000">
                <a:solidFill>
                  <a:schemeClr val="dk1"/>
                </a:solidFill>
              </a:rPr>
              <a:t> to predict academic success but they may provide some </a:t>
            </a:r>
            <a:r>
              <a:rPr lang="en-GB" sz="2000">
                <a:solidFill>
                  <a:schemeClr val="dk1"/>
                </a:solidFill>
              </a:rPr>
              <a:t>contextual explanation for academic achievement</a:t>
            </a:r>
            <a:r>
              <a:rPr lang="en-GB" sz="2000">
                <a:solidFill>
                  <a:schemeClr val="dk1"/>
                </a:solidFill>
              </a:rPr>
              <a:t> </a:t>
            </a:r>
            <a:endParaRPr sz="2000">
              <a:solidFill>
                <a:schemeClr val="dk1"/>
              </a:solidFill>
            </a:endParaRPr>
          </a:p>
        </p:txBody>
      </p:sp>
      <p:sp>
        <p:nvSpPr>
          <p:cNvPr id="118" name="Google Shape;118;g3aac0129f3a_0_1">
            <a:hlinkClick r:id="rId4"/>
          </p:cNvPr>
          <p:cNvSpPr txBox="1"/>
          <p:nvPr/>
        </p:nvSpPr>
        <p:spPr>
          <a:xfrm>
            <a:off x="1014875" y="5699425"/>
            <a:ext cx="92481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2000" u="sng">
                <a:solidFill>
                  <a:srgbClr val="0000FF"/>
                </a:solidFill>
              </a:rPr>
              <a:t>https://github.com/M-3rlin/StudentPerformanceAnalysis</a:t>
            </a:r>
            <a:endParaRPr u="sng">
              <a:solidFill>
                <a:srgbClr val="0000FF"/>
              </a:solidFill>
            </a:endParaRPr>
          </a:p>
        </p:txBody>
      </p:sp>
      <p:sp>
        <p:nvSpPr>
          <p:cNvPr id="119" name="Google Shape;119;g3aac0129f3a_0_1"/>
          <p:cNvSpPr txBox="1"/>
          <p:nvPr>
            <p:ph type="title"/>
          </p:nvPr>
        </p:nvSpPr>
        <p:spPr>
          <a:xfrm>
            <a:off x="1014875" y="4373725"/>
            <a:ext cx="10515600" cy="13257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GB"/>
              <a:t>Github Link:</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5"/>
          <p:cNvSpPr txBox="1"/>
          <p:nvPr>
            <p:ph type="title"/>
          </p:nvPr>
        </p:nvSpPr>
        <p:spPr>
          <a:xfrm>
            <a:off x="627625" y="470600"/>
            <a:ext cx="10515600" cy="13257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GB"/>
              <a:t>Distribution of features: </a:t>
            </a:r>
            <a:endParaRPr/>
          </a:p>
        </p:txBody>
      </p:sp>
      <p:pic>
        <p:nvPicPr>
          <p:cNvPr descr="A graph of different sizes and shapes&#10;&#10;AI-generated content may be incorrect." id="125" name="Google Shape;125;p5"/>
          <p:cNvPicPr preferRelativeResize="0"/>
          <p:nvPr/>
        </p:nvPicPr>
        <p:blipFill rotWithShape="1">
          <a:blip r:embed="rId3">
            <a:alphaModFix/>
          </a:blip>
          <a:srcRect b="0" l="0" r="0" t="0"/>
          <a:stretch/>
        </p:blipFill>
        <p:spPr>
          <a:xfrm>
            <a:off x="384294" y="2621325"/>
            <a:ext cx="6675130" cy="4236674"/>
          </a:xfrm>
          <a:prstGeom prst="rect">
            <a:avLst/>
          </a:prstGeom>
          <a:noFill/>
          <a:ln>
            <a:noFill/>
          </a:ln>
        </p:spPr>
      </p:pic>
      <p:sp>
        <p:nvSpPr>
          <p:cNvPr id="126" name="Google Shape;126;p5"/>
          <p:cNvSpPr txBox="1"/>
          <p:nvPr/>
        </p:nvSpPr>
        <p:spPr>
          <a:xfrm>
            <a:off x="627625" y="1640225"/>
            <a:ext cx="6503100" cy="831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GB" sz="1600">
                <a:solidFill>
                  <a:schemeClr val="dk1"/>
                </a:solidFill>
                <a:latin typeface="Arial"/>
                <a:ea typeface="Arial"/>
                <a:cs typeface="Arial"/>
                <a:sym typeface="Arial"/>
              </a:rPr>
              <a:t>1000 student exam results for reading, writing and maths were sourced against gender, race/ ethnicity, parental level of education and lunch. </a:t>
            </a:r>
            <a:endParaRPr sz="1200"/>
          </a:p>
        </p:txBody>
      </p:sp>
      <p:graphicFrame>
        <p:nvGraphicFramePr>
          <p:cNvPr id="127" name="Google Shape;127;p5"/>
          <p:cNvGraphicFramePr/>
          <p:nvPr/>
        </p:nvGraphicFramePr>
        <p:xfrm>
          <a:off x="7130725" y="1640236"/>
          <a:ext cx="3000000" cy="3000000"/>
        </p:xfrm>
        <a:graphic>
          <a:graphicData uri="http://schemas.openxmlformats.org/drawingml/2006/table">
            <a:tbl>
              <a:tblPr bandRow="1" firstRow="1">
                <a:noFill/>
                <a:tableStyleId>{617BD42C-041C-47A8-ABBD-10D010B4723F}</a:tableStyleId>
              </a:tblPr>
              <a:tblGrid>
                <a:gridCol w="4676975"/>
              </a:tblGrid>
              <a:tr h="290725">
                <a:tc>
                  <a:txBody>
                    <a:bodyPr/>
                    <a:lstStyle/>
                    <a:p>
                      <a:pPr indent="0" lvl="0" marL="0" marR="0" rtl="0" algn="ctr">
                        <a:spcBef>
                          <a:spcPts val="0"/>
                        </a:spcBef>
                        <a:spcAft>
                          <a:spcPts val="0"/>
                        </a:spcAft>
                        <a:buNone/>
                      </a:pPr>
                      <a:r>
                        <a:rPr b="1" lang="en-GB" sz="1400"/>
                        <a:t>Gender</a:t>
                      </a:r>
                      <a:endParaRPr b="1"/>
                    </a:p>
                  </a:txBody>
                  <a:tcPr marT="45725" marB="45725" marR="91450" marL="91450">
                    <a:solidFill>
                      <a:srgbClr val="CFE2F3"/>
                    </a:solidFill>
                  </a:tcPr>
                </a:tc>
              </a:tr>
              <a:tr h="571975">
                <a:tc>
                  <a:txBody>
                    <a:bodyPr/>
                    <a:lstStyle/>
                    <a:p>
                      <a:pPr indent="0" lvl="0" marL="0" marR="0" rtl="0" algn="l">
                        <a:spcBef>
                          <a:spcPts val="0"/>
                        </a:spcBef>
                        <a:spcAft>
                          <a:spcPts val="0"/>
                        </a:spcAft>
                        <a:buNone/>
                      </a:pPr>
                      <a:r>
                        <a:rPr lang="en-GB" sz="1400"/>
                        <a:t>Female:51.8%</a:t>
                      </a:r>
                      <a:endParaRPr/>
                    </a:p>
                    <a:p>
                      <a:pPr indent="0" lvl="0" marL="0" marR="0" rtl="0" algn="l">
                        <a:spcBef>
                          <a:spcPts val="0"/>
                        </a:spcBef>
                        <a:spcAft>
                          <a:spcPts val="0"/>
                        </a:spcAft>
                        <a:buNone/>
                      </a:pPr>
                      <a:r>
                        <a:rPr lang="en-GB" sz="1400"/>
                        <a:t>Male: 48.2%</a:t>
                      </a:r>
                      <a:endParaRPr/>
                    </a:p>
                  </a:txBody>
                  <a:tcPr marT="45725" marB="45725" marR="91450" marL="91450"/>
                </a:tc>
              </a:tr>
              <a:tr h="326825">
                <a:tc>
                  <a:txBody>
                    <a:bodyPr/>
                    <a:lstStyle/>
                    <a:p>
                      <a:pPr indent="0" lvl="0" marL="0" marR="0" rtl="0" algn="ctr">
                        <a:spcBef>
                          <a:spcPts val="0"/>
                        </a:spcBef>
                        <a:spcAft>
                          <a:spcPts val="0"/>
                        </a:spcAft>
                        <a:buNone/>
                      </a:pPr>
                      <a:r>
                        <a:rPr b="1" lang="en-GB" sz="1400"/>
                        <a:t>Race/Ethnicity</a:t>
                      </a:r>
                      <a:endParaRPr b="1"/>
                    </a:p>
                  </a:txBody>
                  <a:tcPr marT="45725" marB="45725" marR="91450" marL="91450">
                    <a:solidFill>
                      <a:srgbClr val="CFE2F3"/>
                    </a:solidFill>
                  </a:tcPr>
                </a:tc>
              </a:tr>
              <a:tr h="571975">
                <a:tc>
                  <a:txBody>
                    <a:bodyPr/>
                    <a:lstStyle/>
                    <a:p>
                      <a:pPr indent="0" lvl="0" marL="0" marR="0" rtl="0" algn="l">
                        <a:spcBef>
                          <a:spcPts val="0"/>
                        </a:spcBef>
                        <a:spcAft>
                          <a:spcPts val="0"/>
                        </a:spcAft>
                        <a:buNone/>
                      </a:pPr>
                      <a:r>
                        <a:rPr lang="en-GB"/>
                        <a:t>Group</a:t>
                      </a:r>
                      <a:r>
                        <a:rPr lang="en-GB"/>
                        <a:t> A: 9%, Group B: 19%, G</a:t>
                      </a:r>
                      <a:r>
                        <a:rPr lang="en-GB" sz="1400"/>
                        <a:t>roup C: 32%; </a:t>
                      </a:r>
                      <a:endParaRPr sz="1400"/>
                    </a:p>
                    <a:p>
                      <a:pPr indent="0" lvl="0" marL="0" marR="0" rtl="0" algn="l">
                        <a:spcBef>
                          <a:spcPts val="0"/>
                        </a:spcBef>
                        <a:spcAft>
                          <a:spcPts val="0"/>
                        </a:spcAft>
                        <a:buNone/>
                      </a:pPr>
                      <a:r>
                        <a:rPr lang="en-GB"/>
                        <a:t>G</a:t>
                      </a:r>
                      <a:r>
                        <a:rPr lang="en-GB" sz="1400"/>
                        <a:t>roup D: 26% </a:t>
                      </a:r>
                      <a:r>
                        <a:rPr lang="en-GB"/>
                        <a:t>G</a:t>
                      </a:r>
                      <a:r>
                        <a:rPr lang="en-GB" sz="1400"/>
                        <a:t>roup E 14% </a:t>
                      </a:r>
                      <a:endParaRPr/>
                    </a:p>
                  </a:txBody>
                  <a:tcPr marT="45725" marB="45725" marR="91450" marL="91450"/>
                </a:tc>
              </a:tr>
              <a:tr h="326825">
                <a:tc>
                  <a:txBody>
                    <a:bodyPr/>
                    <a:lstStyle/>
                    <a:p>
                      <a:pPr indent="0" lvl="0" marL="0" marR="0" rtl="0" algn="ctr">
                        <a:spcBef>
                          <a:spcPts val="0"/>
                        </a:spcBef>
                        <a:spcAft>
                          <a:spcPts val="0"/>
                        </a:spcAft>
                        <a:buNone/>
                      </a:pPr>
                      <a:r>
                        <a:rPr b="1" lang="en-GB" sz="1400"/>
                        <a:t>Parental level of education</a:t>
                      </a:r>
                      <a:endParaRPr b="1"/>
                    </a:p>
                  </a:txBody>
                  <a:tcPr marT="45725" marB="45725" marR="91450" marL="91450">
                    <a:solidFill>
                      <a:srgbClr val="CFE2F3"/>
                    </a:solidFill>
                  </a:tcPr>
                </a:tc>
              </a:tr>
              <a:tr h="1308300">
                <a:tc>
                  <a:txBody>
                    <a:bodyPr/>
                    <a:lstStyle/>
                    <a:p>
                      <a:pPr indent="0" lvl="0" marL="0" rtl="0" algn="l">
                        <a:spcBef>
                          <a:spcPts val="0"/>
                        </a:spcBef>
                        <a:spcAft>
                          <a:spcPts val="0"/>
                        </a:spcAft>
                        <a:buClr>
                          <a:schemeClr val="dk1"/>
                        </a:buClr>
                        <a:buFont typeface="Arial"/>
                        <a:buNone/>
                      </a:pPr>
                      <a:r>
                        <a:rPr lang="en-GB"/>
                        <a:t>some high school 18% </a:t>
                      </a:r>
                      <a:endParaRPr/>
                    </a:p>
                    <a:p>
                      <a:pPr indent="0" lvl="0" marL="0" marR="0" rtl="0" algn="l">
                        <a:spcBef>
                          <a:spcPts val="0"/>
                        </a:spcBef>
                        <a:spcAft>
                          <a:spcPts val="0"/>
                        </a:spcAft>
                        <a:buNone/>
                      </a:pPr>
                      <a:r>
                        <a:rPr lang="en-GB" sz="1400"/>
                        <a:t>some college 2</a:t>
                      </a:r>
                      <a:r>
                        <a:rPr lang="en-GB"/>
                        <a:t>3</a:t>
                      </a:r>
                      <a:r>
                        <a:rPr lang="en-GB" sz="1400"/>
                        <a:t>%</a:t>
                      </a:r>
                      <a:endParaRPr/>
                    </a:p>
                    <a:p>
                      <a:pPr indent="0" lvl="0" marL="0" marR="0" rtl="0" algn="l">
                        <a:spcBef>
                          <a:spcPts val="0"/>
                        </a:spcBef>
                        <a:spcAft>
                          <a:spcPts val="0"/>
                        </a:spcAft>
                        <a:buNone/>
                      </a:pPr>
                      <a:r>
                        <a:rPr lang="en-GB" sz="1400"/>
                        <a:t>associate's degree 22% </a:t>
                      </a:r>
                      <a:endParaRPr/>
                    </a:p>
                    <a:p>
                      <a:pPr indent="0" lvl="0" marL="0" marR="0" rtl="0" algn="l">
                        <a:spcBef>
                          <a:spcPts val="0"/>
                        </a:spcBef>
                        <a:spcAft>
                          <a:spcPts val="0"/>
                        </a:spcAft>
                        <a:buNone/>
                      </a:pPr>
                      <a:r>
                        <a:rPr lang="en-GB" sz="1400"/>
                        <a:t>high school </a:t>
                      </a:r>
                      <a:r>
                        <a:rPr lang="en-GB"/>
                        <a:t>20</a:t>
                      </a:r>
                      <a:r>
                        <a:rPr lang="en-GB" sz="1400"/>
                        <a:t>% </a:t>
                      </a:r>
                      <a:endParaRPr/>
                    </a:p>
                    <a:p>
                      <a:pPr indent="0" lvl="0" marL="0" marR="0" rtl="0" algn="l">
                        <a:spcBef>
                          <a:spcPts val="0"/>
                        </a:spcBef>
                        <a:spcAft>
                          <a:spcPts val="0"/>
                        </a:spcAft>
                        <a:buNone/>
                      </a:pPr>
                      <a:r>
                        <a:rPr lang="en-GB" sz="1400"/>
                        <a:t>some high school 18% </a:t>
                      </a:r>
                      <a:endParaRPr sz="1400"/>
                    </a:p>
                    <a:p>
                      <a:pPr indent="0" lvl="0" marL="0" marR="0" rtl="0" algn="l">
                        <a:spcBef>
                          <a:spcPts val="0"/>
                        </a:spcBef>
                        <a:spcAft>
                          <a:spcPts val="0"/>
                        </a:spcAft>
                        <a:buNone/>
                      </a:pPr>
                      <a:r>
                        <a:rPr lang="en-GB" sz="1400"/>
                        <a:t>bachelor's degree 1</a:t>
                      </a:r>
                      <a:r>
                        <a:rPr lang="en-GB"/>
                        <a:t>3</a:t>
                      </a:r>
                      <a:r>
                        <a:rPr lang="en-GB" sz="1400"/>
                        <a:t>%</a:t>
                      </a:r>
                      <a:endParaRPr sz="1400"/>
                    </a:p>
                    <a:p>
                      <a:pPr indent="0" lvl="0" marL="0" marR="0" rtl="0" algn="l">
                        <a:spcBef>
                          <a:spcPts val="0"/>
                        </a:spcBef>
                        <a:spcAft>
                          <a:spcPts val="0"/>
                        </a:spcAft>
                        <a:buNone/>
                      </a:pPr>
                      <a:r>
                        <a:rPr lang="en-GB" sz="1400"/>
                        <a:t> master's degree 69%</a:t>
                      </a:r>
                      <a:endParaRPr/>
                    </a:p>
                  </a:txBody>
                  <a:tcPr marT="45725" marB="45725" marR="91450" marL="91450"/>
                </a:tc>
              </a:tr>
              <a:tr h="326825">
                <a:tc>
                  <a:txBody>
                    <a:bodyPr/>
                    <a:lstStyle/>
                    <a:p>
                      <a:pPr indent="0" lvl="0" marL="0" marR="0" rtl="0" algn="ctr">
                        <a:spcBef>
                          <a:spcPts val="0"/>
                        </a:spcBef>
                        <a:spcAft>
                          <a:spcPts val="0"/>
                        </a:spcAft>
                        <a:buNone/>
                      </a:pPr>
                      <a:r>
                        <a:rPr b="1" lang="en-GB" sz="1400"/>
                        <a:t>Lunch</a:t>
                      </a:r>
                      <a:endParaRPr b="1"/>
                    </a:p>
                  </a:txBody>
                  <a:tcPr marT="45725" marB="45725" marR="91450" marL="91450">
                    <a:solidFill>
                      <a:srgbClr val="CFE2F3"/>
                    </a:solidFill>
                  </a:tcPr>
                </a:tc>
              </a:tr>
              <a:tr h="494225">
                <a:tc>
                  <a:txBody>
                    <a:bodyPr/>
                    <a:lstStyle/>
                    <a:p>
                      <a:pPr indent="0" lvl="0" marL="0" marR="0" rtl="0" algn="l">
                        <a:spcBef>
                          <a:spcPts val="0"/>
                        </a:spcBef>
                        <a:spcAft>
                          <a:spcPts val="0"/>
                        </a:spcAft>
                        <a:buNone/>
                      </a:pPr>
                      <a:r>
                        <a:rPr lang="en-GB"/>
                        <a:t>S</a:t>
                      </a:r>
                      <a:r>
                        <a:rPr lang="en-GB" sz="1400"/>
                        <a:t>tandard 6</a:t>
                      </a:r>
                      <a:r>
                        <a:rPr lang="en-GB"/>
                        <a:t>5</a:t>
                      </a:r>
                      <a:r>
                        <a:rPr lang="en-GB" sz="1400"/>
                        <a:t> %</a:t>
                      </a:r>
                      <a:endParaRPr/>
                    </a:p>
                    <a:p>
                      <a:pPr indent="0" lvl="0" marL="0" marR="0" rtl="0" algn="l">
                        <a:spcBef>
                          <a:spcPts val="0"/>
                        </a:spcBef>
                        <a:spcAft>
                          <a:spcPts val="0"/>
                        </a:spcAft>
                        <a:buNone/>
                      </a:pPr>
                      <a:r>
                        <a:rPr lang="en-GB"/>
                        <a:t>F</a:t>
                      </a:r>
                      <a:r>
                        <a:rPr lang="en-GB" sz="1400"/>
                        <a:t>ree/reduced 3</a:t>
                      </a:r>
                      <a:r>
                        <a:rPr lang="en-GB"/>
                        <a:t>6</a:t>
                      </a:r>
                      <a:r>
                        <a:rPr lang="en-GB" sz="1400"/>
                        <a:t>%</a:t>
                      </a:r>
                      <a:endParaRPr/>
                    </a:p>
                  </a:txBody>
                  <a:tcPr marT="45725" marB="45725" marR="91450" marL="91450"/>
                </a:tc>
              </a:tr>
              <a:tr h="326825">
                <a:tc>
                  <a:txBody>
                    <a:bodyPr/>
                    <a:lstStyle/>
                    <a:p>
                      <a:pPr indent="0" lvl="0" marL="0" marR="0" rtl="0" algn="ctr">
                        <a:spcBef>
                          <a:spcPts val="0"/>
                        </a:spcBef>
                        <a:spcAft>
                          <a:spcPts val="0"/>
                        </a:spcAft>
                        <a:buNone/>
                      </a:pPr>
                      <a:r>
                        <a:rPr b="1" lang="en-GB" sz="1400"/>
                        <a:t>Test preparation course</a:t>
                      </a:r>
                      <a:endParaRPr b="1"/>
                    </a:p>
                  </a:txBody>
                  <a:tcPr marT="45725" marB="45725" marR="91450" marL="91450">
                    <a:solidFill>
                      <a:srgbClr val="CFE2F3"/>
                    </a:solidFill>
                  </a:tcPr>
                </a:tc>
              </a:tr>
              <a:tr h="571975">
                <a:tc>
                  <a:txBody>
                    <a:bodyPr/>
                    <a:lstStyle/>
                    <a:p>
                      <a:pPr indent="0" lvl="0" marL="0" marR="0" rtl="0" algn="l">
                        <a:spcBef>
                          <a:spcPts val="0"/>
                        </a:spcBef>
                        <a:spcAft>
                          <a:spcPts val="0"/>
                        </a:spcAft>
                        <a:buNone/>
                      </a:pPr>
                      <a:r>
                        <a:rPr lang="en-GB"/>
                        <a:t>N</a:t>
                      </a:r>
                      <a:r>
                        <a:rPr lang="en-GB" sz="1400"/>
                        <a:t>one 64%</a:t>
                      </a:r>
                      <a:endParaRPr/>
                    </a:p>
                    <a:p>
                      <a:pPr indent="0" lvl="0" marL="0" marR="0" rtl="0" algn="l">
                        <a:spcBef>
                          <a:spcPts val="0"/>
                        </a:spcBef>
                        <a:spcAft>
                          <a:spcPts val="0"/>
                        </a:spcAft>
                        <a:buNone/>
                      </a:pPr>
                      <a:r>
                        <a:rPr lang="en-GB"/>
                        <a:t>C</a:t>
                      </a:r>
                      <a:r>
                        <a:rPr lang="en-GB" sz="1400"/>
                        <a:t>ompleted 3</a:t>
                      </a:r>
                      <a:r>
                        <a:rPr lang="en-GB"/>
                        <a:t>6</a:t>
                      </a:r>
                      <a:r>
                        <a:rPr lang="en-GB" sz="1400"/>
                        <a:t>%</a:t>
                      </a:r>
                      <a:endParaRPr/>
                    </a:p>
                  </a:txBody>
                  <a:tcPr marT="45725" marB="45725" marR="91450" marL="91450"/>
                </a:tc>
              </a:tr>
            </a:tbl>
          </a:graphicData>
        </a:graphic>
      </p:graphicFrame>
      <p:pic>
        <p:nvPicPr>
          <p:cNvPr id="128" name="Google Shape;128;p5"/>
          <p:cNvPicPr preferRelativeResize="0"/>
          <p:nvPr/>
        </p:nvPicPr>
        <p:blipFill>
          <a:blip r:embed="rId4">
            <a:alphaModFix/>
          </a:blip>
          <a:stretch>
            <a:fillRect/>
          </a:stretch>
        </p:blipFill>
        <p:spPr>
          <a:xfrm>
            <a:off x="8579400" y="2068175"/>
            <a:ext cx="403050" cy="403050"/>
          </a:xfrm>
          <a:prstGeom prst="rect">
            <a:avLst/>
          </a:prstGeom>
          <a:noFill/>
          <a:ln>
            <a:noFill/>
          </a:ln>
        </p:spPr>
      </p:pic>
      <p:pic>
        <p:nvPicPr>
          <p:cNvPr id="129" name="Google Shape;129;p5"/>
          <p:cNvPicPr preferRelativeResize="0"/>
          <p:nvPr/>
        </p:nvPicPr>
        <p:blipFill>
          <a:blip r:embed="rId5">
            <a:alphaModFix/>
          </a:blip>
          <a:stretch>
            <a:fillRect/>
          </a:stretch>
        </p:blipFill>
        <p:spPr>
          <a:xfrm>
            <a:off x="9267688" y="2068175"/>
            <a:ext cx="403050" cy="403050"/>
          </a:xfrm>
          <a:prstGeom prst="rect">
            <a:avLst/>
          </a:prstGeom>
          <a:noFill/>
          <a:ln>
            <a:noFill/>
          </a:ln>
        </p:spPr>
      </p:pic>
      <p:sp>
        <p:nvSpPr>
          <p:cNvPr id="130" name="Google Shape;130;p5"/>
          <p:cNvSpPr txBox="1"/>
          <p:nvPr/>
        </p:nvSpPr>
        <p:spPr>
          <a:xfrm>
            <a:off x="10704850" y="2068250"/>
            <a:ext cx="983100" cy="403200"/>
          </a:xfrm>
          <a:prstGeom prst="rect">
            <a:avLst/>
          </a:prstGeom>
          <a:solidFill>
            <a:schemeClr val="accent6"/>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200">
                <a:solidFill>
                  <a:schemeClr val="dk1"/>
                </a:solidFill>
              </a:rPr>
              <a:t>Balanced</a:t>
            </a:r>
            <a:endParaRPr sz="1200">
              <a:solidFill>
                <a:schemeClr val="dk1"/>
              </a:solidFill>
            </a:endParaRPr>
          </a:p>
        </p:txBody>
      </p:sp>
      <p:sp>
        <p:nvSpPr>
          <p:cNvPr id="131" name="Google Shape;131;p5"/>
          <p:cNvSpPr txBox="1"/>
          <p:nvPr/>
        </p:nvSpPr>
        <p:spPr>
          <a:xfrm>
            <a:off x="10656950" y="2915750"/>
            <a:ext cx="1103100" cy="403200"/>
          </a:xfrm>
          <a:prstGeom prst="rect">
            <a:avLst/>
          </a:prstGeom>
          <a:solidFill>
            <a:schemeClr val="accent2"/>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200">
                <a:solidFill>
                  <a:schemeClr val="dk1"/>
                </a:solidFill>
              </a:rPr>
              <a:t>Skewed</a:t>
            </a:r>
            <a:endParaRPr sz="1200">
              <a:solidFill>
                <a:schemeClr val="dk1"/>
              </a:solidFill>
            </a:endParaRPr>
          </a:p>
        </p:txBody>
      </p:sp>
      <p:sp>
        <p:nvSpPr>
          <p:cNvPr id="132" name="Google Shape;132;p5"/>
          <p:cNvSpPr txBox="1"/>
          <p:nvPr/>
        </p:nvSpPr>
        <p:spPr>
          <a:xfrm>
            <a:off x="10704600" y="4186575"/>
            <a:ext cx="1103100" cy="403200"/>
          </a:xfrm>
          <a:prstGeom prst="rect">
            <a:avLst/>
          </a:prstGeom>
          <a:solidFill>
            <a:schemeClr val="accent2"/>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200">
                <a:solidFill>
                  <a:schemeClr val="dk1"/>
                </a:solidFill>
              </a:rPr>
              <a:t>Skewed </a:t>
            </a:r>
            <a:endParaRPr sz="1200">
              <a:solidFill>
                <a:schemeClr val="dk1"/>
              </a:solidFill>
            </a:endParaRPr>
          </a:p>
        </p:txBody>
      </p:sp>
      <p:sp>
        <p:nvSpPr>
          <p:cNvPr id="133" name="Google Shape;133;p5"/>
          <p:cNvSpPr txBox="1"/>
          <p:nvPr/>
        </p:nvSpPr>
        <p:spPr>
          <a:xfrm>
            <a:off x="10644850" y="6499375"/>
            <a:ext cx="1103100" cy="403200"/>
          </a:xfrm>
          <a:prstGeom prst="rect">
            <a:avLst/>
          </a:prstGeom>
          <a:solidFill>
            <a:schemeClr val="accent2"/>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200">
                <a:solidFill>
                  <a:schemeClr val="dk1"/>
                </a:solidFill>
              </a:rPr>
              <a:t>Skewed </a:t>
            </a:r>
            <a:endParaRPr sz="1200">
              <a:solidFill>
                <a:schemeClr val="dk1"/>
              </a:solidFill>
            </a:endParaRPr>
          </a:p>
        </p:txBody>
      </p:sp>
      <p:sp>
        <p:nvSpPr>
          <p:cNvPr id="134" name="Google Shape;134;p5"/>
          <p:cNvSpPr txBox="1"/>
          <p:nvPr/>
        </p:nvSpPr>
        <p:spPr>
          <a:xfrm>
            <a:off x="10704600" y="5654400"/>
            <a:ext cx="1103100" cy="403200"/>
          </a:xfrm>
          <a:prstGeom prst="rect">
            <a:avLst/>
          </a:prstGeom>
          <a:solidFill>
            <a:schemeClr val="accent2"/>
          </a:solid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200">
                <a:solidFill>
                  <a:schemeClr val="dk1"/>
                </a:solidFill>
              </a:rPr>
              <a:t>Skewed </a:t>
            </a:r>
            <a:endParaRPr sz="1200">
              <a:solidFill>
                <a:schemeClr val="dk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GB"/>
              <a:t>Score distributions are fairly symmetric and </a:t>
            </a:r>
            <a:r>
              <a:rPr lang="en-GB"/>
              <a:t>similar</a:t>
            </a:r>
            <a:r>
              <a:rPr lang="en-GB"/>
              <a:t> across all 3 subjects:</a:t>
            </a:r>
            <a:endParaRPr/>
          </a:p>
        </p:txBody>
      </p:sp>
      <p:graphicFrame>
        <p:nvGraphicFramePr>
          <p:cNvPr id="140" name="Google Shape;140;p8"/>
          <p:cNvGraphicFramePr/>
          <p:nvPr/>
        </p:nvGraphicFramePr>
        <p:xfrm>
          <a:off x="952500" y="1690700"/>
          <a:ext cx="3000000" cy="3000000"/>
        </p:xfrm>
        <a:graphic>
          <a:graphicData uri="http://schemas.openxmlformats.org/drawingml/2006/table">
            <a:tbl>
              <a:tblPr>
                <a:noFill/>
                <a:tableStyleId>{48205E3B-803B-47F0-A93E-CFBADB7F0A1F}</a:tableStyleId>
              </a:tblPr>
              <a:tblGrid>
                <a:gridCol w="2571750"/>
                <a:gridCol w="2571750"/>
                <a:gridCol w="2571750"/>
                <a:gridCol w="2571750"/>
              </a:tblGrid>
              <a:tr h="381000">
                <a:tc>
                  <a:txBody>
                    <a:bodyPr/>
                    <a:lstStyle/>
                    <a:p>
                      <a:pPr indent="0" lvl="0" marL="0" rtl="0" algn="l">
                        <a:spcBef>
                          <a:spcPts val="0"/>
                        </a:spcBef>
                        <a:spcAft>
                          <a:spcPts val="0"/>
                        </a:spcAft>
                        <a:buNone/>
                      </a:pPr>
                      <a:r>
                        <a:t/>
                      </a:r>
                      <a:endParaRPr/>
                    </a:p>
                  </a:txBody>
                  <a:tcPr marT="91425" marB="91425" marR="91425" marL="91425">
                    <a:solidFill>
                      <a:srgbClr val="CFE2F3"/>
                    </a:solidFill>
                  </a:tcPr>
                </a:tc>
                <a:tc>
                  <a:txBody>
                    <a:bodyPr/>
                    <a:lstStyle/>
                    <a:p>
                      <a:pPr indent="0" lvl="0" marL="0" rtl="0" algn="ctr">
                        <a:spcBef>
                          <a:spcPts val="0"/>
                        </a:spcBef>
                        <a:spcAft>
                          <a:spcPts val="0"/>
                        </a:spcAft>
                        <a:buNone/>
                      </a:pPr>
                      <a:r>
                        <a:rPr b="1" lang="en-GB"/>
                        <a:t>Math Score </a:t>
                      </a:r>
                      <a:endParaRPr b="1"/>
                    </a:p>
                  </a:txBody>
                  <a:tcPr marT="91425" marB="91425" marR="91425" marL="91425">
                    <a:solidFill>
                      <a:srgbClr val="CFE2F3"/>
                    </a:solidFill>
                  </a:tcPr>
                </a:tc>
                <a:tc>
                  <a:txBody>
                    <a:bodyPr/>
                    <a:lstStyle/>
                    <a:p>
                      <a:pPr indent="0" lvl="0" marL="0" rtl="0" algn="ctr">
                        <a:spcBef>
                          <a:spcPts val="0"/>
                        </a:spcBef>
                        <a:spcAft>
                          <a:spcPts val="0"/>
                        </a:spcAft>
                        <a:buNone/>
                      </a:pPr>
                      <a:r>
                        <a:rPr b="1" lang="en-GB"/>
                        <a:t>Reading Score</a:t>
                      </a:r>
                      <a:endParaRPr b="1"/>
                    </a:p>
                  </a:txBody>
                  <a:tcPr marT="91425" marB="91425" marR="91425" marL="91425">
                    <a:solidFill>
                      <a:srgbClr val="CFE2F3"/>
                    </a:solidFill>
                  </a:tcPr>
                </a:tc>
                <a:tc>
                  <a:txBody>
                    <a:bodyPr/>
                    <a:lstStyle/>
                    <a:p>
                      <a:pPr indent="0" lvl="0" marL="0" rtl="0" algn="ctr">
                        <a:spcBef>
                          <a:spcPts val="0"/>
                        </a:spcBef>
                        <a:spcAft>
                          <a:spcPts val="0"/>
                        </a:spcAft>
                        <a:buNone/>
                      </a:pPr>
                      <a:r>
                        <a:rPr b="1" lang="en-GB"/>
                        <a:t>Writing Score </a:t>
                      </a:r>
                      <a:endParaRPr b="1"/>
                    </a:p>
                  </a:txBody>
                  <a:tcPr marT="91425" marB="91425" marR="91425" marL="91425">
                    <a:solidFill>
                      <a:srgbClr val="CFE2F3"/>
                    </a:solidFill>
                  </a:tcPr>
                </a:tc>
              </a:tr>
              <a:tr h="381000">
                <a:tc>
                  <a:txBody>
                    <a:bodyPr/>
                    <a:lstStyle/>
                    <a:p>
                      <a:pPr indent="0" lvl="0" marL="0" rtl="0" algn="l">
                        <a:spcBef>
                          <a:spcPts val="0"/>
                        </a:spcBef>
                        <a:spcAft>
                          <a:spcPts val="0"/>
                        </a:spcAft>
                        <a:buNone/>
                      </a:pPr>
                      <a:r>
                        <a:rPr b="1" lang="en-GB"/>
                        <a:t>Mean</a:t>
                      </a:r>
                      <a:endParaRPr b="1"/>
                    </a:p>
                  </a:txBody>
                  <a:tcPr marT="91425" marB="91425" marR="91425" marL="91425">
                    <a:solidFill>
                      <a:srgbClr val="CFE2F3"/>
                    </a:solidFill>
                  </a:tcPr>
                </a:tc>
                <a:tc>
                  <a:txBody>
                    <a:bodyPr/>
                    <a:lstStyle/>
                    <a:p>
                      <a:pPr indent="0" lvl="0" marL="0" rtl="0" algn="ctr">
                        <a:spcBef>
                          <a:spcPts val="0"/>
                        </a:spcBef>
                        <a:spcAft>
                          <a:spcPts val="0"/>
                        </a:spcAft>
                        <a:buNone/>
                      </a:pPr>
                      <a:r>
                        <a:rPr lang="en-GB"/>
                        <a:t>66</a:t>
                      </a:r>
                      <a:endParaRPr/>
                    </a:p>
                  </a:txBody>
                  <a:tcPr marT="91425" marB="91425" marR="91425" marL="91425"/>
                </a:tc>
                <a:tc>
                  <a:txBody>
                    <a:bodyPr/>
                    <a:lstStyle/>
                    <a:p>
                      <a:pPr indent="0" lvl="0" marL="0" rtl="0" algn="ctr">
                        <a:spcBef>
                          <a:spcPts val="0"/>
                        </a:spcBef>
                        <a:spcAft>
                          <a:spcPts val="0"/>
                        </a:spcAft>
                        <a:buNone/>
                      </a:pPr>
                      <a:r>
                        <a:rPr lang="en-GB"/>
                        <a:t>69</a:t>
                      </a:r>
                      <a:endParaRPr/>
                    </a:p>
                  </a:txBody>
                  <a:tcPr marT="91425" marB="91425" marR="91425" marL="91425"/>
                </a:tc>
                <a:tc>
                  <a:txBody>
                    <a:bodyPr/>
                    <a:lstStyle/>
                    <a:p>
                      <a:pPr indent="0" lvl="0" marL="0" rtl="0" algn="ctr">
                        <a:spcBef>
                          <a:spcPts val="0"/>
                        </a:spcBef>
                        <a:spcAft>
                          <a:spcPts val="0"/>
                        </a:spcAft>
                        <a:buNone/>
                      </a:pPr>
                      <a:r>
                        <a:rPr lang="en-GB"/>
                        <a:t>68</a:t>
                      </a:r>
                      <a:endParaRPr/>
                    </a:p>
                  </a:txBody>
                  <a:tcPr marT="91425" marB="91425" marR="91425" marL="91425"/>
                </a:tc>
              </a:tr>
              <a:tr h="381000">
                <a:tc>
                  <a:txBody>
                    <a:bodyPr/>
                    <a:lstStyle/>
                    <a:p>
                      <a:pPr indent="0" lvl="0" marL="0" rtl="0" algn="l">
                        <a:spcBef>
                          <a:spcPts val="0"/>
                        </a:spcBef>
                        <a:spcAft>
                          <a:spcPts val="0"/>
                        </a:spcAft>
                        <a:buNone/>
                      </a:pPr>
                      <a:r>
                        <a:rPr b="1" lang="en-GB"/>
                        <a:t>Standard deviation</a:t>
                      </a:r>
                      <a:endParaRPr b="1"/>
                    </a:p>
                  </a:txBody>
                  <a:tcPr marT="91425" marB="91425" marR="91425" marL="91425">
                    <a:solidFill>
                      <a:srgbClr val="CFE2F3"/>
                    </a:solidFill>
                  </a:tcPr>
                </a:tc>
                <a:tc>
                  <a:txBody>
                    <a:bodyPr/>
                    <a:lstStyle/>
                    <a:p>
                      <a:pPr indent="0" lvl="0" marL="0" rtl="0" algn="ctr">
                        <a:spcBef>
                          <a:spcPts val="0"/>
                        </a:spcBef>
                        <a:spcAft>
                          <a:spcPts val="0"/>
                        </a:spcAft>
                        <a:buNone/>
                      </a:pPr>
                      <a:r>
                        <a:rPr lang="en-GB"/>
                        <a:t>15</a:t>
                      </a:r>
                      <a:endParaRPr/>
                    </a:p>
                  </a:txBody>
                  <a:tcPr marT="91425" marB="91425" marR="91425" marL="91425"/>
                </a:tc>
                <a:tc>
                  <a:txBody>
                    <a:bodyPr/>
                    <a:lstStyle/>
                    <a:p>
                      <a:pPr indent="0" lvl="0" marL="0" rtl="0" algn="ctr">
                        <a:spcBef>
                          <a:spcPts val="0"/>
                        </a:spcBef>
                        <a:spcAft>
                          <a:spcPts val="0"/>
                        </a:spcAft>
                        <a:buNone/>
                      </a:pPr>
                      <a:r>
                        <a:rPr lang="en-GB"/>
                        <a:t>14</a:t>
                      </a:r>
                      <a:endParaRPr/>
                    </a:p>
                  </a:txBody>
                  <a:tcPr marT="91425" marB="91425" marR="91425" marL="91425"/>
                </a:tc>
                <a:tc>
                  <a:txBody>
                    <a:bodyPr/>
                    <a:lstStyle/>
                    <a:p>
                      <a:pPr indent="0" lvl="0" marL="0" rtl="0" algn="ctr">
                        <a:spcBef>
                          <a:spcPts val="0"/>
                        </a:spcBef>
                        <a:spcAft>
                          <a:spcPts val="0"/>
                        </a:spcAft>
                        <a:buNone/>
                      </a:pPr>
                      <a:r>
                        <a:rPr lang="en-GB"/>
                        <a:t>15</a:t>
                      </a:r>
                      <a:endParaRPr/>
                    </a:p>
                  </a:txBody>
                  <a:tcPr marT="91425" marB="91425" marR="91425" marL="91425"/>
                </a:tc>
              </a:tr>
              <a:tr h="381000">
                <a:tc>
                  <a:txBody>
                    <a:bodyPr/>
                    <a:lstStyle/>
                    <a:p>
                      <a:pPr indent="0" lvl="0" marL="0" rtl="0" algn="l">
                        <a:spcBef>
                          <a:spcPts val="0"/>
                        </a:spcBef>
                        <a:spcAft>
                          <a:spcPts val="0"/>
                        </a:spcAft>
                        <a:buNone/>
                      </a:pPr>
                      <a:r>
                        <a:rPr b="1" lang="en-GB"/>
                        <a:t>Minimum</a:t>
                      </a:r>
                      <a:endParaRPr b="1"/>
                    </a:p>
                  </a:txBody>
                  <a:tcPr marT="91425" marB="91425" marR="91425" marL="91425">
                    <a:solidFill>
                      <a:srgbClr val="CFE2F3"/>
                    </a:solidFill>
                  </a:tcPr>
                </a:tc>
                <a:tc>
                  <a:txBody>
                    <a:bodyPr/>
                    <a:lstStyle/>
                    <a:p>
                      <a:pPr indent="0" lvl="0" marL="0" rtl="0" algn="ctr">
                        <a:spcBef>
                          <a:spcPts val="0"/>
                        </a:spcBef>
                        <a:spcAft>
                          <a:spcPts val="0"/>
                        </a:spcAft>
                        <a:buNone/>
                      </a:pPr>
                      <a:r>
                        <a:rPr lang="en-GB"/>
                        <a:t>0</a:t>
                      </a:r>
                      <a:endParaRPr/>
                    </a:p>
                  </a:txBody>
                  <a:tcPr marT="91425" marB="91425" marR="91425" marL="91425">
                    <a:solidFill>
                      <a:srgbClr val="FFF2CC"/>
                    </a:solidFill>
                  </a:tcPr>
                </a:tc>
                <a:tc>
                  <a:txBody>
                    <a:bodyPr/>
                    <a:lstStyle/>
                    <a:p>
                      <a:pPr indent="0" lvl="0" marL="0" rtl="0" algn="ctr">
                        <a:spcBef>
                          <a:spcPts val="0"/>
                        </a:spcBef>
                        <a:spcAft>
                          <a:spcPts val="0"/>
                        </a:spcAft>
                        <a:buNone/>
                      </a:pPr>
                      <a:r>
                        <a:rPr lang="en-GB"/>
                        <a:t>17</a:t>
                      </a:r>
                      <a:endParaRPr/>
                    </a:p>
                  </a:txBody>
                  <a:tcPr marT="91425" marB="91425" marR="91425" marL="91425"/>
                </a:tc>
                <a:tc>
                  <a:txBody>
                    <a:bodyPr/>
                    <a:lstStyle/>
                    <a:p>
                      <a:pPr indent="0" lvl="0" marL="0" rtl="0" algn="ctr">
                        <a:spcBef>
                          <a:spcPts val="0"/>
                        </a:spcBef>
                        <a:spcAft>
                          <a:spcPts val="0"/>
                        </a:spcAft>
                        <a:buNone/>
                      </a:pPr>
                      <a:r>
                        <a:rPr lang="en-GB"/>
                        <a:t>10</a:t>
                      </a:r>
                      <a:endParaRPr/>
                    </a:p>
                  </a:txBody>
                  <a:tcPr marT="91425" marB="91425" marR="91425" marL="91425"/>
                </a:tc>
              </a:tr>
              <a:tr h="381000">
                <a:tc>
                  <a:txBody>
                    <a:bodyPr/>
                    <a:lstStyle/>
                    <a:p>
                      <a:pPr indent="0" lvl="0" marL="0" rtl="0" algn="l">
                        <a:spcBef>
                          <a:spcPts val="0"/>
                        </a:spcBef>
                        <a:spcAft>
                          <a:spcPts val="0"/>
                        </a:spcAft>
                        <a:buNone/>
                      </a:pPr>
                      <a:r>
                        <a:rPr b="1" lang="en-GB"/>
                        <a:t>Maximum</a:t>
                      </a:r>
                      <a:endParaRPr b="1"/>
                    </a:p>
                  </a:txBody>
                  <a:tcPr marT="91425" marB="91425" marR="91425" marL="91425">
                    <a:solidFill>
                      <a:srgbClr val="CFE2F3"/>
                    </a:solidFill>
                  </a:tcPr>
                </a:tc>
                <a:tc>
                  <a:txBody>
                    <a:bodyPr/>
                    <a:lstStyle/>
                    <a:p>
                      <a:pPr indent="0" lvl="0" marL="0" rtl="0" algn="ctr">
                        <a:spcBef>
                          <a:spcPts val="0"/>
                        </a:spcBef>
                        <a:spcAft>
                          <a:spcPts val="0"/>
                        </a:spcAft>
                        <a:buNone/>
                      </a:pPr>
                      <a:r>
                        <a:rPr lang="en-GB"/>
                        <a:t>100</a:t>
                      </a:r>
                      <a:endParaRPr/>
                    </a:p>
                  </a:txBody>
                  <a:tcPr marT="91425" marB="91425" marR="91425" marL="91425"/>
                </a:tc>
                <a:tc>
                  <a:txBody>
                    <a:bodyPr/>
                    <a:lstStyle/>
                    <a:p>
                      <a:pPr indent="0" lvl="0" marL="0" rtl="0" algn="ctr">
                        <a:spcBef>
                          <a:spcPts val="0"/>
                        </a:spcBef>
                        <a:spcAft>
                          <a:spcPts val="0"/>
                        </a:spcAft>
                        <a:buNone/>
                      </a:pPr>
                      <a:r>
                        <a:rPr lang="en-GB"/>
                        <a:t>100</a:t>
                      </a:r>
                      <a:endParaRPr/>
                    </a:p>
                  </a:txBody>
                  <a:tcPr marT="91425" marB="91425" marR="91425" marL="91425"/>
                </a:tc>
                <a:tc>
                  <a:txBody>
                    <a:bodyPr/>
                    <a:lstStyle/>
                    <a:p>
                      <a:pPr indent="0" lvl="0" marL="0" rtl="0" algn="ctr">
                        <a:spcBef>
                          <a:spcPts val="0"/>
                        </a:spcBef>
                        <a:spcAft>
                          <a:spcPts val="0"/>
                        </a:spcAft>
                        <a:buNone/>
                      </a:pPr>
                      <a:r>
                        <a:rPr lang="en-GB"/>
                        <a:t>100</a:t>
                      </a:r>
                      <a:endParaRPr/>
                    </a:p>
                  </a:txBody>
                  <a:tcPr marT="91425" marB="91425" marR="91425" marL="91425"/>
                </a:tc>
              </a:tr>
              <a:tr h="381000">
                <a:tc>
                  <a:txBody>
                    <a:bodyPr/>
                    <a:lstStyle/>
                    <a:p>
                      <a:pPr indent="0" lvl="0" marL="0" rtl="0" algn="l">
                        <a:spcBef>
                          <a:spcPts val="0"/>
                        </a:spcBef>
                        <a:spcAft>
                          <a:spcPts val="0"/>
                        </a:spcAft>
                        <a:buNone/>
                      </a:pPr>
                      <a:r>
                        <a:rPr b="1" lang="en-GB"/>
                        <a:t>Median</a:t>
                      </a:r>
                      <a:endParaRPr b="1"/>
                    </a:p>
                  </a:txBody>
                  <a:tcPr marT="91425" marB="91425" marR="91425" marL="91425">
                    <a:solidFill>
                      <a:srgbClr val="CFE2F3"/>
                    </a:solidFill>
                  </a:tcPr>
                </a:tc>
                <a:tc>
                  <a:txBody>
                    <a:bodyPr/>
                    <a:lstStyle/>
                    <a:p>
                      <a:pPr indent="0" lvl="0" marL="0" rtl="0" algn="ctr">
                        <a:spcBef>
                          <a:spcPts val="0"/>
                        </a:spcBef>
                        <a:spcAft>
                          <a:spcPts val="0"/>
                        </a:spcAft>
                        <a:buNone/>
                      </a:pPr>
                      <a:r>
                        <a:rPr lang="en-GB"/>
                        <a:t>66</a:t>
                      </a:r>
                      <a:endParaRPr/>
                    </a:p>
                  </a:txBody>
                  <a:tcPr marT="91425" marB="91425" marR="91425" marL="91425"/>
                </a:tc>
                <a:tc>
                  <a:txBody>
                    <a:bodyPr/>
                    <a:lstStyle/>
                    <a:p>
                      <a:pPr indent="0" lvl="0" marL="0" rtl="0" algn="ctr">
                        <a:spcBef>
                          <a:spcPts val="0"/>
                        </a:spcBef>
                        <a:spcAft>
                          <a:spcPts val="0"/>
                        </a:spcAft>
                        <a:buNone/>
                      </a:pPr>
                      <a:r>
                        <a:rPr lang="en-GB"/>
                        <a:t>70</a:t>
                      </a:r>
                      <a:endParaRPr/>
                    </a:p>
                  </a:txBody>
                  <a:tcPr marT="91425" marB="91425" marR="91425" marL="91425"/>
                </a:tc>
                <a:tc>
                  <a:txBody>
                    <a:bodyPr/>
                    <a:lstStyle/>
                    <a:p>
                      <a:pPr indent="0" lvl="0" marL="0" rtl="0" algn="ctr">
                        <a:spcBef>
                          <a:spcPts val="0"/>
                        </a:spcBef>
                        <a:spcAft>
                          <a:spcPts val="0"/>
                        </a:spcAft>
                        <a:buNone/>
                      </a:pPr>
                      <a:r>
                        <a:rPr lang="en-GB"/>
                        <a:t>69</a:t>
                      </a:r>
                      <a:endParaRPr/>
                    </a:p>
                  </a:txBody>
                  <a:tcPr marT="91425" marB="91425" marR="91425" marL="91425"/>
                </a:tc>
              </a:tr>
              <a:tr h="381000">
                <a:tc>
                  <a:txBody>
                    <a:bodyPr/>
                    <a:lstStyle/>
                    <a:p>
                      <a:pPr indent="0" lvl="0" marL="0" rtl="0" algn="l">
                        <a:spcBef>
                          <a:spcPts val="0"/>
                        </a:spcBef>
                        <a:spcAft>
                          <a:spcPts val="0"/>
                        </a:spcAft>
                        <a:buNone/>
                      </a:pPr>
                      <a:r>
                        <a:rPr b="1" lang="en-GB"/>
                        <a:t>IQR (UQ-LQ)</a:t>
                      </a:r>
                      <a:endParaRPr b="1"/>
                    </a:p>
                  </a:txBody>
                  <a:tcPr marT="91425" marB="91425" marR="91425" marL="91425">
                    <a:solidFill>
                      <a:srgbClr val="CFE2F3"/>
                    </a:solidFill>
                  </a:tcPr>
                </a:tc>
                <a:tc>
                  <a:txBody>
                    <a:bodyPr/>
                    <a:lstStyle/>
                    <a:p>
                      <a:pPr indent="0" lvl="0" marL="0" rtl="0" algn="ctr">
                        <a:spcBef>
                          <a:spcPts val="0"/>
                        </a:spcBef>
                        <a:spcAft>
                          <a:spcPts val="0"/>
                        </a:spcAft>
                        <a:buNone/>
                      </a:pPr>
                      <a:r>
                        <a:rPr lang="en-GB"/>
                        <a:t>20</a:t>
                      </a:r>
                      <a:endParaRPr/>
                    </a:p>
                  </a:txBody>
                  <a:tcPr marT="91425" marB="91425" marR="91425" marL="91425"/>
                </a:tc>
                <a:tc>
                  <a:txBody>
                    <a:bodyPr/>
                    <a:lstStyle/>
                    <a:p>
                      <a:pPr indent="0" lvl="0" marL="0" rtl="0" algn="ctr">
                        <a:spcBef>
                          <a:spcPts val="0"/>
                        </a:spcBef>
                        <a:spcAft>
                          <a:spcPts val="0"/>
                        </a:spcAft>
                        <a:buNone/>
                      </a:pPr>
                      <a:r>
                        <a:rPr lang="en-GB"/>
                        <a:t>20</a:t>
                      </a:r>
                      <a:endParaRPr/>
                    </a:p>
                  </a:txBody>
                  <a:tcPr marT="91425" marB="91425" marR="91425" marL="91425"/>
                </a:tc>
                <a:tc>
                  <a:txBody>
                    <a:bodyPr/>
                    <a:lstStyle/>
                    <a:p>
                      <a:pPr indent="0" lvl="0" marL="0" rtl="0" algn="ctr">
                        <a:spcBef>
                          <a:spcPts val="0"/>
                        </a:spcBef>
                        <a:spcAft>
                          <a:spcPts val="0"/>
                        </a:spcAft>
                        <a:buNone/>
                      </a:pPr>
                      <a:r>
                        <a:rPr lang="en-GB"/>
                        <a:t>22</a:t>
                      </a:r>
                      <a:endParaRPr/>
                    </a:p>
                  </a:txBody>
                  <a:tcPr marT="91425" marB="91425" marR="91425" marL="91425"/>
                </a:tc>
              </a:tr>
            </a:tbl>
          </a:graphicData>
        </a:graphic>
      </p:graphicFrame>
      <p:sp>
        <p:nvSpPr>
          <p:cNvPr id="141" name="Google Shape;141;p8"/>
          <p:cNvSpPr txBox="1"/>
          <p:nvPr/>
        </p:nvSpPr>
        <p:spPr>
          <a:xfrm>
            <a:off x="5677450" y="5081475"/>
            <a:ext cx="6216600" cy="1639800"/>
          </a:xfrm>
          <a:prstGeom prst="rect">
            <a:avLst/>
          </a:prstGeom>
          <a:noFill/>
          <a:ln>
            <a:noFill/>
          </a:ln>
        </p:spPr>
        <p:txBody>
          <a:bodyPr anchorCtr="0" anchor="t" bIns="91425" lIns="91425" spcFirstLastPara="1" rIns="91425" wrap="square" tIns="91425">
            <a:noAutofit/>
          </a:bodyPr>
          <a:lstStyle/>
          <a:p>
            <a:pPr indent="-330200" lvl="0" marL="457200" rtl="0" algn="l">
              <a:spcBef>
                <a:spcPts val="0"/>
              </a:spcBef>
              <a:spcAft>
                <a:spcPts val="0"/>
              </a:spcAft>
              <a:buClr>
                <a:schemeClr val="dk1"/>
              </a:buClr>
              <a:buSzPts val="1600"/>
              <a:buChar char="●"/>
            </a:pPr>
            <a:r>
              <a:rPr lang="en-GB" sz="1600">
                <a:solidFill>
                  <a:schemeClr val="dk1"/>
                </a:solidFill>
              </a:rPr>
              <a:t>When working through the analysis with or without the </a:t>
            </a:r>
            <a:r>
              <a:rPr lang="en-GB" sz="1600">
                <a:solidFill>
                  <a:schemeClr val="dk1"/>
                </a:solidFill>
              </a:rPr>
              <a:t>outlier</a:t>
            </a:r>
            <a:r>
              <a:rPr lang="en-GB" sz="1600">
                <a:solidFill>
                  <a:schemeClr val="dk1"/>
                </a:solidFill>
              </a:rPr>
              <a:t> it made very little difference to the </a:t>
            </a:r>
            <a:r>
              <a:rPr lang="en-GB" sz="1600">
                <a:solidFill>
                  <a:schemeClr val="dk1"/>
                </a:solidFill>
              </a:rPr>
              <a:t>median</a:t>
            </a:r>
            <a:r>
              <a:rPr lang="en-GB" sz="1600">
                <a:solidFill>
                  <a:schemeClr val="dk1"/>
                </a:solidFill>
              </a:rPr>
              <a:t> and quartile ranges. In this case we decided to include the result in our analysis.   </a:t>
            </a:r>
            <a:endParaRPr sz="1600">
              <a:solidFill>
                <a:schemeClr val="dk1"/>
              </a:solidFill>
            </a:endParaRPr>
          </a:p>
          <a:p>
            <a:pPr indent="-330200" lvl="0" marL="457200" rtl="0" algn="l">
              <a:spcBef>
                <a:spcPts val="0"/>
              </a:spcBef>
              <a:spcAft>
                <a:spcPts val="0"/>
              </a:spcAft>
              <a:buClr>
                <a:schemeClr val="dk1"/>
              </a:buClr>
              <a:buSzPts val="1600"/>
              <a:buChar char="●"/>
            </a:pPr>
            <a:r>
              <a:rPr lang="en-GB" sz="1600">
                <a:solidFill>
                  <a:schemeClr val="dk1"/>
                </a:solidFill>
              </a:rPr>
              <a:t>This way the student’s additional results would also be included in the analysis</a:t>
            </a:r>
            <a:endParaRPr sz="1600">
              <a:solidFill>
                <a:schemeClr val="dk1"/>
              </a:solidFill>
            </a:endParaRPr>
          </a:p>
        </p:txBody>
      </p:sp>
      <p:sp>
        <p:nvSpPr>
          <p:cNvPr id="142" name="Google Shape;142;p8"/>
          <p:cNvSpPr/>
          <p:nvPr/>
        </p:nvSpPr>
        <p:spPr>
          <a:xfrm rot="-3409155">
            <a:off x="2790217" y="3961373"/>
            <a:ext cx="2218417" cy="228735"/>
          </a:xfrm>
          <a:prstGeom prst="rightArrow">
            <a:avLst>
              <a:gd fmla="val 50000" name="adj1"/>
              <a:gd fmla="val 50000" name="adj2"/>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8"/>
          <p:cNvSpPr/>
          <p:nvPr/>
        </p:nvSpPr>
        <p:spPr>
          <a:xfrm>
            <a:off x="1331350" y="5066950"/>
            <a:ext cx="3821100" cy="1447800"/>
          </a:xfrm>
          <a:prstGeom prst="roundRect">
            <a:avLst>
              <a:gd fmla="val 16667" name="adj"/>
            </a:avLst>
          </a:prstGeom>
          <a:solidFill>
            <a:srgbClr val="C3EDEC">
              <a:alpha val="28930"/>
            </a:srgbClr>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4" name="Google Shape;144;p8"/>
          <p:cNvSpPr txBox="1"/>
          <p:nvPr/>
        </p:nvSpPr>
        <p:spPr>
          <a:xfrm>
            <a:off x="1381350" y="5081475"/>
            <a:ext cx="3884100" cy="1226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solidFill>
                  <a:schemeClr val="dk1"/>
                </a:solidFill>
              </a:rPr>
              <a:t>One person had scored 0 in the maths exam which is assumed to be an outlier. This may have been due to a missed exam, incorrect marking, or the student just had a bad score.</a:t>
            </a:r>
            <a:endParaRPr sz="1600">
              <a:solidFill>
                <a:schemeClr val="dk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g3aaa7f7ca62_1_0"/>
          <p:cNvSpPr txBox="1"/>
          <p:nvPr>
            <p:ph type="title"/>
          </p:nvPr>
        </p:nvSpPr>
        <p:spPr>
          <a:xfrm>
            <a:off x="747630" y="100738"/>
            <a:ext cx="10515600" cy="1325700"/>
          </a:xfrm>
          <a:prstGeom prst="rect">
            <a:avLst/>
          </a:prstGeom>
        </p:spPr>
        <p:txBody>
          <a:bodyPr anchorCtr="0" anchor="ctr" bIns="45700" lIns="91425" spcFirstLastPara="1" rIns="91425" wrap="square" tIns="45700">
            <a:normAutofit/>
          </a:bodyPr>
          <a:lstStyle/>
          <a:p>
            <a:pPr indent="0" lvl="0" marL="0" rtl="0" algn="l">
              <a:spcBef>
                <a:spcPts val="0"/>
              </a:spcBef>
              <a:spcAft>
                <a:spcPts val="0"/>
              </a:spcAft>
              <a:buNone/>
            </a:pPr>
            <a:r>
              <a:rPr lang="en-GB"/>
              <a:t>Descriptive statistics of the features (Encoded Table):</a:t>
            </a:r>
            <a:endParaRPr/>
          </a:p>
        </p:txBody>
      </p:sp>
      <p:graphicFrame>
        <p:nvGraphicFramePr>
          <p:cNvPr id="150" name="Google Shape;150;g3aaa7f7ca62_1_0"/>
          <p:cNvGraphicFramePr/>
          <p:nvPr/>
        </p:nvGraphicFramePr>
        <p:xfrm>
          <a:off x="747613" y="4236700"/>
          <a:ext cx="3000000" cy="3000000"/>
        </p:xfrm>
        <a:graphic>
          <a:graphicData uri="http://schemas.openxmlformats.org/drawingml/2006/table">
            <a:tbl>
              <a:tblPr>
                <a:noFill/>
                <a:tableStyleId>{48205E3B-803B-47F0-A93E-CFBADB7F0A1F}</a:tableStyleId>
              </a:tblPr>
              <a:tblGrid>
                <a:gridCol w="1850600"/>
                <a:gridCol w="1850600"/>
                <a:gridCol w="1705675"/>
                <a:gridCol w="2492500"/>
                <a:gridCol w="1353625"/>
                <a:gridCol w="1904475"/>
              </a:tblGrid>
              <a:tr h="460200">
                <a:tc>
                  <a:txBody>
                    <a:bodyPr/>
                    <a:lstStyle/>
                    <a:p>
                      <a:pPr indent="0" lvl="0" marL="0" rtl="0" algn="l">
                        <a:spcBef>
                          <a:spcPts val="0"/>
                        </a:spcBef>
                        <a:spcAft>
                          <a:spcPts val="0"/>
                        </a:spcAft>
                        <a:buNone/>
                      </a:pPr>
                      <a:r>
                        <a:t/>
                      </a:r>
                      <a:endParaRPr/>
                    </a:p>
                  </a:txBody>
                  <a:tcPr marT="91425" marB="91425" marR="91425" marL="91425">
                    <a:solidFill>
                      <a:srgbClr val="CFE2F3"/>
                    </a:solidFill>
                  </a:tcPr>
                </a:tc>
                <a:tc>
                  <a:txBody>
                    <a:bodyPr/>
                    <a:lstStyle/>
                    <a:p>
                      <a:pPr indent="0" lvl="0" marL="0" rtl="0" algn="l">
                        <a:spcBef>
                          <a:spcPts val="0"/>
                        </a:spcBef>
                        <a:spcAft>
                          <a:spcPts val="0"/>
                        </a:spcAft>
                        <a:buNone/>
                      </a:pPr>
                      <a:r>
                        <a:rPr b="1" lang="en-GB"/>
                        <a:t>Gender</a:t>
                      </a:r>
                      <a:endParaRPr b="1"/>
                    </a:p>
                  </a:txBody>
                  <a:tcPr marT="91425" marB="91425" marR="91425" marL="91425">
                    <a:solidFill>
                      <a:srgbClr val="CFE2F3"/>
                    </a:solidFill>
                  </a:tcPr>
                </a:tc>
                <a:tc>
                  <a:txBody>
                    <a:bodyPr/>
                    <a:lstStyle/>
                    <a:p>
                      <a:pPr indent="0" lvl="0" marL="0" rtl="0" algn="l">
                        <a:spcBef>
                          <a:spcPts val="0"/>
                        </a:spcBef>
                        <a:spcAft>
                          <a:spcPts val="0"/>
                        </a:spcAft>
                        <a:buNone/>
                      </a:pPr>
                      <a:r>
                        <a:rPr b="1" lang="en-GB"/>
                        <a:t>Race/ethnicity</a:t>
                      </a:r>
                      <a:endParaRPr b="1"/>
                    </a:p>
                  </a:txBody>
                  <a:tcPr marT="91425" marB="91425" marR="91425" marL="91425">
                    <a:solidFill>
                      <a:srgbClr val="CFE2F3"/>
                    </a:solidFill>
                  </a:tcPr>
                </a:tc>
                <a:tc>
                  <a:txBody>
                    <a:bodyPr/>
                    <a:lstStyle/>
                    <a:p>
                      <a:pPr indent="0" lvl="0" marL="0" rtl="0" algn="l">
                        <a:spcBef>
                          <a:spcPts val="0"/>
                        </a:spcBef>
                        <a:spcAft>
                          <a:spcPts val="0"/>
                        </a:spcAft>
                        <a:buNone/>
                      </a:pPr>
                      <a:r>
                        <a:rPr b="1" lang="en-GB"/>
                        <a:t>Parental level of education</a:t>
                      </a:r>
                      <a:endParaRPr b="1"/>
                    </a:p>
                  </a:txBody>
                  <a:tcPr marT="91425" marB="91425" marR="91425" marL="91425">
                    <a:solidFill>
                      <a:srgbClr val="CFE2F3"/>
                    </a:solidFill>
                  </a:tcPr>
                </a:tc>
                <a:tc>
                  <a:txBody>
                    <a:bodyPr/>
                    <a:lstStyle/>
                    <a:p>
                      <a:pPr indent="0" lvl="0" marL="0" rtl="0" algn="l">
                        <a:spcBef>
                          <a:spcPts val="0"/>
                        </a:spcBef>
                        <a:spcAft>
                          <a:spcPts val="0"/>
                        </a:spcAft>
                        <a:buNone/>
                      </a:pPr>
                      <a:r>
                        <a:rPr b="1" lang="en-GB"/>
                        <a:t>Lunch</a:t>
                      </a:r>
                      <a:endParaRPr b="1"/>
                    </a:p>
                  </a:txBody>
                  <a:tcPr marT="91425" marB="91425" marR="91425" marL="91425">
                    <a:solidFill>
                      <a:srgbClr val="CFE2F3"/>
                    </a:solidFill>
                  </a:tcPr>
                </a:tc>
                <a:tc>
                  <a:txBody>
                    <a:bodyPr/>
                    <a:lstStyle/>
                    <a:p>
                      <a:pPr indent="0" lvl="0" marL="0" rtl="0" algn="l">
                        <a:spcBef>
                          <a:spcPts val="0"/>
                        </a:spcBef>
                        <a:spcAft>
                          <a:spcPts val="0"/>
                        </a:spcAft>
                        <a:buNone/>
                      </a:pPr>
                      <a:r>
                        <a:rPr b="1" lang="en-GB"/>
                        <a:t>Test preparation</a:t>
                      </a:r>
                      <a:endParaRPr b="1"/>
                    </a:p>
                  </a:txBody>
                  <a:tcPr marT="91425" marB="91425" marR="91425" marL="91425">
                    <a:solidFill>
                      <a:srgbClr val="CFE2F3"/>
                    </a:solidFill>
                  </a:tcPr>
                </a:tc>
              </a:tr>
              <a:tr h="379875">
                <a:tc>
                  <a:txBody>
                    <a:bodyPr/>
                    <a:lstStyle/>
                    <a:p>
                      <a:pPr indent="0" lvl="0" marL="0" rtl="0" algn="l">
                        <a:spcBef>
                          <a:spcPts val="0"/>
                        </a:spcBef>
                        <a:spcAft>
                          <a:spcPts val="0"/>
                        </a:spcAft>
                        <a:buNone/>
                      </a:pPr>
                      <a:r>
                        <a:rPr b="1" lang="en-GB"/>
                        <a:t>Mean</a:t>
                      </a:r>
                      <a:endParaRPr b="1"/>
                    </a:p>
                  </a:txBody>
                  <a:tcPr marT="91425" marB="91425" marR="91425" marL="91425">
                    <a:solidFill>
                      <a:srgbClr val="CFE2F3"/>
                    </a:solidFill>
                  </a:tcPr>
                </a:tc>
                <a:tc>
                  <a:txBody>
                    <a:bodyPr/>
                    <a:lstStyle/>
                    <a:p>
                      <a:pPr indent="0" lvl="0" marL="0" rtl="0" algn="l">
                        <a:spcBef>
                          <a:spcPts val="0"/>
                        </a:spcBef>
                        <a:spcAft>
                          <a:spcPts val="0"/>
                        </a:spcAft>
                        <a:buNone/>
                      </a:pPr>
                      <a:r>
                        <a:rPr lang="en-GB"/>
                        <a:t>0.48 (Female)</a:t>
                      </a:r>
                      <a:endParaRPr/>
                    </a:p>
                  </a:txBody>
                  <a:tcPr marT="91425" marB="91425" marR="91425" marL="91425"/>
                </a:tc>
                <a:tc>
                  <a:txBody>
                    <a:bodyPr/>
                    <a:lstStyle/>
                    <a:p>
                      <a:pPr indent="0" lvl="0" marL="0" rtl="0" algn="l">
                        <a:spcBef>
                          <a:spcPts val="0"/>
                        </a:spcBef>
                        <a:spcAft>
                          <a:spcPts val="0"/>
                        </a:spcAft>
                        <a:buNone/>
                      </a:pPr>
                      <a:r>
                        <a:rPr lang="en-GB"/>
                        <a:t>1.84 (group A)</a:t>
                      </a:r>
                      <a:endParaRPr/>
                    </a:p>
                  </a:txBody>
                  <a:tcPr marT="91425" marB="91425" marR="91425" marL="91425"/>
                </a:tc>
                <a:tc>
                  <a:txBody>
                    <a:bodyPr/>
                    <a:lstStyle/>
                    <a:p>
                      <a:pPr indent="0" lvl="0" marL="0" rtl="0" algn="l">
                        <a:spcBef>
                          <a:spcPts val="0"/>
                        </a:spcBef>
                        <a:spcAft>
                          <a:spcPts val="0"/>
                        </a:spcAft>
                        <a:buNone/>
                      </a:pPr>
                      <a:r>
                        <a:rPr lang="en-GB"/>
                        <a:t>3.08</a:t>
                      </a:r>
                      <a:endParaRPr/>
                    </a:p>
                  </a:txBody>
                  <a:tcPr marT="91425" marB="91425" marR="91425" marL="91425"/>
                </a:tc>
                <a:tc>
                  <a:txBody>
                    <a:bodyPr/>
                    <a:lstStyle/>
                    <a:p>
                      <a:pPr indent="0" lvl="0" marL="0" rtl="0" algn="l">
                        <a:spcBef>
                          <a:spcPts val="0"/>
                        </a:spcBef>
                        <a:spcAft>
                          <a:spcPts val="0"/>
                        </a:spcAft>
                        <a:buNone/>
                      </a:pPr>
                      <a:r>
                        <a:rPr lang="en-GB"/>
                        <a:t>0.36 (Free)</a:t>
                      </a:r>
                      <a:endParaRPr/>
                    </a:p>
                  </a:txBody>
                  <a:tcPr marT="91425" marB="91425" marR="91425" marL="91425"/>
                </a:tc>
                <a:tc>
                  <a:txBody>
                    <a:bodyPr/>
                    <a:lstStyle/>
                    <a:p>
                      <a:pPr indent="0" lvl="0" marL="0" rtl="0" algn="l">
                        <a:spcBef>
                          <a:spcPts val="0"/>
                        </a:spcBef>
                        <a:spcAft>
                          <a:spcPts val="0"/>
                        </a:spcAft>
                        <a:buNone/>
                      </a:pPr>
                      <a:r>
                        <a:rPr lang="en-GB"/>
                        <a:t>0.36 (None)</a:t>
                      </a:r>
                      <a:endParaRPr/>
                    </a:p>
                  </a:txBody>
                  <a:tcPr marT="91425" marB="91425" marR="91425" marL="91425"/>
                </a:tc>
              </a:tr>
              <a:tr h="379875">
                <a:tc>
                  <a:txBody>
                    <a:bodyPr/>
                    <a:lstStyle/>
                    <a:p>
                      <a:pPr indent="0" lvl="0" marL="0" rtl="0" algn="l">
                        <a:spcBef>
                          <a:spcPts val="0"/>
                        </a:spcBef>
                        <a:spcAft>
                          <a:spcPts val="0"/>
                        </a:spcAft>
                        <a:buClr>
                          <a:schemeClr val="dk1"/>
                        </a:buClr>
                        <a:buSzPts val="1100"/>
                        <a:buFont typeface="Arial"/>
                        <a:buNone/>
                      </a:pPr>
                      <a:r>
                        <a:rPr b="1" lang="en-GB">
                          <a:solidFill>
                            <a:schemeClr val="dk1"/>
                          </a:solidFill>
                        </a:rPr>
                        <a:t>Standard deviation</a:t>
                      </a:r>
                      <a:endParaRPr/>
                    </a:p>
                  </a:txBody>
                  <a:tcPr marT="91425" marB="91425" marR="91425" marL="91425">
                    <a:solidFill>
                      <a:srgbClr val="CFE2F3"/>
                    </a:solidFill>
                  </a:tcPr>
                </a:tc>
                <a:tc>
                  <a:txBody>
                    <a:bodyPr/>
                    <a:lstStyle/>
                    <a:p>
                      <a:pPr indent="0" lvl="0" marL="0" rtl="0" algn="l">
                        <a:spcBef>
                          <a:spcPts val="0"/>
                        </a:spcBef>
                        <a:spcAft>
                          <a:spcPts val="0"/>
                        </a:spcAft>
                        <a:buNone/>
                      </a:pPr>
                      <a:r>
                        <a:rPr lang="en-GB"/>
                        <a:t>0.5</a:t>
                      </a:r>
                      <a:endParaRPr/>
                    </a:p>
                  </a:txBody>
                  <a:tcPr marT="91425" marB="91425" marR="91425" marL="91425"/>
                </a:tc>
                <a:tc>
                  <a:txBody>
                    <a:bodyPr/>
                    <a:lstStyle/>
                    <a:p>
                      <a:pPr indent="0" lvl="0" marL="0" rtl="0" algn="l">
                        <a:spcBef>
                          <a:spcPts val="0"/>
                        </a:spcBef>
                        <a:spcAft>
                          <a:spcPts val="0"/>
                        </a:spcAft>
                        <a:buNone/>
                      </a:pPr>
                      <a:r>
                        <a:rPr lang="en-GB"/>
                        <a:t>1.37</a:t>
                      </a:r>
                      <a:endParaRPr/>
                    </a:p>
                  </a:txBody>
                  <a:tcPr marT="91425" marB="91425" marR="91425" marL="91425"/>
                </a:tc>
                <a:tc>
                  <a:txBody>
                    <a:bodyPr/>
                    <a:lstStyle/>
                    <a:p>
                      <a:pPr indent="0" lvl="0" marL="0" rtl="0" algn="l">
                        <a:spcBef>
                          <a:spcPts val="0"/>
                        </a:spcBef>
                        <a:spcAft>
                          <a:spcPts val="0"/>
                        </a:spcAft>
                        <a:buNone/>
                      </a:pPr>
                      <a:r>
                        <a:rPr lang="en-GB"/>
                        <a:t>1,46</a:t>
                      </a:r>
                      <a:endParaRPr/>
                    </a:p>
                  </a:txBody>
                  <a:tcPr marT="91425" marB="91425" marR="91425" marL="91425">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GB"/>
                        <a:t>0.48 </a:t>
                      </a:r>
                      <a:endParaRPr/>
                    </a:p>
                  </a:txBody>
                  <a:tcPr marT="91425" marB="91425" marR="91425" marL="91425"/>
                </a:tc>
                <a:tc>
                  <a:txBody>
                    <a:bodyPr/>
                    <a:lstStyle/>
                    <a:p>
                      <a:pPr indent="0" lvl="0" marL="0" rtl="0" algn="l">
                        <a:spcBef>
                          <a:spcPts val="0"/>
                        </a:spcBef>
                        <a:spcAft>
                          <a:spcPts val="0"/>
                        </a:spcAft>
                        <a:buNone/>
                      </a:pPr>
                      <a:r>
                        <a:rPr lang="en-GB"/>
                        <a:t>0.48 (None)</a:t>
                      </a:r>
                      <a:endParaRPr/>
                    </a:p>
                  </a:txBody>
                  <a:tcPr marT="91425" marB="91425" marR="91425" marL="91425"/>
                </a:tc>
              </a:tr>
              <a:tr h="379875">
                <a:tc>
                  <a:txBody>
                    <a:bodyPr/>
                    <a:lstStyle/>
                    <a:p>
                      <a:pPr indent="0" lvl="0" marL="0" rtl="0" algn="l">
                        <a:spcBef>
                          <a:spcPts val="0"/>
                        </a:spcBef>
                        <a:spcAft>
                          <a:spcPts val="0"/>
                        </a:spcAft>
                        <a:buClr>
                          <a:schemeClr val="dk1"/>
                        </a:buClr>
                        <a:buSzPts val="1100"/>
                        <a:buFont typeface="Arial"/>
                        <a:buNone/>
                      </a:pPr>
                      <a:r>
                        <a:rPr b="1" lang="en-GB">
                          <a:solidFill>
                            <a:schemeClr val="dk1"/>
                          </a:solidFill>
                        </a:rPr>
                        <a:t>Minimum</a:t>
                      </a:r>
                      <a:endParaRPr/>
                    </a:p>
                  </a:txBody>
                  <a:tcPr marT="91425" marB="91425" marR="91425" marL="91425">
                    <a:solidFill>
                      <a:srgbClr val="CFE2F3"/>
                    </a:solidFill>
                  </a:tcPr>
                </a:tc>
                <a:tc>
                  <a:txBody>
                    <a:bodyPr/>
                    <a:lstStyle/>
                    <a:p>
                      <a:pPr indent="0" lvl="0" marL="0" rtl="0" algn="l">
                        <a:spcBef>
                          <a:spcPts val="0"/>
                        </a:spcBef>
                        <a:spcAft>
                          <a:spcPts val="0"/>
                        </a:spcAft>
                        <a:buNone/>
                      </a:pPr>
                      <a:r>
                        <a:rPr lang="en-GB"/>
                        <a:t>0 (Female)</a:t>
                      </a:r>
                      <a:endParaRPr/>
                    </a:p>
                  </a:txBody>
                  <a:tcPr marT="91425" marB="91425" marR="91425" marL="91425"/>
                </a:tc>
                <a:tc>
                  <a:txBody>
                    <a:bodyPr/>
                    <a:lstStyle/>
                    <a:p>
                      <a:pPr indent="0" lvl="0" marL="0" rtl="0" algn="l">
                        <a:spcBef>
                          <a:spcPts val="0"/>
                        </a:spcBef>
                        <a:spcAft>
                          <a:spcPts val="0"/>
                        </a:spcAft>
                        <a:buNone/>
                      </a:pPr>
                      <a:r>
                        <a:rPr lang="en-GB"/>
                        <a:t>0 (group B)</a:t>
                      </a:r>
                      <a:endParaRPr/>
                    </a:p>
                  </a:txBody>
                  <a:tcPr marT="91425" marB="91425" marR="91425" marL="91425">
                    <a:lnR cap="flat" cmpd="sng" w="9525">
                      <a:solidFill>
                        <a:srgbClr val="9E9E9E"/>
                      </a:solidFill>
                      <a:prstDash val="solid"/>
                      <a:round/>
                      <a:headEnd len="sm" w="sm" type="none"/>
                      <a:tailEnd len="sm" w="sm" type="none"/>
                    </a:lnR>
                  </a:tcPr>
                </a:tc>
                <a:tc>
                  <a:txBody>
                    <a:bodyPr/>
                    <a:lstStyle/>
                    <a:p>
                      <a:pPr indent="0" lvl="0" marL="0" rtl="0" algn="l">
                        <a:spcBef>
                          <a:spcPts val="0"/>
                        </a:spcBef>
                        <a:spcAft>
                          <a:spcPts val="0"/>
                        </a:spcAft>
                        <a:buNone/>
                      </a:pPr>
                      <a:r>
                        <a:rPr lang="en-GB"/>
                        <a:t>1 (Some High school)</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GB"/>
                        <a:t>0 (Free)</a:t>
                      </a:r>
                      <a:endParaRPr/>
                    </a:p>
                  </a:txBody>
                  <a:tcPr marT="91425" marB="91425" marR="91425" marL="91425">
                    <a:lnL cap="flat" cmpd="sng" w="9525">
                      <a:solidFill>
                        <a:srgbClr val="9E9E9E"/>
                      </a:solidFill>
                      <a:prstDash val="solid"/>
                      <a:round/>
                      <a:headEnd len="sm" w="sm" type="none"/>
                      <a:tailEnd len="sm" w="sm" type="none"/>
                    </a:lnL>
                  </a:tcPr>
                </a:tc>
                <a:tc>
                  <a:txBody>
                    <a:bodyPr/>
                    <a:lstStyle/>
                    <a:p>
                      <a:pPr indent="0" lvl="0" marL="0" rtl="0" algn="l">
                        <a:spcBef>
                          <a:spcPts val="0"/>
                        </a:spcBef>
                        <a:spcAft>
                          <a:spcPts val="0"/>
                        </a:spcAft>
                        <a:buNone/>
                      </a:pPr>
                      <a:r>
                        <a:rPr lang="en-GB"/>
                        <a:t>0 (None)</a:t>
                      </a:r>
                      <a:endParaRPr/>
                    </a:p>
                  </a:txBody>
                  <a:tcPr marT="91425" marB="91425" marR="91425" marL="91425"/>
                </a:tc>
              </a:tr>
              <a:tr h="379875">
                <a:tc>
                  <a:txBody>
                    <a:bodyPr/>
                    <a:lstStyle/>
                    <a:p>
                      <a:pPr indent="0" lvl="0" marL="0" rtl="0" algn="l">
                        <a:spcBef>
                          <a:spcPts val="0"/>
                        </a:spcBef>
                        <a:spcAft>
                          <a:spcPts val="0"/>
                        </a:spcAft>
                        <a:buNone/>
                      </a:pPr>
                      <a:r>
                        <a:rPr b="1" lang="en-GB">
                          <a:solidFill>
                            <a:schemeClr val="dk1"/>
                          </a:solidFill>
                        </a:rPr>
                        <a:t>Maximum</a:t>
                      </a:r>
                      <a:endParaRPr b="1">
                        <a:solidFill>
                          <a:schemeClr val="dk1"/>
                        </a:solidFill>
                      </a:endParaRPr>
                    </a:p>
                  </a:txBody>
                  <a:tcPr marT="91425" marB="91425" marR="91425" marL="91425">
                    <a:solidFill>
                      <a:srgbClr val="CFE2F3"/>
                    </a:solidFill>
                  </a:tcPr>
                </a:tc>
                <a:tc>
                  <a:txBody>
                    <a:bodyPr/>
                    <a:lstStyle/>
                    <a:p>
                      <a:pPr indent="0" lvl="0" marL="0" rtl="0" algn="l">
                        <a:spcBef>
                          <a:spcPts val="0"/>
                        </a:spcBef>
                        <a:spcAft>
                          <a:spcPts val="0"/>
                        </a:spcAft>
                        <a:buNone/>
                      </a:pPr>
                      <a:r>
                        <a:rPr lang="en-GB"/>
                        <a:t>1 (Male)</a:t>
                      </a:r>
                      <a:endParaRPr/>
                    </a:p>
                  </a:txBody>
                  <a:tcPr marT="91425" marB="91425" marR="91425" marL="91425"/>
                </a:tc>
                <a:tc>
                  <a:txBody>
                    <a:bodyPr/>
                    <a:lstStyle/>
                    <a:p>
                      <a:pPr indent="0" lvl="0" marL="0" rtl="0" algn="l">
                        <a:spcBef>
                          <a:spcPts val="0"/>
                        </a:spcBef>
                        <a:spcAft>
                          <a:spcPts val="0"/>
                        </a:spcAft>
                        <a:buNone/>
                      </a:pPr>
                      <a:r>
                        <a:rPr lang="en-GB"/>
                        <a:t>1 (group C)</a:t>
                      </a:r>
                      <a:endParaRPr/>
                    </a:p>
                  </a:txBody>
                  <a:tcPr marT="91425" marB="91425" marR="91425" marL="91425">
                    <a:lnR cap="flat" cmpd="sng" w="9525">
                      <a:solidFill>
                        <a:srgbClr val="9E9E9E"/>
                      </a:solidFill>
                      <a:prstDash val="solid"/>
                      <a:round/>
                      <a:headEnd len="sm" w="sm" type="none"/>
                      <a:tailEnd len="sm" w="sm" type="none"/>
                    </a:lnR>
                  </a:tcPr>
                </a:tc>
                <a:tc>
                  <a:txBody>
                    <a:bodyPr/>
                    <a:lstStyle/>
                    <a:p>
                      <a:pPr indent="0" lvl="0" marL="0" rtl="0" algn="l">
                        <a:spcBef>
                          <a:spcPts val="0"/>
                        </a:spcBef>
                        <a:spcAft>
                          <a:spcPts val="0"/>
                        </a:spcAft>
                        <a:buNone/>
                      </a:pPr>
                      <a:r>
                        <a:rPr lang="en-GB"/>
                        <a:t>6 (master’s degree)</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GB"/>
                        <a:t>1 (Reduced)</a:t>
                      </a:r>
                      <a:endParaRPr/>
                    </a:p>
                  </a:txBody>
                  <a:tcPr marT="91425" marB="91425" marR="91425" marL="91425">
                    <a:lnL cap="flat" cmpd="sng" w="9525">
                      <a:solidFill>
                        <a:srgbClr val="9E9E9E"/>
                      </a:solidFill>
                      <a:prstDash val="solid"/>
                      <a:round/>
                      <a:headEnd len="sm" w="sm" type="none"/>
                      <a:tailEnd len="sm" w="sm" type="none"/>
                    </a:lnL>
                  </a:tcPr>
                </a:tc>
                <a:tc>
                  <a:txBody>
                    <a:bodyPr/>
                    <a:lstStyle/>
                    <a:p>
                      <a:pPr indent="0" lvl="0" marL="0" rtl="0" algn="l">
                        <a:spcBef>
                          <a:spcPts val="0"/>
                        </a:spcBef>
                        <a:spcAft>
                          <a:spcPts val="0"/>
                        </a:spcAft>
                        <a:buNone/>
                      </a:pPr>
                      <a:r>
                        <a:rPr lang="en-GB"/>
                        <a:t>1 (Completed)</a:t>
                      </a:r>
                      <a:endParaRPr/>
                    </a:p>
                  </a:txBody>
                  <a:tcPr marT="91425" marB="91425" marR="91425" marL="91425"/>
                </a:tc>
              </a:tr>
              <a:tr h="379875">
                <a:tc>
                  <a:txBody>
                    <a:bodyPr/>
                    <a:lstStyle/>
                    <a:p>
                      <a:pPr indent="0" lvl="0" marL="0" rtl="0" algn="l">
                        <a:spcBef>
                          <a:spcPts val="0"/>
                        </a:spcBef>
                        <a:spcAft>
                          <a:spcPts val="0"/>
                        </a:spcAft>
                        <a:buNone/>
                      </a:pPr>
                      <a:r>
                        <a:rPr b="1" lang="en-GB">
                          <a:solidFill>
                            <a:schemeClr val="dk1"/>
                          </a:solidFill>
                        </a:rPr>
                        <a:t>Median </a:t>
                      </a:r>
                      <a:endParaRPr b="1">
                        <a:solidFill>
                          <a:schemeClr val="dk1"/>
                        </a:solidFill>
                      </a:endParaRPr>
                    </a:p>
                  </a:txBody>
                  <a:tcPr marT="91425" marB="91425" marR="91425" marL="91425">
                    <a:solidFill>
                      <a:srgbClr val="CFE2F3"/>
                    </a:solidFill>
                  </a:tcPr>
                </a:tc>
                <a:tc>
                  <a:txBody>
                    <a:bodyPr/>
                    <a:lstStyle/>
                    <a:p>
                      <a:pPr indent="0" lvl="0" marL="0" rtl="0" algn="l">
                        <a:spcBef>
                          <a:spcPts val="0"/>
                        </a:spcBef>
                        <a:spcAft>
                          <a:spcPts val="0"/>
                        </a:spcAft>
                        <a:buNone/>
                      </a:pPr>
                      <a:r>
                        <a:rPr lang="en-GB"/>
                        <a:t>0 (Female)</a:t>
                      </a:r>
                      <a:endParaRPr/>
                    </a:p>
                  </a:txBody>
                  <a:tcPr marT="91425" marB="91425" marR="91425" marL="91425"/>
                </a:tc>
                <a:tc>
                  <a:txBody>
                    <a:bodyPr/>
                    <a:lstStyle/>
                    <a:p>
                      <a:pPr indent="0" lvl="0" marL="0" rtl="0" algn="l">
                        <a:spcBef>
                          <a:spcPts val="0"/>
                        </a:spcBef>
                        <a:spcAft>
                          <a:spcPts val="0"/>
                        </a:spcAft>
                        <a:buNone/>
                      </a:pPr>
                      <a:r>
                        <a:rPr lang="en-GB"/>
                        <a:t>4 (group E)</a:t>
                      </a:r>
                      <a:endParaRPr/>
                    </a:p>
                  </a:txBody>
                  <a:tcPr marT="91425" marB="91425" marR="91425" marL="91425">
                    <a:lnR cap="flat" cmpd="sng" w="9525">
                      <a:solidFill>
                        <a:srgbClr val="9E9E9E"/>
                      </a:solidFill>
                      <a:prstDash val="solid"/>
                      <a:round/>
                      <a:headEnd len="sm" w="sm" type="none"/>
                      <a:tailEnd len="sm" w="sm" type="none"/>
                    </a:lnR>
                  </a:tcPr>
                </a:tc>
                <a:tc>
                  <a:txBody>
                    <a:bodyPr/>
                    <a:lstStyle/>
                    <a:p>
                      <a:pPr indent="0" lvl="0" marL="0" rtl="0" algn="l">
                        <a:spcBef>
                          <a:spcPts val="0"/>
                        </a:spcBef>
                        <a:spcAft>
                          <a:spcPts val="0"/>
                        </a:spcAft>
                        <a:buNone/>
                      </a:pPr>
                      <a:r>
                        <a:rPr lang="en-GB"/>
                        <a:t>3 (some college)</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GB"/>
                        <a:t>0 (Free)</a:t>
                      </a:r>
                      <a:endParaRPr/>
                    </a:p>
                  </a:txBody>
                  <a:tcPr marT="91425" marB="91425" marR="91425" marL="91425">
                    <a:lnL cap="flat" cmpd="sng" w="9525">
                      <a:solidFill>
                        <a:srgbClr val="9E9E9E"/>
                      </a:solidFill>
                      <a:prstDash val="solid"/>
                      <a:round/>
                      <a:headEnd len="sm" w="sm" type="none"/>
                      <a:tailEnd len="sm" w="sm" type="none"/>
                    </a:lnL>
                  </a:tcPr>
                </a:tc>
                <a:tc>
                  <a:txBody>
                    <a:bodyPr/>
                    <a:lstStyle/>
                    <a:p>
                      <a:pPr indent="0" lvl="0" marL="0" rtl="0" algn="l">
                        <a:spcBef>
                          <a:spcPts val="0"/>
                        </a:spcBef>
                        <a:spcAft>
                          <a:spcPts val="0"/>
                        </a:spcAft>
                        <a:buNone/>
                      </a:pPr>
                      <a:r>
                        <a:rPr lang="en-GB"/>
                        <a:t>1 (Completed)</a:t>
                      </a:r>
                      <a:endParaRPr/>
                    </a:p>
                  </a:txBody>
                  <a:tcPr marT="91425" marB="91425" marR="91425" marL="91425"/>
                </a:tc>
              </a:tr>
            </a:tbl>
          </a:graphicData>
        </a:graphic>
      </p:graphicFrame>
      <p:graphicFrame>
        <p:nvGraphicFramePr>
          <p:cNvPr id="151" name="Google Shape;151;g3aaa7f7ca62_1_0"/>
          <p:cNvGraphicFramePr/>
          <p:nvPr/>
        </p:nvGraphicFramePr>
        <p:xfrm>
          <a:off x="747625" y="1545838"/>
          <a:ext cx="3000000" cy="3000000"/>
        </p:xfrm>
        <a:graphic>
          <a:graphicData uri="http://schemas.openxmlformats.org/drawingml/2006/table">
            <a:tbl>
              <a:tblPr>
                <a:noFill/>
                <a:tableStyleId>{48205E3B-803B-47F0-A93E-CFBADB7F0A1F}</a:tableStyleId>
              </a:tblPr>
              <a:tblGrid>
                <a:gridCol w="1933725"/>
                <a:gridCol w="1317675"/>
                <a:gridCol w="1317675"/>
                <a:gridCol w="1317675"/>
                <a:gridCol w="1317675"/>
                <a:gridCol w="1317675"/>
                <a:gridCol w="1317675"/>
                <a:gridCol w="1317675"/>
              </a:tblGrid>
              <a:tr h="396825">
                <a:tc>
                  <a:txBody>
                    <a:bodyPr/>
                    <a:lstStyle/>
                    <a:p>
                      <a:pPr indent="0" lvl="0" marL="0" rtl="0" algn="l">
                        <a:spcBef>
                          <a:spcPts val="0"/>
                        </a:spcBef>
                        <a:spcAft>
                          <a:spcPts val="0"/>
                        </a:spcAft>
                        <a:buNone/>
                      </a:pPr>
                      <a:r>
                        <a:t/>
                      </a:r>
                      <a:endParaRPr sz="1300"/>
                    </a:p>
                  </a:txBody>
                  <a:tcPr marT="91425" marB="91425" marR="91425" marL="91425">
                    <a:solidFill>
                      <a:srgbClr val="CFE2F3"/>
                    </a:solidFill>
                  </a:tcPr>
                </a:tc>
                <a:tc>
                  <a:txBody>
                    <a:bodyPr/>
                    <a:lstStyle/>
                    <a:p>
                      <a:pPr indent="0" lvl="0" marL="0" rtl="0" algn="ctr">
                        <a:spcBef>
                          <a:spcPts val="0"/>
                        </a:spcBef>
                        <a:spcAft>
                          <a:spcPts val="0"/>
                        </a:spcAft>
                        <a:buNone/>
                      </a:pPr>
                      <a:r>
                        <a:rPr lang="en-GB" sz="1300"/>
                        <a:t>0</a:t>
                      </a:r>
                      <a:endParaRPr sz="1300"/>
                    </a:p>
                  </a:txBody>
                  <a:tcPr marT="91425" marB="91425" marR="91425" marL="91425">
                    <a:solidFill>
                      <a:srgbClr val="CFE2F3"/>
                    </a:solidFill>
                  </a:tcPr>
                </a:tc>
                <a:tc>
                  <a:txBody>
                    <a:bodyPr/>
                    <a:lstStyle/>
                    <a:p>
                      <a:pPr indent="0" lvl="0" marL="0" rtl="0" algn="ctr">
                        <a:spcBef>
                          <a:spcPts val="0"/>
                        </a:spcBef>
                        <a:spcAft>
                          <a:spcPts val="0"/>
                        </a:spcAft>
                        <a:buNone/>
                      </a:pPr>
                      <a:r>
                        <a:rPr lang="en-GB" sz="1300"/>
                        <a:t>1</a:t>
                      </a:r>
                      <a:endParaRPr sz="1300"/>
                    </a:p>
                  </a:txBody>
                  <a:tcPr marT="91425" marB="91425" marR="91425" marL="91425">
                    <a:solidFill>
                      <a:srgbClr val="9FC5E8"/>
                    </a:solidFill>
                  </a:tcPr>
                </a:tc>
                <a:tc>
                  <a:txBody>
                    <a:bodyPr/>
                    <a:lstStyle/>
                    <a:p>
                      <a:pPr indent="0" lvl="0" marL="0" rtl="0" algn="ctr">
                        <a:spcBef>
                          <a:spcPts val="0"/>
                        </a:spcBef>
                        <a:spcAft>
                          <a:spcPts val="0"/>
                        </a:spcAft>
                        <a:buNone/>
                      </a:pPr>
                      <a:r>
                        <a:rPr lang="en-GB" sz="1300"/>
                        <a:t>2</a:t>
                      </a:r>
                      <a:endParaRPr sz="1300"/>
                    </a:p>
                  </a:txBody>
                  <a:tcPr marT="91425" marB="91425" marR="91425" marL="91425">
                    <a:solidFill>
                      <a:srgbClr val="6FA8DC"/>
                    </a:solidFill>
                  </a:tcPr>
                </a:tc>
                <a:tc>
                  <a:txBody>
                    <a:bodyPr/>
                    <a:lstStyle/>
                    <a:p>
                      <a:pPr indent="0" lvl="0" marL="0" rtl="0" algn="ctr">
                        <a:spcBef>
                          <a:spcPts val="0"/>
                        </a:spcBef>
                        <a:spcAft>
                          <a:spcPts val="0"/>
                        </a:spcAft>
                        <a:buNone/>
                      </a:pPr>
                      <a:r>
                        <a:rPr lang="en-GB" sz="1300"/>
                        <a:t>3</a:t>
                      </a:r>
                      <a:endParaRPr sz="1300"/>
                    </a:p>
                  </a:txBody>
                  <a:tcPr marT="91425" marB="91425" marR="91425" marL="91425">
                    <a:solidFill>
                      <a:srgbClr val="3D85C6"/>
                    </a:solidFill>
                  </a:tcPr>
                </a:tc>
                <a:tc>
                  <a:txBody>
                    <a:bodyPr/>
                    <a:lstStyle/>
                    <a:p>
                      <a:pPr indent="0" lvl="0" marL="0" rtl="0" algn="ctr">
                        <a:spcBef>
                          <a:spcPts val="0"/>
                        </a:spcBef>
                        <a:spcAft>
                          <a:spcPts val="0"/>
                        </a:spcAft>
                        <a:buNone/>
                      </a:pPr>
                      <a:r>
                        <a:rPr lang="en-GB" sz="1300"/>
                        <a:t>4</a:t>
                      </a:r>
                      <a:endParaRPr sz="1300"/>
                    </a:p>
                  </a:txBody>
                  <a:tcPr marT="91425" marB="91425" marR="91425" marL="91425">
                    <a:solidFill>
                      <a:srgbClr val="0B5394"/>
                    </a:solidFill>
                  </a:tcPr>
                </a:tc>
                <a:tc>
                  <a:txBody>
                    <a:bodyPr/>
                    <a:lstStyle/>
                    <a:p>
                      <a:pPr indent="0" lvl="0" marL="0" rtl="0" algn="ctr">
                        <a:spcBef>
                          <a:spcPts val="0"/>
                        </a:spcBef>
                        <a:spcAft>
                          <a:spcPts val="0"/>
                        </a:spcAft>
                        <a:buNone/>
                      </a:pPr>
                      <a:r>
                        <a:rPr lang="en-GB" sz="1300"/>
                        <a:t>5</a:t>
                      </a:r>
                      <a:endParaRPr sz="1300"/>
                    </a:p>
                  </a:txBody>
                  <a:tcPr marT="91425" marB="91425" marR="91425" marL="91425">
                    <a:solidFill>
                      <a:srgbClr val="1C4587"/>
                    </a:solidFill>
                  </a:tcPr>
                </a:tc>
                <a:tc>
                  <a:txBody>
                    <a:bodyPr/>
                    <a:lstStyle/>
                    <a:p>
                      <a:pPr indent="0" lvl="0" marL="0" rtl="0" algn="ctr">
                        <a:spcBef>
                          <a:spcPts val="0"/>
                        </a:spcBef>
                        <a:spcAft>
                          <a:spcPts val="0"/>
                        </a:spcAft>
                        <a:buNone/>
                      </a:pPr>
                      <a:r>
                        <a:rPr lang="en-GB" sz="1300"/>
                        <a:t>6</a:t>
                      </a:r>
                      <a:endParaRPr sz="1300"/>
                    </a:p>
                  </a:txBody>
                  <a:tcPr marT="91425" marB="91425" marR="91425" marL="91425">
                    <a:solidFill>
                      <a:srgbClr val="073763"/>
                    </a:solidFill>
                  </a:tcPr>
                </a:tc>
              </a:tr>
              <a:tr h="376125">
                <a:tc>
                  <a:txBody>
                    <a:bodyPr/>
                    <a:lstStyle/>
                    <a:p>
                      <a:pPr indent="0" lvl="0" marL="0" rtl="0" algn="l">
                        <a:spcBef>
                          <a:spcPts val="0"/>
                        </a:spcBef>
                        <a:spcAft>
                          <a:spcPts val="0"/>
                        </a:spcAft>
                        <a:buNone/>
                      </a:pPr>
                      <a:r>
                        <a:rPr b="1" lang="en-GB" sz="1300"/>
                        <a:t>Gender </a:t>
                      </a:r>
                      <a:endParaRPr b="1" sz="1300"/>
                    </a:p>
                  </a:txBody>
                  <a:tcPr marT="91425" marB="91425" marR="91425" marL="91425">
                    <a:solidFill>
                      <a:srgbClr val="CFE2F3"/>
                    </a:solidFill>
                  </a:tcPr>
                </a:tc>
                <a:tc>
                  <a:txBody>
                    <a:bodyPr/>
                    <a:lstStyle/>
                    <a:p>
                      <a:pPr indent="0" lvl="0" marL="0" rtl="0" algn="l">
                        <a:spcBef>
                          <a:spcPts val="0"/>
                        </a:spcBef>
                        <a:spcAft>
                          <a:spcPts val="0"/>
                        </a:spcAft>
                        <a:buNone/>
                      </a:pPr>
                      <a:r>
                        <a:rPr lang="en-GB" sz="1300"/>
                        <a:t>Female</a:t>
                      </a:r>
                      <a:endParaRPr sz="1300"/>
                    </a:p>
                  </a:txBody>
                  <a:tcPr marT="91425" marB="91425" marR="91425" marL="91425"/>
                </a:tc>
                <a:tc>
                  <a:txBody>
                    <a:bodyPr/>
                    <a:lstStyle/>
                    <a:p>
                      <a:pPr indent="0" lvl="0" marL="0" rtl="0" algn="l">
                        <a:spcBef>
                          <a:spcPts val="0"/>
                        </a:spcBef>
                        <a:spcAft>
                          <a:spcPts val="0"/>
                        </a:spcAft>
                        <a:buNone/>
                      </a:pPr>
                      <a:r>
                        <a:rPr lang="en-GB" sz="1300"/>
                        <a:t>Male </a:t>
                      </a:r>
                      <a:endParaRPr sz="1300"/>
                    </a:p>
                  </a:txBody>
                  <a:tcPr marT="91425" marB="91425" marR="91425" marL="91425"/>
                </a:tc>
                <a:tc>
                  <a:txBody>
                    <a:bodyPr/>
                    <a:lstStyle/>
                    <a:p>
                      <a:pPr indent="0" lvl="0" marL="0" rtl="0" algn="l">
                        <a:spcBef>
                          <a:spcPts val="0"/>
                        </a:spcBef>
                        <a:spcAft>
                          <a:spcPts val="0"/>
                        </a:spcAft>
                        <a:buNone/>
                      </a:pPr>
                      <a:r>
                        <a:t/>
                      </a:r>
                      <a:endParaRPr sz="1300"/>
                    </a:p>
                  </a:txBody>
                  <a:tcPr marT="91425" marB="91425" marR="91425" marL="91425"/>
                </a:tc>
                <a:tc>
                  <a:txBody>
                    <a:bodyPr/>
                    <a:lstStyle/>
                    <a:p>
                      <a:pPr indent="0" lvl="0" marL="0" rtl="0" algn="l">
                        <a:spcBef>
                          <a:spcPts val="0"/>
                        </a:spcBef>
                        <a:spcAft>
                          <a:spcPts val="0"/>
                        </a:spcAft>
                        <a:buNone/>
                      </a:pPr>
                      <a:r>
                        <a:t/>
                      </a:r>
                      <a:endParaRPr sz="1300"/>
                    </a:p>
                  </a:txBody>
                  <a:tcPr marT="91425" marB="91425" marR="91425" marL="91425"/>
                </a:tc>
                <a:tc>
                  <a:txBody>
                    <a:bodyPr/>
                    <a:lstStyle/>
                    <a:p>
                      <a:pPr indent="0" lvl="0" marL="0" rtl="0" algn="l">
                        <a:spcBef>
                          <a:spcPts val="0"/>
                        </a:spcBef>
                        <a:spcAft>
                          <a:spcPts val="0"/>
                        </a:spcAft>
                        <a:buNone/>
                      </a:pPr>
                      <a:r>
                        <a:t/>
                      </a:r>
                      <a:endParaRPr sz="1300"/>
                    </a:p>
                  </a:txBody>
                  <a:tcPr marT="91425" marB="91425" marR="91425" marL="91425"/>
                </a:tc>
                <a:tc>
                  <a:txBody>
                    <a:bodyPr/>
                    <a:lstStyle/>
                    <a:p>
                      <a:pPr indent="0" lvl="0" marL="0" rtl="0" algn="l">
                        <a:spcBef>
                          <a:spcPts val="0"/>
                        </a:spcBef>
                        <a:spcAft>
                          <a:spcPts val="0"/>
                        </a:spcAft>
                        <a:buNone/>
                      </a:pPr>
                      <a:r>
                        <a:t/>
                      </a:r>
                      <a:endParaRPr sz="1300"/>
                    </a:p>
                  </a:txBody>
                  <a:tcPr marT="91425" marB="91425" marR="91425" marL="91425"/>
                </a:tc>
                <a:tc>
                  <a:txBody>
                    <a:bodyPr/>
                    <a:lstStyle/>
                    <a:p>
                      <a:pPr indent="0" lvl="0" marL="0" rtl="0" algn="l">
                        <a:spcBef>
                          <a:spcPts val="0"/>
                        </a:spcBef>
                        <a:spcAft>
                          <a:spcPts val="0"/>
                        </a:spcAft>
                        <a:buNone/>
                      </a:pPr>
                      <a:r>
                        <a:t/>
                      </a:r>
                      <a:endParaRPr sz="1300"/>
                    </a:p>
                  </a:txBody>
                  <a:tcPr marT="91425" marB="91425" marR="91425" marL="91425"/>
                </a:tc>
              </a:tr>
              <a:tr h="396825">
                <a:tc>
                  <a:txBody>
                    <a:bodyPr/>
                    <a:lstStyle/>
                    <a:p>
                      <a:pPr indent="0" lvl="0" marL="0" rtl="0" algn="l">
                        <a:spcBef>
                          <a:spcPts val="0"/>
                        </a:spcBef>
                        <a:spcAft>
                          <a:spcPts val="0"/>
                        </a:spcAft>
                        <a:buNone/>
                      </a:pPr>
                      <a:r>
                        <a:rPr b="1" lang="en-GB" sz="1300"/>
                        <a:t>Race/ethnicity </a:t>
                      </a:r>
                      <a:endParaRPr b="1" sz="1300"/>
                    </a:p>
                  </a:txBody>
                  <a:tcPr marT="91425" marB="91425" marR="91425" marL="91425">
                    <a:solidFill>
                      <a:srgbClr val="CFE2F3"/>
                    </a:solidFill>
                  </a:tcPr>
                </a:tc>
                <a:tc>
                  <a:txBody>
                    <a:bodyPr/>
                    <a:lstStyle/>
                    <a:p>
                      <a:pPr indent="0" lvl="0" marL="0" rtl="0" algn="l">
                        <a:spcBef>
                          <a:spcPts val="0"/>
                        </a:spcBef>
                        <a:spcAft>
                          <a:spcPts val="0"/>
                        </a:spcAft>
                        <a:buNone/>
                      </a:pPr>
                      <a:r>
                        <a:rPr lang="en-GB" sz="1300"/>
                        <a:t>Group </a:t>
                      </a:r>
                      <a:r>
                        <a:rPr lang="en-GB" sz="1300"/>
                        <a:t>B</a:t>
                      </a:r>
                      <a:endParaRPr sz="1300"/>
                    </a:p>
                  </a:txBody>
                  <a:tcPr marT="91425" marB="91425" marR="91425" marL="91425"/>
                </a:tc>
                <a:tc>
                  <a:txBody>
                    <a:bodyPr/>
                    <a:lstStyle/>
                    <a:p>
                      <a:pPr indent="0" lvl="0" marL="0" rtl="0" algn="l">
                        <a:spcBef>
                          <a:spcPts val="0"/>
                        </a:spcBef>
                        <a:spcAft>
                          <a:spcPts val="0"/>
                        </a:spcAft>
                        <a:buNone/>
                      </a:pPr>
                      <a:r>
                        <a:rPr lang="en-GB" sz="1300">
                          <a:solidFill>
                            <a:schemeClr val="dk1"/>
                          </a:solidFill>
                        </a:rPr>
                        <a:t>Group </a:t>
                      </a:r>
                      <a:r>
                        <a:rPr lang="en-GB" sz="1300"/>
                        <a:t>C</a:t>
                      </a:r>
                      <a:endParaRPr sz="1300"/>
                    </a:p>
                  </a:txBody>
                  <a:tcPr marT="91425" marB="91425" marR="91425" marL="91425">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GB" sz="1300">
                          <a:solidFill>
                            <a:schemeClr val="dk1"/>
                          </a:solidFill>
                        </a:rPr>
                        <a:t>Group </a:t>
                      </a:r>
                      <a:r>
                        <a:rPr lang="en-GB" sz="1300"/>
                        <a:t>A</a:t>
                      </a:r>
                      <a:endParaRPr sz="1300"/>
                    </a:p>
                  </a:txBody>
                  <a:tcPr marT="91425" marB="91425" marR="91425" marL="91425">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GB" sz="1300">
                          <a:solidFill>
                            <a:schemeClr val="dk1"/>
                          </a:solidFill>
                        </a:rPr>
                        <a:t>Group </a:t>
                      </a:r>
                      <a:r>
                        <a:rPr lang="en-GB" sz="1300"/>
                        <a:t>D</a:t>
                      </a:r>
                      <a:endParaRPr sz="1300"/>
                    </a:p>
                  </a:txBody>
                  <a:tcPr marT="91425" marB="91425" marR="91425" marL="91425">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GB" sz="1300">
                          <a:solidFill>
                            <a:schemeClr val="dk1"/>
                          </a:solidFill>
                        </a:rPr>
                        <a:t>Group </a:t>
                      </a:r>
                      <a:r>
                        <a:rPr lang="en-GB" sz="1300"/>
                        <a:t>E</a:t>
                      </a:r>
                      <a:endParaRPr sz="1300"/>
                    </a:p>
                  </a:txBody>
                  <a:tcPr marT="91425" marB="91425" marR="91425" marL="91425">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t/>
                      </a:r>
                      <a:endParaRPr sz="1300"/>
                    </a:p>
                  </a:txBody>
                  <a:tcPr marT="91425" marB="91425" marR="91425" marL="91425">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t/>
                      </a:r>
                      <a:endParaRPr sz="1300"/>
                    </a:p>
                  </a:txBody>
                  <a:tcPr marT="91425" marB="91425" marR="91425" marL="91425">
                    <a:lnB cap="flat" cmpd="sng" w="9525">
                      <a:solidFill>
                        <a:srgbClr val="9E9E9E"/>
                      </a:solidFill>
                      <a:prstDash val="solid"/>
                      <a:round/>
                      <a:headEnd len="sm" w="sm" type="none"/>
                      <a:tailEnd len="sm" w="sm" type="none"/>
                    </a:lnB>
                  </a:tcPr>
                </a:tc>
              </a:tr>
              <a:tr h="603200">
                <a:tc>
                  <a:txBody>
                    <a:bodyPr/>
                    <a:lstStyle/>
                    <a:p>
                      <a:pPr indent="0" lvl="0" marL="0" rtl="0" algn="l">
                        <a:spcBef>
                          <a:spcPts val="0"/>
                        </a:spcBef>
                        <a:spcAft>
                          <a:spcPts val="0"/>
                        </a:spcAft>
                        <a:buNone/>
                      </a:pPr>
                      <a:r>
                        <a:rPr b="1" lang="en-GB" sz="1300"/>
                        <a:t>Parental level of education</a:t>
                      </a:r>
                      <a:endParaRPr b="1" sz="1300"/>
                    </a:p>
                  </a:txBody>
                  <a:tcPr marT="91425" marB="91425" marR="91425" marL="91425">
                    <a:solidFill>
                      <a:srgbClr val="CFE2F3"/>
                    </a:solidFill>
                  </a:tcPr>
                </a:tc>
                <a:tc>
                  <a:txBody>
                    <a:bodyPr/>
                    <a:lstStyle/>
                    <a:p>
                      <a:pPr indent="0" lvl="0" marL="0" rtl="0" algn="l">
                        <a:spcBef>
                          <a:spcPts val="0"/>
                        </a:spcBef>
                        <a:spcAft>
                          <a:spcPts val="0"/>
                        </a:spcAft>
                        <a:buNone/>
                      </a:pPr>
                      <a:r>
                        <a:t/>
                      </a:r>
                      <a:endParaRPr sz="1300"/>
                    </a:p>
                  </a:txBody>
                  <a:tcPr marT="91425" marB="91425" marR="91425" marL="91425">
                    <a:lnR cap="flat" cmpd="sng" w="9525">
                      <a:solidFill>
                        <a:srgbClr val="9E9E9E"/>
                      </a:solidFill>
                      <a:prstDash val="solid"/>
                      <a:round/>
                      <a:headEnd len="sm" w="sm" type="none"/>
                      <a:tailEnd len="sm" w="sm" type="none"/>
                    </a:lnR>
                  </a:tcPr>
                </a:tc>
                <a:tc>
                  <a:txBody>
                    <a:bodyPr/>
                    <a:lstStyle/>
                    <a:p>
                      <a:pPr indent="0" lvl="0" marL="0" rtl="0" algn="l">
                        <a:spcBef>
                          <a:spcPts val="0"/>
                        </a:spcBef>
                        <a:spcAft>
                          <a:spcPts val="0"/>
                        </a:spcAft>
                        <a:buNone/>
                      </a:pPr>
                      <a:r>
                        <a:rPr lang="en-GB" sz="1300"/>
                        <a:t>Some High school</a:t>
                      </a:r>
                      <a:endParaRPr sz="1300"/>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GB" sz="1300"/>
                        <a:t>High school</a:t>
                      </a:r>
                      <a:endParaRPr sz="1300"/>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GB" sz="1300"/>
                        <a:t>Some college</a:t>
                      </a:r>
                      <a:endParaRPr sz="1300"/>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GB" sz="1300"/>
                        <a:t>Associates’ degree</a:t>
                      </a:r>
                      <a:endParaRPr sz="1300"/>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GB" sz="1300"/>
                        <a:t>Bachelor’s degree</a:t>
                      </a:r>
                      <a:endParaRPr sz="1300"/>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GB" sz="1300"/>
                        <a:t>Master’s degree</a:t>
                      </a:r>
                      <a:endParaRPr sz="1300"/>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96825">
                <a:tc>
                  <a:txBody>
                    <a:bodyPr/>
                    <a:lstStyle/>
                    <a:p>
                      <a:pPr indent="0" lvl="0" marL="0" rtl="0" algn="l">
                        <a:spcBef>
                          <a:spcPts val="0"/>
                        </a:spcBef>
                        <a:spcAft>
                          <a:spcPts val="0"/>
                        </a:spcAft>
                        <a:buNone/>
                      </a:pPr>
                      <a:r>
                        <a:rPr b="1" lang="en-GB" sz="1300"/>
                        <a:t>Lunch</a:t>
                      </a:r>
                      <a:endParaRPr b="1" sz="1300"/>
                    </a:p>
                  </a:txBody>
                  <a:tcPr marT="91425" marB="91425" marR="91425" marL="91425">
                    <a:solidFill>
                      <a:srgbClr val="CFE2F3"/>
                    </a:solidFill>
                  </a:tcPr>
                </a:tc>
                <a:tc>
                  <a:txBody>
                    <a:bodyPr/>
                    <a:lstStyle/>
                    <a:p>
                      <a:pPr indent="0" lvl="0" marL="0" rtl="0" algn="l">
                        <a:spcBef>
                          <a:spcPts val="0"/>
                        </a:spcBef>
                        <a:spcAft>
                          <a:spcPts val="0"/>
                        </a:spcAft>
                        <a:buNone/>
                      </a:pPr>
                      <a:r>
                        <a:rPr lang="en-GB" sz="1300"/>
                        <a:t>Free</a:t>
                      </a:r>
                      <a:endParaRPr sz="1300"/>
                    </a:p>
                  </a:txBody>
                  <a:tcPr marT="91425" marB="91425" marR="91425" marL="91425"/>
                </a:tc>
                <a:tc>
                  <a:txBody>
                    <a:bodyPr/>
                    <a:lstStyle/>
                    <a:p>
                      <a:pPr indent="0" lvl="0" marL="0" rtl="0" algn="l">
                        <a:spcBef>
                          <a:spcPts val="0"/>
                        </a:spcBef>
                        <a:spcAft>
                          <a:spcPts val="0"/>
                        </a:spcAft>
                        <a:buNone/>
                      </a:pPr>
                      <a:r>
                        <a:rPr lang="en-GB" sz="1300"/>
                        <a:t>Reduced</a:t>
                      </a:r>
                      <a:endParaRPr sz="1300"/>
                    </a:p>
                  </a:txBody>
                  <a:tcPr marT="91425" marB="91425" marR="91425" marL="91425">
                    <a:lnT cap="flat" cmpd="sng" w="9525">
                      <a:solidFill>
                        <a:srgbClr val="9E9E9E"/>
                      </a:solidFill>
                      <a:prstDash val="solid"/>
                      <a:round/>
                      <a:headEnd len="sm" w="sm" type="none"/>
                      <a:tailEnd len="sm" w="sm" type="none"/>
                    </a:lnT>
                  </a:tcPr>
                </a:tc>
                <a:tc>
                  <a:txBody>
                    <a:bodyPr/>
                    <a:lstStyle/>
                    <a:p>
                      <a:pPr indent="0" lvl="0" marL="0" rtl="0" algn="l">
                        <a:spcBef>
                          <a:spcPts val="0"/>
                        </a:spcBef>
                        <a:spcAft>
                          <a:spcPts val="0"/>
                        </a:spcAft>
                        <a:buNone/>
                      </a:pPr>
                      <a:r>
                        <a:t/>
                      </a:r>
                      <a:endParaRPr sz="1300"/>
                    </a:p>
                  </a:txBody>
                  <a:tcPr marT="91425" marB="91425" marR="91425" marL="91425">
                    <a:lnT cap="flat" cmpd="sng" w="9525">
                      <a:solidFill>
                        <a:srgbClr val="9E9E9E"/>
                      </a:solidFill>
                      <a:prstDash val="solid"/>
                      <a:round/>
                      <a:headEnd len="sm" w="sm" type="none"/>
                      <a:tailEnd len="sm" w="sm" type="none"/>
                    </a:lnT>
                  </a:tcPr>
                </a:tc>
                <a:tc>
                  <a:txBody>
                    <a:bodyPr/>
                    <a:lstStyle/>
                    <a:p>
                      <a:pPr indent="0" lvl="0" marL="0" rtl="0" algn="l">
                        <a:spcBef>
                          <a:spcPts val="0"/>
                        </a:spcBef>
                        <a:spcAft>
                          <a:spcPts val="0"/>
                        </a:spcAft>
                        <a:buNone/>
                      </a:pPr>
                      <a:r>
                        <a:t/>
                      </a:r>
                      <a:endParaRPr sz="1300"/>
                    </a:p>
                  </a:txBody>
                  <a:tcPr marT="91425" marB="91425" marR="91425" marL="91425">
                    <a:lnT cap="flat" cmpd="sng" w="9525">
                      <a:solidFill>
                        <a:srgbClr val="9E9E9E"/>
                      </a:solidFill>
                      <a:prstDash val="solid"/>
                      <a:round/>
                      <a:headEnd len="sm" w="sm" type="none"/>
                      <a:tailEnd len="sm" w="sm" type="none"/>
                    </a:lnT>
                  </a:tcPr>
                </a:tc>
                <a:tc>
                  <a:txBody>
                    <a:bodyPr/>
                    <a:lstStyle/>
                    <a:p>
                      <a:pPr indent="0" lvl="0" marL="0" rtl="0" algn="l">
                        <a:spcBef>
                          <a:spcPts val="0"/>
                        </a:spcBef>
                        <a:spcAft>
                          <a:spcPts val="0"/>
                        </a:spcAft>
                        <a:buNone/>
                      </a:pPr>
                      <a:r>
                        <a:t/>
                      </a:r>
                      <a:endParaRPr sz="1300"/>
                    </a:p>
                  </a:txBody>
                  <a:tcPr marT="91425" marB="91425" marR="91425" marL="91425">
                    <a:lnT cap="flat" cmpd="sng" w="9525">
                      <a:solidFill>
                        <a:srgbClr val="9E9E9E"/>
                      </a:solidFill>
                      <a:prstDash val="solid"/>
                      <a:round/>
                      <a:headEnd len="sm" w="sm" type="none"/>
                      <a:tailEnd len="sm" w="sm" type="none"/>
                    </a:lnT>
                  </a:tcPr>
                </a:tc>
                <a:tc>
                  <a:txBody>
                    <a:bodyPr/>
                    <a:lstStyle/>
                    <a:p>
                      <a:pPr indent="0" lvl="0" marL="0" rtl="0" algn="l">
                        <a:spcBef>
                          <a:spcPts val="0"/>
                        </a:spcBef>
                        <a:spcAft>
                          <a:spcPts val="0"/>
                        </a:spcAft>
                        <a:buNone/>
                      </a:pPr>
                      <a:r>
                        <a:t/>
                      </a:r>
                      <a:endParaRPr sz="1300"/>
                    </a:p>
                  </a:txBody>
                  <a:tcPr marT="91425" marB="91425" marR="91425" marL="91425">
                    <a:lnT cap="flat" cmpd="sng" w="9525">
                      <a:solidFill>
                        <a:srgbClr val="9E9E9E"/>
                      </a:solidFill>
                      <a:prstDash val="solid"/>
                      <a:round/>
                      <a:headEnd len="sm" w="sm" type="none"/>
                      <a:tailEnd len="sm" w="sm" type="none"/>
                    </a:lnT>
                  </a:tcPr>
                </a:tc>
                <a:tc>
                  <a:txBody>
                    <a:bodyPr/>
                    <a:lstStyle/>
                    <a:p>
                      <a:pPr indent="0" lvl="0" marL="0" rtl="0" algn="l">
                        <a:spcBef>
                          <a:spcPts val="0"/>
                        </a:spcBef>
                        <a:spcAft>
                          <a:spcPts val="0"/>
                        </a:spcAft>
                        <a:buNone/>
                      </a:pPr>
                      <a:r>
                        <a:t/>
                      </a:r>
                      <a:endParaRPr sz="1300"/>
                    </a:p>
                  </a:txBody>
                  <a:tcPr marT="91425" marB="91425" marR="91425" marL="91425">
                    <a:lnT cap="flat" cmpd="sng" w="9525">
                      <a:solidFill>
                        <a:srgbClr val="9E9E9E"/>
                      </a:solidFill>
                      <a:prstDash val="solid"/>
                      <a:round/>
                      <a:headEnd len="sm" w="sm" type="none"/>
                      <a:tailEnd len="sm" w="sm" type="none"/>
                    </a:lnT>
                  </a:tcPr>
                </a:tc>
              </a:tr>
              <a:tr h="396825">
                <a:tc>
                  <a:txBody>
                    <a:bodyPr/>
                    <a:lstStyle/>
                    <a:p>
                      <a:pPr indent="0" lvl="0" marL="0" rtl="0" algn="l">
                        <a:spcBef>
                          <a:spcPts val="0"/>
                        </a:spcBef>
                        <a:spcAft>
                          <a:spcPts val="0"/>
                        </a:spcAft>
                        <a:buNone/>
                      </a:pPr>
                      <a:r>
                        <a:rPr b="1" lang="en-GB" sz="1300"/>
                        <a:t>Test Preparation</a:t>
                      </a:r>
                      <a:endParaRPr b="1" sz="1300"/>
                    </a:p>
                  </a:txBody>
                  <a:tcPr marT="91425" marB="91425" marR="91425" marL="91425">
                    <a:solidFill>
                      <a:srgbClr val="CFE2F3"/>
                    </a:solidFill>
                  </a:tcPr>
                </a:tc>
                <a:tc>
                  <a:txBody>
                    <a:bodyPr/>
                    <a:lstStyle/>
                    <a:p>
                      <a:pPr indent="0" lvl="0" marL="0" rtl="0" algn="l">
                        <a:spcBef>
                          <a:spcPts val="0"/>
                        </a:spcBef>
                        <a:spcAft>
                          <a:spcPts val="0"/>
                        </a:spcAft>
                        <a:buNone/>
                      </a:pPr>
                      <a:r>
                        <a:rPr lang="en-GB" sz="1300"/>
                        <a:t>None </a:t>
                      </a:r>
                      <a:endParaRPr sz="1300"/>
                    </a:p>
                  </a:txBody>
                  <a:tcPr marT="91425" marB="91425" marR="91425" marL="91425"/>
                </a:tc>
                <a:tc>
                  <a:txBody>
                    <a:bodyPr/>
                    <a:lstStyle/>
                    <a:p>
                      <a:pPr indent="0" lvl="0" marL="0" rtl="0" algn="l">
                        <a:spcBef>
                          <a:spcPts val="0"/>
                        </a:spcBef>
                        <a:spcAft>
                          <a:spcPts val="0"/>
                        </a:spcAft>
                        <a:buNone/>
                      </a:pPr>
                      <a:r>
                        <a:rPr lang="en-GB" sz="1300"/>
                        <a:t>Completed </a:t>
                      </a:r>
                      <a:endParaRPr sz="1300"/>
                    </a:p>
                  </a:txBody>
                  <a:tcPr marT="91425" marB="91425" marR="91425" marL="91425"/>
                </a:tc>
                <a:tc>
                  <a:txBody>
                    <a:bodyPr/>
                    <a:lstStyle/>
                    <a:p>
                      <a:pPr indent="0" lvl="0" marL="0" rtl="0" algn="l">
                        <a:spcBef>
                          <a:spcPts val="0"/>
                        </a:spcBef>
                        <a:spcAft>
                          <a:spcPts val="0"/>
                        </a:spcAft>
                        <a:buNone/>
                      </a:pPr>
                      <a:r>
                        <a:t/>
                      </a:r>
                      <a:endParaRPr sz="1300"/>
                    </a:p>
                  </a:txBody>
                  <a:tcPr marT="91425" marB="91425" marR="91425" marL="91425"/>
                </a:tc>
                <a:tc>
                  <a:txBody>
                    <a:bodyPr/>
                    <a:lstStyle/>
                    <a:p>
                      <a:pPr indent="0" lvl="0" marL="0" rtl="0" algn="l">
                        <a:spcBef>
                          <a:spcPts val="0"/>
                        </a:spcBef>
                        <a:spcAft>
                          <a:spcPts val="0"/>
                        </a:spcAft>
                        <a:buNone/>
                      </a:pPr>
                      <a:r>
                        <a:t/>
                      </a:r>
                      <a:endParaRPr sz="1300"/>
                    </a:p>
                  </a:txBody>
                  <a:tcPr marT="91425" marB="91425" marR="91425" marL="91425"/>
                </a:tc>
                <a:tc>
                  <a:txBody>
                    <a:bodyPr/>
                    <a:lstStyle/>
                    <a:p>
                      <a:pPr indent="0" lvl="0" marL="0" rtl="0" algn="l">
                        <a:spcBef>
                          <a:spcPts val="0"/>
                        </a:spcBef>
                        <a:spcAft>
                          <a:spcPts val="0"/>
                        </a:spcAft>
                        <a:buNone/>
                      </a:pPr>
                      <a:r>
                        <a:t/>
                      </a:r>
                      <a:endParaRPr sz="1300"/>
                    </a:p>
                  </a:txBody>
                  <a:tcPr marT="91425" marB="91425" marR="91425" marL="91425"/>
                </a:tc>
                <a:tc>
                  <a:txBody>
                    <a:bodyPr/>
                    <a:lstStyle/>
                    <a:p>
                      <a:pPr indent="0" lvl="0" marL="0" rtl="0" algn="l">
                        <a:spcBef>
                          <a:spcPts val="0"/>
                        </a:spcBef>
                        <a:spcAft>
                          <a:spcPts val="0"/>
                        </a:spcAft>
                        <a:buNone/>
                      </a:pPr>
                      <a:r>
                        <a:t/>
                      </a:r>
                      <a:endParaRPr sz="1300"/>
                    </a:p>
                  </a:txBody>
                  <a:tcPr marT="91425" marB="91425" marR="91425" marL="91425"/>
                </a:tc>
                <a:tc>
                  <a:txBody>
                    <a:bodyPr/>
                    <a:lstStyle/>
                    <a:p>
                      <a:pPr indent="0" lvl="0" marL="0" rtl="0" algn="l">
                        <a:spcBef>
                          <a:spcPts val="0"/>
                        </a:spcBef>
                        <a:spcAft>
                          <a:spcPts val="0"/>
                        </a:spcAft>
                        <a:buNone/>
                      </a:pPr>
                      <a:r>
                        <a:t/>
                      </a:r>
                      <a:endParaRPr sz="1300"/>
                    </a:p>
                  </a:txBody>
                  <a:tcPr marT="91425" marB="91425" marR="91425" marL="91425"/>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sp>
        <p:nvSpPr>
          <p:cNvPr descr="Image" id="156" name="Google Shape;156;p10"/>
          <p:cNvSpPr/>
          <p:nvPr/>
        </p:nvSpPr>
        <p:spPr>
          <a:xfrm>
            <a:off x="1248697" y="3276599"/>
            <a:ext cx="4999703" cy="4999703"/>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pic>
        <p:nvPicPr>
          <p:cNvPr id="157" name="Google Shape;157;p10"/>
          <p:cNvPicPr preferRelativeResize="0"/>
          <p:nvPr/>
        </p:nvPicPr>
        <p:blipFill rotWithShape="1">
          <a:blip r:embed="rId3">
            <a:alphaModFix/>
          </a:blip>
          <a:srcRect b="0" l="0" r="0" t="0"/>
          <a:stretch/>
        </p:blipFill>
        <p:spPr>
          <a:xfrm>
            <a:off x="438148" y="3003843"/>
            <a:ext cx="5810250" cy="4038600"/>
          </a:xfrm>
          <a:prstGeom prst="rect">
            <a:avLst/>
          </a:prstGeom>
          <a:noFill/>
          <a:ln>
            <a:noFill/>
          </a:ln>
        </p:spPr>
      </p:pic>
      <p:pic>
        <p:nvPicPr>
          <p:cNvPr id="158" name="Google Shape;158;p10"/>
          <p:cNvPicPr preferRelativeResize="0"/>
          <p:nvPr/>
        </p:nvPicPr>
        <p:blipFill rotWithShape="1">
          <a:blip r:embed="rId4">
            <a:alphaModFix/>
          </a:blip>
          <a:srcRect b="0" l="0" r="0" t="0"/>
          <a:stretch/>
        </p:blipFill>
        <p:spPr>
          <a:xfrm>
            <a:off x="6054153" y="3125533"/>
            <a:ext cx="5413722" cy="3795251"/>
          </a:xfrm>
          <a:prstGeom prst="rect">
            <a:avLst/>
          </a:prstGeom>
          <a:noFill/>
          <a:ln>
            <a:noFill/>
          </a:ln>
        </p:spPr>
      </p:pic>
      <p:sp>
        <p:nvSpPr>
          <p:cNvPr id="159" name="Google Shape;159;p10"/>
          <p:cNvSpPr txBox="1"/>
          <p:nvPr>
            <p:ph type="title"/>
          </p:nvPr>
        </p:nvSpPr>
        <p:spPr>
          <a:xfrm>
            <a:off x="781200" y="353725"/>
            <a:ext cx="11275800" cy="1005600"/>
          </a:xfrm>
          <a:prstGeom prst="rect">
            <a:avLst/>
          </a:prstGeom>
          <a:noFill/>
          <a:ln>
            <a:noFill/>
          </a:ln>
        </p:spPr>
        <p:txBody>
          <a:bodyPr anchorCtr="0" anchor="ctr" bIns="45700" lIns="91425" spcFirstLastPara="1" rIns="91425" wrap="square" tIns="45700">
            <a:normAutofit fontScale="90000"/>
          </a:bodyPr>
          <a:lstStyle/>
          <a:p>
            <a:pPr indent="0" lvl="0" marL="0" rtl="0" algn="l">
              <a:lnSpc>
                <a:spcPct val="90000"/>
              </a:lnSpc>
              <a:spcBef>
                <a:spcPts val="0"/>
              </a:spcBef>
              <a:spcAft>
                <a:spcPts val="0"/>
              </a:spcAft>
              <a:buClr>
                <a:schemeClr val="dk1"/>
              </a:buClr>
              <a:buSzPct val="100000"/>
              <a:buFont typeface="Play"/>
              <a:buNone/>
            </a:pPr>
            <a:r>
              <a:rPr lang="en-GB"/>
              <a:t>Classification of scores (maths, writing, reading):</a:t>
            </a:r>
            <a:endParaRPr/>
          </a:p>
        </p:txBody>
      </p:sp>
      <p:sp>
        <p:nvSpPr>
          <p:cNvPr id="160" name="Google Shape;160;p10"/>
          <p:cNvSpPr txBox="1"/>
          <p:nvPr/>
        </p:nvSpPr>
        <p:spPr>
          <a:xfrm>
            <a:off x="781200" y="1212425"/>
            <a:ext cx="10629600" cy="1913100"/>
          </a:xfrm>
          <a:prstGeom prst="rect">
            <a:avLst/>
          </a:prstGeom>
          <a:noFill/>
          <a:ln>
            <a:noFill/>
          </a:ln>
        </p:spPr>
        <p:txBody>
          <a:bodyPr anchorCtr="0" anchor="t" bIns="45700" lIns="91425" spcFirstLastPara="1" rIns="91425" wrap="square" tIns="45700">
            <a:spAutoFit/>
          </a:bodyPr>
          <a:lstStyle/>
          <a:p>
            <a:pPr indent="0" lvl="0" marL="0" rtl="0" algn="l">
              <a:lnSpc>
                <a:spcPct val="115000"/>
              </a:lnSpc>
              <a:spcBef>
                <a:spcPts val="1200"/>
              </a:spcBef>
              <a:spcAft>
                <a:spcPts val="0"/>
              </a:spcAft>
              <a:buNone/>
            </a:pPr>
            <a:r>
              <a:rPr lang="en-GB" sz="1800">
                <a:solidFill>
                  <a:schemeClr val="dk1"/>
                </a:solidFill>
              </a:rPr>
              <a:t>We examined the distribution of scores across all three subjects. The charts below illustrate that the score patterns are consistent across all subjects, which enabled us to apply a unified banding scheme for ease of analysis and reporting:</a:t>
            </a:r>
            <a:endParaRPr sz="1800">
              <a:solidFill>
                <a:schemeClr val="dk1"/>
              </a:solidFill>
            </a:endParaRPr>
          </a:p>
          <a:p>
            <a:pPr indent="-317500" lvl="0" marL="457200" rtl="0" algn="l">
              <a:lnSpc>
                <a:spcPct val="115000"/>
              </a:lnSpc>
              <a:spcBef>
                <a:spcPts val="1200"/>
              </a:spcBef>
              <a:spcAft>
                <a:spcPts val="0"/>
              </a:spcAft>
              <a:buClr>
                <a:schemeClr val="dk1"/>
              </a:buClr>
              <a:buSzPts val="1400"/>
              <a:buChar char="●"/>
            </a:pPr>
            <a:r>
              <a:rPr b="1" lang="en-GB">
                <a:solidFill>
                  <a:schemeClr val="dk1"/>
                </a:solidFill>
              </a:rPr>
              <a:t>0 (Low):</a:t>
            </a:r>
            <a:r>
              <a:rPr lang="en-GB">
                <a:solidFill>
                  <a:schemeClr val="dk1"/>
                </a:solidFill>
              </a:rPr>
              <a:t> Scores up to 60</a:t>
            </a: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b="1" lang="en-GB">
                <a:solidFill>
                  <a:schemeClr val="dk1"/>
                </a:solidFill>
              </a:rPr>
              <a:t>1 (Medium):</a:t>
            </a:r>
            <a:r>
              <a:rPr lang="en-GB">
                <a:solidFill>
                  <a:schemeClr val="dk1"/>
                </a:solidFill>
              </a:rPr>
              <a:t> Scores between 61 and 75</a:t>
            </a: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b="1" lang="en-GB">
                <a:solidFill>
                  <a:schemeClr val="dk1"/>
                </a:solidFill>
              </a:rPr>
              <a:t>2 (High):</a:t>
            </a:r>
            <a:r>
              <a:rPr lang="en-GB">
                <a:solidFill>
                  <a:schemeClr val="dk1"/>
                </a:solidFill>
              </a:rPr>
              <a:t> Scores of 76 and above</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descr="Image" id="165" name="Google Shape;165;p6"/>
          <p:cNvSpPr/>
          <p:nvPr/>
        </p:nvSpPr>
        <p:spPr>
          <a:xfrm>
            <a:off x="5943600" y="3276600"/>
            <a:ext cx="304800" cy="30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descr="Image" id="166" name="Google Shape;166;p6"/>
          <p:cNvSpPr/>
          <p:nvPr/>
        </p:nvSpPr>
        <p:spPr>
          <a:xfrm>
            <a:off x="6096000" y="3429000"/>
            <a:ext cx="304800" cy="30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descr="Image" id="167" name="Google Shape;167;p6"/>
          <p:cNvSpPr/>
          <p:nvPr/>
        </p:nvSpPr>
        <p:spPr>
          <a:xfrm>
            <a:off x="6248400" y="3581400"/>
            <a:ext cx="304800" cy="30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descr="Image" id="168" name="Google Shape;168;p6"/>
          <p:cNvSpPr/>
          <p:nvPr/>
        </p:nvSpPr>
        <p:spPr>
          <a:xfrm>
            <a:off x="6400800" y="3733800"/>
            <a:ext cx="304800" cy="3048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169" name="Google Shape;169;p6"/>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GB"/>
              <a:t>Correlation of scores and features:</a:t>
            </a:r>
            <a:endParaRPr/>
          </a:p>
        </p:txBody>
      </p:sp>
      <p:sp>
        <p:nvSpPr>
          <p:cNvPr id="170" name="Google Shape;170;p6"/>
          <p:cNvSpPr txBox="1"/>
          <p:nvPr/>
        </p:nvSpPr>
        <p:spPr>
          <a:xfrm>
            <a:off x="838202" y="1387825"/>
            <a:ext cx="10515600" cy="1139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GB" sz="1700">
                <a:solidFill>
                  <a:schemeClr val="dk1"/>
                </a:solidFill>
              </a:rPr>
              <a:t>The correlations between key variables and exam scores were examined. Across all three exam subjects, the relationships with demographic features were weak (correlation coefficients &lt; 0.5). In contrast, correlations among the exam scores themselves were strong, with the highest observed between reading and writing (r ≈ 0.95).</a:t>
            </a:r>
            <a:endParaRPr b="1" sz="1300"/>
          </a:p>
        </p:txBody>
      </p:sp>
      <p:pic>
        <p:nvPicPr>
          <p:cNvPr id="171" name="Google Shape;171;p6"/>
          <p:cNvPicPr preferRelativeResize="0"/>
          <p:nvPr/>
        </p:nvPicPr>
        <p:blipFill rotWithShape="1">
          <a:blip r:embed="rId3">
            <a:alphaModFix/>
          </a:blip>
          <a:srcRect b="0" l="0" r="0" t="4012"/>
          <a:stretch/>
        </p:blipFill>
        <p:spPr>
          <a:xfrm>
            <a:off x="177250" y="2416425"/>
            <a:ext cx="5252000" cy="4344225"/>
          </a:xfrm>
          <a:prstGeom prst="rect">
            <a:avLst/>
          </a:prstGeom>
          <a:noFill/>
          <a:ln>
            <a:noFill/>
          </a:ln>
        </p:spPr>
      </p:pic>
      <p:sp>
        <p:nvSpPr>
          <p:cNvPr id="172" name="Google Shape;172;p6"/>
          <p:cNvSpPr/>
          <p:nvPr/>
        </p:nvSpPr>
        <p:spPr>
          <a:xfrm>
            <a:off x="3618600" y="6290450"/>
            <a:ext cx="2629800" cy="304800"/>
          </a:xfrm>
          <a:prstGeom prst="rightArrow">
            <a:avLst>
              <a:gd fmla="val 50000" name="adj1"/>
              <a:gd fmla="val 50000" name="adj2"/>
            </a:avLst>
          </a:prstGeom>
          <a:solidFill>
            <a:srgbClr val="9FC5E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173" name="Google Shape;173;p6"/>
          <p:cNvPicPr preferRelativeResize="0"/>
          <p:nvPr/>
        </p:nvPicPr>
        <p:blipFill rotWithShape="1">
          <a:blip r:embed="rId4">
            <a:alphaModFix/>
          </a:blip>
          <a:srcRect b="0" l="0" r="0" t="3044"/>
          <a:stretch/>
        </p:blipFill>
        <p:spPr>
          <a:xfrm>
            <a:off x="6553200" y="2526925"/>
            <a:ext cx="4694575" cy="389837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 name="Shape 177"/>
        <p:cNvGrpSpPr/>
        <p:nvPr/>
      </p:nvGrpSpPr>
      <p:grpSpPr>
        <a:xfrm>
          <a:off x="0" y="0"/>
          <a:ext cx="0" cy="0"/>
          <a:chOff x="0" y="0"/>
          <a:chExt cx="0" cy="0"/>
        </a:xfrm>
      </p:grpSpPr>
      <p:sp>
        <p:nvSpPr>
          <p:cNvPr id="178" name="Google Shape;178;g3abc35d3d02_2_0"/>
          <p:cNvSpPr txBox="1"/>
          <p:nvPr>
            <p:ph type="title"/>
          </p:nvPr>
        </p:nvSpPr>
        <p:spPr>
          <a:xfrm>
            <a:off x="838200" y="365125"/>
            <a:ext cx="10515600" cy="1325700"/>
          </a:xfrm>
          <a:prstGeom prst="rect">
            <a:avLst/>
          </a:prstGeom>
        </p:spPr>
        <p:txBody>
          <a:bodyPr anchorCtr="0" anchor="ctr" bIns="45700" lIns="91425" spcFirstLastPara="1" rIns="91425" wrap="square" tIns="45700">
            <a:normAutofit/>
          </a:bodyPr>
          <a:lstStyle/>
          <a:p>
            <a:pPr indent="0" lvl="0" marL="0" rtl="0" algn="l">
              <a:spcBef>
                <a:spcPts val="0"/>
              </a:spcBef>
              <a:spcAft>
                <a:spcPts val="0"/>
              </a:spcAft>
              <a:buNone/>
            </a:pPr>
            <a:r>
              <a:rPr lang="en-GB"/>
              <a:t>Prediction vs Actual Plot:</a:t>
            </a:r>
            <a:endParaRPr/>
          </a:p>
        </p:txBody>
      </p:sp>
      <p:pic>
        <p:nvPicPr>
          <p:cNvPr id="179" name="Google Shape;179;g3abc35d3d02_2_0"/>
          <p:cNvPicPr preferRelativeResize="0"/>
          <p:nvPr/>
        </p:nvPicPr>
        <p:blipFill>
          <a:blip r:embed="rId3">
            <a:alphaModFix/>
          </a:blip>
          <a:stretch>
            <a:fillRect/>
          </a:stretch>
        </p:blipFill>
        <p:spPr>
          <a:xfrm>
            <a:off x="653625" y="1474375"/>
            <a:ext cx="6906249" cy="5167175"/>
          </a:xfrm>
          <a:prstGeom prst="rect">
            <a:avLst/>
          </a:prstGeom>
          <a:noFill/>
          <a:ln>
            <a:noFill/>
          </a:ln>
        </p:spPr>
      </p:pic>
      <p:sp>
        <p:nvSpPr>
          <p:cNvPr id="180" name="Google Shape;180;g3abc35d3d02_2_0"/>
          <p:cNvSpPr txBox="1"/>
          <p:nvPr/>
        </p:nvSpPr>
        <p:spPr>
          <a:xfrm>
            <a:off x="7614225" y="2826850"/>
            <a:ext cx="4203600" cy="1569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sz="1800">
                <a:solidFill>
                  <a:schemeClr val="dk1"/>
                </a:solidFill>
              </a:rPr>
              <a:t>This plot compares original writing scores with model predictions, showing how closely the regression model tracks the true values when academic features are included.</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4" name="Shape 184"/>
        <p:cNvGrpSpPr/>
        <p:nvPr/>
      </p:nvGrpSpPr>
      <p:grpSpPr>
        <a:xfrm>
          <a:off x="0" y="0"/>
          <a:ext cx="0" cy="0"/>
          <a:chOff x="0" y="0"/>
          <a:chExt cx="0" cy="0"/>
        </a:xfrm>
      </p:grpSpPr>
      <p:sp>
        <p:nvSpPr>
          <p:cNvPr id="185" name="Google Shape;185;p12"/>
          <p:cNvSpPr txBox="1"/>
          <p:nvPr>
            <p:ph type="title"/>
          </p:nvPr>
        </p:nvSpPr>
        <p:spPr>
          <a:xfrm>
            <a:off x="838200" y="365125"/>
            <a:ext cx="11817600" cy="13257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GB"/>
              <a:t>Predictive modelling- Review and analysis:</a:t>
            </a:r>
            <a:endParaRPr/>
          </a:p>
        </p:txBody>
      </p:sp>
      <p:sp>
        <p:nvSpPr>
          <p:cNvPr id="186" name="Google Shape;186;p12"/>
          <p:cNvSpPr txBox="1"/>
          <p:nvPr/>
        </p:nvSpPr>
        <p:spPr>
          <a:xfrm>
            <a:off x="977350" y="1623400"/>
            <a:ext cx="6626100" cy="84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800">
                <a:solidFill>
                  <a:schemeClr val="dk1"/>
                </a:solidFill>
              </a:rPr>
              <a:t>Methodology</a:t>
            </a:r>
            <a:r>
              <a:rPr lang="en-GB" sz="2800">
                <a:solidFill>
                  <a:schemeClr val="dk1"/>
                </a:solidFill>
              </a:rPr>
              <a:t> and </a:t>
            </a:r>
            <a:r>
              <a:rPr lang="en-GB" sz="2800">
                <a:solidFill>
                  <a:schemeClr val="dk1"/>
                </a:solidFill>
              </a:rPr>
              <a:t>approach</a:t>
            </a:r>
            <a:r>
              <a:rPr lang="en-GB" sz="2800">
                <a:solidFill>
                  <a:schemeClr val="dk1"/>
                </a:solidFill>
              </a:rPr>
              <a:t> </a:t>
            </a:r>
            <a:endParaRPr sz="2800">
              <a:solidFill>
                <a:schemeClr val="dk1"/>
              </a:solidFill>
            </a:endParaRPr>
          </a:p>
        </p:txBody>
      </p:sp>
      <p:sp>
        <p:nvSpPr>
          <p:cNvPr id="187" name="Google Shape;187;p12"/>
          <p:cNvSpPr txBox="1"/>
          <p:nvPr/>
        </p:nvSpPr>
        <p:spPr>
          <a:xfrm>
            <a:off x="7263717" y="1623400"/>
            <a:ext cx="5301000" cy="84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800">
                <a:solidFill>
                  <a:schemeClr val="dk1"/>
                </a:solidFill>
              </a:rPr>
              <a:t>Feature </a:t>
            </a:r>
            <a:r>
              <a:rPr lang="en-GB" sz="2800">
                <a:solidFill>
                  <a:schemeClr val="dk1"/>
                </a:solidFill>
              </a:rPr>
              <a:t>importance</a:t>
            </a:r>
            <a:endParaRPr sz="2800">
              <a:solidFill>
                <a:schemeClr val="dk1"/>
              </a:solidFill>
            </a:endParaRPr>
          </a:p>
        </p:txBody>
      </p:sp>
      <p:pic>
        <p:nvPicPr>
          <p:cNvPr id="188" name="Google Shape;188;p12"/>
          <p:cNvPicPr preferRelativeResize="0"/>
          <p:nvPr/>
        </p:nvPicPr>
        <p:blipFill rotWithShape="1">
          <a:blip r:embed="rId3">
            <a:alphaModFix/>
          </a:blip>
          <a:srcRect b="3164" l="5138" r="10756" t="7429"/>
          <a:stretch/>
        </p:blipFill>
        <p:spPr>
          <a:xfrm>
            <a:off x="7479200" y="2178325"/>
            <a:ext cx="3768575" cy="4266725"/>
          </a:xfrm>
          <a:prstGeom prst="rect">
            <a:avLst/>
          </a:prstGeom>
          <a:noFill/>
          <a:ln>
            <a:noFill/>
          </a:ln>
        </p:spPr>
      </p:pic>
      <p:sp>
        <p:nvSpPr>
          <p:cNvPr id="189" name="Google Shape;189;p12"/>
          <p:cNvSpPr txBox="1"/>
          <p:nvPr/>
        </p:nvSpPr>
        <p:spPr>
          <a:xfrm>
            <a:off x="656475" y="2268025"/>
            <a:ext cx="5745900" cy="4449300"/>
          </a:xfrm>
          <a:prstGeom prst="rect">
            <a:avLst/>
          </a:prstGeom>
          <a:noFill/>
          <a:ln>
            <a:noFill/>
          </a:ln>
        </p:spPr>
        <p:txBody>
          <a:bodyPr anchorCtr="0" anchor="t" bIns="91425" lIns="91425" spcFirstLastPara="1" rIns="91425" wrap="square" tIns="91425">
            <a:noAutofit/>
          </a:bodyPr>
          <a:lstStyle/>
          <a:p>
            <a:pPr indent="-342900" lvl="0" marL="457200" rtl="0" algn="l">
              <a:spcBef>
                <a:spcPts val="0"/>
              </a:spcBef>
              <a:spcAft>
                <a:spcPts val="0"/>
              </a:spcAft>
              <a:buClr>
                <a:schemeClr val="dk1"/>
              </a:buClr>
              <a:buSzPts val="1800"/>
              <a:buAutoNum type="arabicPeriod"/>
            </a:pPr>
            <a:r>
              <a:rPr lang="en-GB" sz="1800">
                <a:solidFill>
                  <a:schemeClr val="dk1"/>
                </a:solidFill>
              </a:rPr>
              <a:t>We selected the Random Forest model for its strong accuracy. </a:t>
            </a:r>
            <a:endParaRPr sz="1800">
              <a:solidFill>
                <a:schemeClr val="dk1"/>
              </a:solidFill>
            </a:endParaRPr>
          </a:p>
          <a:p>
            <a:pPr indent="-342900" lvl="0" marL="457200" rtl="0" algn="l">
              <a:spcBef>
                <a:spcPts val="0"/>
              </a:spcBef>
              <a:spcAft>
                <a:spcPts val="0"/>
              </a:spcAft>
              <a:buClr>
                <a:schemeClr val="dk1"/>
              </a:buClr>
              <a:buSzPts val="1800"/>
              <a:buAutoNum type="arabicPeriod"/>
            </a:pPr>
            <a:r>
              <a:rPr lang="en-GB" sz="1800">
                <a:solidFill>
                  <a:schemeClr val="dk1"/>
                </a:solidFill>
              </a:rPr>
              <a:t>Banded scores were analyzed with classification, while raw scores used regression.</a:t>
            </a:r>
            <a:endParaRPr sz="1800">
              <a:solidFill>
                <a:schemeClr val="dk1"/>
              </a:solidFill>
            </a:endParaRPr>
          </a:p>
          <a:p>
            <a:pPr indent="-342900" lvl="0" marL="457200" rtl="0" algn="l">
              <a:spcBef>
                <a:spcPts val="0"/>
              </a:spcBef>
              <a:spcAft>
                <a:spcPts val="0"/>
              </a:spcAft>
              <a:buClr>
                <a:schemeClr val="dk1"/>
              </a:buClr>
              <a:buSzPts val="1800"/>
              <a:buAutoNum type="arabicPeriod"/>
            </a:pPr>
            <a:r>
              <a:rPr lang="en-GB" sz="1800">
                <a:solidFill>
                  <a:schemeClr val="dk1"/>
                </a:solidFill>
              </a:rPr>
              <a:t> Data was split 80/20 for training and testing. Model performance was evaluated using confusion matrices, feature importance, and error metrics. </a:t>
            </a:r>
            <a:endParaRPr sz="1800">
              <a:solidFill>
                <a:schemeClr val="dk1"/>
              </a:solidFill>
            </a:endParaRPr>
          </a:p>
          <a:p>
            <a:pPr indent="-342900" lvl="0" marL="457200" rtl="0" algn="l">
              <a:spcBef>
                <a:spcPts val="0"/>
              </a:spcBef>
              <a:spcAft>
                <a:spcPts val="0"/>
              </a:spcAft>
              <a:buClr>
                <a:schemeClr val="dk1"/>
              </a:buClr>
              <a:buSzPts val="1800"/>
              <a:buAutoNum type="arabicPeriod"/>
            </a:pPr>
            <a:r>
              <a:rPr lang="en-GB" sz="1800">
                <a:solidFill>
                  <a:schemeClr val="dk1"/>
                </a:solidFill>
              </a:rPr>
              <a:t>Features were refined through elimination and iteration, and results were plotted for comparison.</a:t>
            </a:r>
            <a:endParaRPr sz="1800">
              <a:solidFill>
                <a:schemeClr val="dk1"/>
              </a:solidFill>
            </a:endParaRPr>
          </a:p>
        </p:txBody>
      </p:sp>
      <p:sp>
        <p:nvSpPr>
          <p:cNvPr id="190" name="Google Shape;190;p12"/>
          <p:cNvSpPr/>
          <p:nvPr/>
        </p:nvSpPr>
        <p:spPr>
          <a:xfrm rot="-1177234">
            <a:off x="6171534" y="5436509"/>
            <a:ext cx="1494686" cy="459644"/>
          </a:xfrm>
          <a:prstGeom prst="rightArrow">
            <a:avLst>
              <a:gd fmla="val 50000" name="adj1"/>
              <a:gd fmla="val 50000" name="adj2"/>
            </a:avLst>
          </a:prstGeom>
          <a:solidFill>
            <a:srgbClr val="CFE2F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91" name="Google Shape;191;p12"/>
          <p:cNvSpPr txBox="1"/>
          <p:nvPr/>
        </p:nvSpPr>
        <p:spPr>
          <a:xfrm>
            <a:off x="273325" y="5826825"/>
            <a:ext cx="6212100" cy="745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i="1" lang="en-GB" sz="1900">
                <a:solidFill>
                  <a:schemeClr val="dk1"/>
                </a:solidFill>
              </a:rPr>
              <a:t>Example graph: maths banded prediction shows top 3 features are reading score, </a:t>
            </a:r>
            <a:r>
              <a:rPr i="1" lang="en-GB" sz="1900">
                <a:solidFill>
                  <a:schemeClr val="dk1"/>
                </a:solidFill>
              </a:rPr>
              <a:t>writing</a:t>
            </a:r>
            <a:r>
              <a:rPr i="1" lang="en-GB" sz="1900">
                <a:solidFill>
                  <a:schemeClr val="dk1"/>
                </a:solidFill>
              </a:rPr>
              <a:t> score and gender</a:t>
            </a:r>
            <a:endParaRPr i="1" sz="1900">
              <a:solidFill>
                <a:schemeClr val="dk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 name="Shape 195"/>
        <p:cNvGrpSpPr/>
        <p:nvPr/>
      </p:nvGrpSpPr>
      <p:grpSpPr>
        <a:xfrm>
          <a:off x="0" y="0"/>
          <a:ext cx="0" cy="0"/>
          <a:chOff x="0" y="0"/>
          <a:chExt cx="0" cy="0"/>
        </a:xfrm>
      </p:grpSpPr>
      <p:sp>
        <p:nvSpPr>
          <p:cNvPr id="196" name="Google Shape;196;g3aac199a391_0_1"/>
          <p:cNvSpPr txBox="1"/>
          <p:nvPr>
            <p:ph type="title"/>
          </p:nvPr>
        </p:nvSpPr>
        <p:spPr>
          <a:xfrm>
            <a:off x="838200" y="365125"/>
            <a:ext cx="11817600" cy="13257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GB"/>
              <a:t>Illustration: Banded Math Scores:</a:t>
            </a:r>
            <a:endParaRPr/>
          </a:p>
        </p:txBody>
      </p:sp>
      <p:pic>
        <p:nvPicPr>
          <p:cNvPr id="197" name="Google Shape;197;g3aac199a391_0_1"/>
          <p:cNvPicPr preferRelativeResize="0"/>
          <p:nvPr/>
        </p:nvPicPr>
        <p:blipFill>
          <a:blip r:embed="rId3">
            <a:alphaModFix/>
          </a:blip>
          <a:stretch>
            <a:fillRect/>
          </a:stretch>
        </p:blipFill>
        <p:spPr>
          <a:xfrm>
            <a:off x="967675" y="1915175"/>
            <a:ext cx="5981700" cy="4305300"/>
          </a:xfrm>
          <a:prstGeom prst="rect">
            <a:avLst/>
          </a:prstGeom>
          <a:noFill/>
          <a:ln>
            <a:noFill/>
          </a:ln>
        </p:spPr>
      </p:pic>
      <p:pic>
        <p:nvPicPr>
          <p:cNvPr id="198" name="Google Shape;198;g3aac199a391_0_1"/>
          <p:cNvPicPr preferRelativeResize="0"/>
          <p:nvPr/>
        </p:nvPicPr>
        <p:blipFill>
          <a:blip r:embed="rId4">
            <a:alphaModFix/>
          </a:blip>
          <a:stretch>
            <a:fillRect/>
          </a:stretch>
        </p:blipFill>
        <p:spPr>
          <a:xfrm>
            <a:off x="7269625" y="1690825"/>
            <a:ext cx="4524375" cy="2133600"/>
          </a:xfrm>
          <a:prstGeom prst="rect">
            <a:avLst/>
          </a:prstGeom>
          <a:noFill/>
          <a:ln>
            <a:noFill/>
          </a:ln>
        </p:spPr>
      </p:pic>
      <p:sp>
        <p:nvSpPr>
          <p:cNvPr id="199" name="Google Shape;199;g3aac199a391_0_1"/>
          <p:cNvSpPr txBox="1"/>
          <p:nvPr/>
        </p:nvSpPr>
        <p:spPr>
          <a:xfrm>
            <a:off x="967675" y="6220475"/>
            <a:ext cx="3788700" cy="455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GB" sz="2800">
                <a:solidFill>
                  <a:schemeClr val="dk1"/>
                </a:solidFill>
              </a:rPr>
              <a:t>Accuracy</a:t>
            </a:r>
            <a:r>
              <a:rPr lang="en-GB" sz="2800">
                <a:solidFill>
                  <a:schemeClr val="dk1"/>
                </a:solidFill>
              </a:rPr>
              <a:t> = 76.5%</a:t>
            </a:r>
            <a:endParaRPr sz="2800">
              <a:solidFill>
                <a:schemeClr val="dk1"/>
              </a:solidFill>
            </a:endParaRPr>
          </a:p>
        </p:txBody>
      </p:sp>
      <p:pic>
        <p:nvPicPr>
          <p:cNvPr id="200" name="Google Shape;200;g3aac199a391_0_1"/>
          <p:cNvPicPr preferRelativeResize="0"/>
          <p:nvPr/>
        </p:nvPicPr>
        <p:blipFill>
          <a:blip r:embed="rId5">
            <a:alphaModFix/>
          </a:blip>
          <a:stretch>
            <a:fillRect/>
          </a:stretch>
        </p:blipFill>
        <p:spPr>
          <a:xfrm>
            <a:off x="7245813" y="3976825"/>
            <a:ext cx="4572000" cy="208597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g3aaa7f7ca62_1_24"/>
          <p:cNvSpPr txBox="1"/>
          <p:nvPr>
            <p:ph type="title"/>
          </p:nvPr>
        </p:nvSpPr>
        <p:spPr>
          <a:xfrm>
            <a:off x="838200" y="365125"/>
            <a:ext cx="10515600" cy="1325700"/>
          </a:xfrm>
          <a:prstGeom prst="rect">
            <a:avLst/>
          </a:prstGeom>
        </p:spPr>
        <p:txBody>
          <a:bodyPr anchorCtr="0" anchor="ctr" bIns="45700" lIns="91425" spcFirstLastPara="1" rIns="91425" wrap="square" tIns="45700">
            <a:normAutofit/>
          </a:bodyPr>
          <a:lstStyle/>
          <a:p>
            <a:pPr indent="0" lvl="0" marL="0" rtl="0" algn="l">
              <a:spcBef>
                <a:spcPts val="0"/>
              </a:spcBef>
              <a:spcAft>
                <a:spcPts val="0"/>
              </a:spcAft>
              <a:buNone/>
            </a:pPr>
            <a:r>
              <a:rPr lang="en-GB"/>
              <a:t>Predictive model results:</a:t>
            </a:r>
            <a:endParaRPr/>
          </a:p>
        </p:txBody>
      </p:sp>
      <p:graphicFrame>
        <p:nvGraphicFramePr>
          <p:cNvPr id="206" name="Google Shape;206;g3aaa7f7ca62_1_24"/>
          <p:cNvGraphicFramePr/>
          <p:nvPr/>
        </p:nvGraphicFramePr>
        <p:xfrm>
          <a:off x="952500" y="2476500"/>
          <a:ext cx="3000000" cy="3000000"/>
        </p:xfrm>
        <a:graphic>
          <a:graphicData uri="http://schemas.openxmlformats.org/drawingml/2006/table">
            <a:tbl>
              <a:tblPr>
                <a:noFill/>
                <a:tableStyleId>{48205E3B-803B-47F0-A93E-CFBADB7F0A1F}</a:tableStyleId>
              </a:tblPr>
              <a:tblGrid>
                <a:gridCol w="5143500"/>
                <a:gridCol w="5143500"/>
              </a:tblGrid>
              <a:tr h="381000">
                <a:tc>
                  <a:txBody>
                    <a:bodyPr/>
                    <a:lstStyle/>
                    <a:p>
                      <a:pPr indent="0" lvl="0" marL="0" rtl="0" algn="l">
                        <a:spcBef>
                          <a:spcPts val="0"/>
                        </a:spcBef>
                        <a:spcAft>
                          <a:spcPts val="0"/>
                        </a:spcAft>
                        <a:buNone/>
                      </a:pPr>
                      <a:r>
                        <a:rPr lang="en-GB"/>
                        <a:t>Banded Maths</a:t>
                      </a:r>
                      <a:endParaRPr/>
                    </a:p>
                  </a:txBody>
                  <a:tcPr marT="91425" marB="91425" marR="91425" marL="91425"/>
                </a:tc>
                <a:tc>
                  <a:txBody>
                    <a:bodyPr/>
                    <a:lstStyle/>
                    <a:p>
                      <a:pPr indent="0" lvl="0" marL="0" rtl="0" algn="l">
                        <a:spcBef>
                          <a:spcPts val="0"/>
                        </a:spcBef>
                        <a:spcAft>
                          <a:spcPts val="0"/>
                        </a:spcAft>
                        <a:buNone/>
                      </a:pPr>
                      <a:r>
                        <a:rPr lang="en-GB"/>
                        <a:t>Accuracy</a:t>
                      </a:r>
                      <a:endParaRPr/>
                    </a:p>
                  </a:txBody>
                  <a:tcPr marT="91425" marB="91425" marR="91425" marL="91425"/>
                </a:tc>
              </a:tr>
              <a:tr h="381000">
                <a:tc>
                  <a:txBody>
                    <a:bodyPr/>
                    <a:lstStyle/>
                    <a:p>
                      <a:pPr indent="0" lvl="0" marL="0" rtl="0" algn="l">
                        <a:spcBef>
                          <a:spcPts val="0"/>
                        </a:spcBef>
                        <a:spcAft>
                          <a:spcPts val="0"/>
                        </a:spcAft>
                        <a:buNone/>
                      </a:pPr>
                      <a:r>
                        <a:rPr lang="en-GB"/>
                        <a:t>All 9 features</a:t>
                      </a:r>
                      <a:endParaRPr/>
                    </a:p>
                  </a:txBody>
                  <a:tcPr marT="91425" marB="91425" marR="91425" marL="91425"/>
                </a:tc>
                <a:tc>
                  <a:txBody>
                    <a:bodyPr/>
                    <a:lstStyle/>
                    <a:p>
                      <a:pPr indent="0" lvl="0" marL="0" rtl="0" algn="l">
                        <a:spcBef>
                          <a:spcPts val="0"/>
                        </a:spcBef>
                        <a:spcAft>
                          <a:spcPts val="0"/>
                        </a:spcAft>
                        <a:buNone/>
                      </a:pPr>
                      <a:r>
                        <a:rPr lang="en-GB"/>
                        <a:t>0.755</a:t>
                      </a:r>
                      <a:endParaRPr/>
                    </a:p>
                  </a:txBody>
                  <a:tcPr marT="91425" marB="91425" marR="91425" marL="91425"/>
                </a:tc>
              </a:tr>
              <a:tr h="381000">
                <a:tc>
                  <a:txBody>
                    <a:bodyPr/>
                    <a:lstStyle/>
                    <a:p>
                      <a:pPr indent="0" lvl="0" marL="0" rtl="0" algn="l">
                        <a:spcBef>
                          <a:spcPts val="0"/>
                        </a:spcBef>
                        <a:spcAft>
                          <a:spcPts val="0"/>
                        </a:spcAft>
                        <a:buNone/>
                      </a:pPr>
                      <a:r>
                        <a:rPr lang="en-GB"/>
                        <a:t>7 features (</a:t>
                      </a:r>
                      <a:r>
                        <a:rPr lang="en-GB"/>
                        <a:t>excluding banded reading and writing scores)</a:t>
                      </a:r>
                      <a:r>
                        <a:rPr lang="en-GB"/>
                        <a:t> </a:t>
                      </a:r>
                      <a:endParaRPr/>
                    </a:p>
                  </a:txBody>
                  <a:tcPr marT="91425" marB="91425" marR="91425" marL="91425"/>
                </a:tc>
                <a:tc>
                  <a:txBody>
                    <a:bodyPr/>
                    <a:lstStyle/>
                    <a:p>
                      <a:pPr indent="0" lvl="0" marL="0" rtl="0" algn="l">
                        <a:spcBef>
                          <a:spcPts val="0"/>
                        </a:spcBef>
                        <a:spcAft>
                          <a:spcPts val="0"/>
                        </a:spcAft>
                        <a:buNone/>
                      </a:pPr>
                      <a:r>
                        <a:rPr lang="en-GB"/>
                        <a:t>0.73</a:t>
                      </a:r>
                      <a:endParaRPr/>
                    </a:p>
                  </a:txBody>
                  <a:tcPr marT="91425" marB="91425" marR="91425" marL="91425"/>
                </a:tc>
              </a:tr>
              <a:tr h="381000">
                <a:tc>
                  <a:txBody>
                    <a:bodyPr/>
                    <a:lstStyle/>
                    <a:p>
                      <a:pPr indent="0" lvl="0" marL="0" rtl="0" algn="l">
                        <a:spcBef>
                          <a:spcPts val="0"/>
                        </a:spcBef>
                        <a:spcAft>
                          <a:spcPts val="0"/>
                        </a:spcAft>
                        <a:buClr>
                          <a:schemeClr val="dk1"/>
                        </a:buClr>
                        <a:buSzPts val="1100"/>
                        <a:buFont typeface="Arial"/>
                        <a:buNone/>
                      </a:pPr>
                      <a:r>
                        <a:rPr lang="en-GB">
                          <a:solidFill>
                            <a:schemeClr val="dk1"/>
                          </a:solidFill>
                        </a:rPr>
                        <a:t>7 features (excluding continuous reading and writing scores) </a:t>
                      </a:r>
                      <a:endParaRPr/>
                    </a:p>
                  </a:txBody>
                  <a:tcPr marT="91425" marB="91425" marR="91425" marL="91425"/>
                </a:tc>
                <a:tc>
                  <a:txBody>
                    <a:bodyPr/>
                    <a:lstStyle/>
                    <a:p>
                      <a:pPr indent="0" lvl="0" marL="0" rtl="0" algn="l">
                        <a:spcBef>
                          <a:spcPts val="0"/>
                        </a:spcBef>
                        <a:spcAft>
                          <a:spcPts val="0"/>
                        </a:spcAft>
                        <a:buNone/>
                      </a:pPr>
                      <a:r>
                        <a:rPr lang="en-GB"/>
                        <a:t>0.655</a:t>
                      </a:r>
                      <a:endParaRPr/>
                    </a:p>
                  </a:txBody>
                  <a:tcPr marT="91425" marB="91425" marR="91425" marL="91425"/>
                </a:tc>
              </a:tr>
              <a:tr h="381000">
                <a:tc>
                  <a:txBody>
                    <a:bodyPr/>
                    <a:lstStyle/>
                    <a:p>
                      <a:pPr indent="0" lvl="0" marL="0" rtl="0" algn="l">
                        <a:spcBef>
                          <a:spcPts val="0"/>
                        </a:spcBef>
                        <a:spcAft>
                          <a:spcPts val="0"/>
                        </a:spcAft>
                        <a:buNone/>
                      </a:pPr>
                      <a:r>
                        <a:rPr lang="en-GB"/>
                        <a:t>Top feature (reading score)</a:t>
                      </a:r>
                      <a:endParaRPr/>
                    </a:p>
                  </a:txBody>
                  <a:tcPr marT="91425" marB="91425" marR="91425" marL="91425"/>
                </a:tc>
                <a:tc>
                  <a:txBody>
                    <a:bodyPr/>
                    <a:lstStyle/>
                    <a:p>
                      <a:pPr indent="0" lvl="0" marL="0" rtl="0" algn="l">
                        <a:spcBef>
                          <a:spcPts val="0"/>
                        </a:spcBef>
                        <a:spcAft>
                          <a:spcPts val="0"/>
                        </a:spcAft>
                        <a:buNone/>
                      </a:pPr>
                      <a:r>
                        <a:rPr lang="en-GB"/>
                        <a:t>0.625</a:t>
                      </a:r>
                      <a:endParaRPr/>
                    </a:p>
                  </a:txBody>
                  <a:tcPr marT="91425" marB="91425" marR="91425" marL="91425"/>
                </a:tc>
              </a:tr>
              <a:tr h="381000">
                <a:tc>
                  <a:txBody>
                    <a:bodyPr/>
                    <a:lstStyle/>
                    <a:p>
                      <a:pPr indent="0" lvl="0" marL="0" rtl="0" algn="l">
                        <a:spcBef>
                          <a:spcPts val="0"/>
                        </a:spcBef>
                        <a:spcAft>
                          <a:spcPts val="0"/>
                        </a:spcAft>
                        <a:buNone/>
                      </a:pPr>
                      <a:r>
                        <a:rPr lang="en-GB"/>
                        <a:t>Top 2 features (reading and writing scores)</a:t>
                      </a:r>
                      <a:endParaRPr/>
                    </a:p>
                  </a:txBody>
                  <a:tcPr marT="91425" marB="91425" marR="91425" marL="91425"/>
                </a:tc>
                <a:tc>
                  <a:txBody>
                    <a:bodyPr/>
                    <a:lstStyle/>
                    <a:p>
                      <a:pPr indent="0" lvl="0" marL="0" rtl="0" algn="l">
                        <a:spcBef>
                          <a:spcPts val="0"/>
                        </a:spcBef>
                        <a:spcAft>
                          <a:spcPts val="0"/>
                        </a:spcAft>
                        <a:buNone/>
                      </a:pPr>
                      <a:r>
                        <a:rPr lang="en-GB"/>
                        <a:t>0.585</a:t>
                      </a:r>
                      <a:endParaRPr/>
                    </a:p>
                  </a:txBody>
                  <a:tcPr marT="91425" marB="91425" marR="91425" marL="91425"/>
                </a:tc>
              </a:tr>
              <a:tr h="417700">
                <a:tc>
                  <a:txBody>
                    <a:bodyPr/>
                    <a:lstStyle/>
                    <a:p>
                      <a:pPr indent="0" lvl="0" marL="0" rtl="0" algn="l">
                        <a:spcBef>
                          <a:spcPts val="0"/>
                        </a:spcBef>
                        <a:spcAft>
                          <a:spcPts val="0"/>
                        </a:spcAft>
                        <a:buNone/>
                      </a:pPr>
                      <a:r>
                        <a:rPr lang="en-GB"/>
                        <a:t>Top 3 features (</a:t>
                      </a:r>
                      <a:r>
                        <a:rPr lang="en-GB">
                          <a:solidFill>
                            <a:schemeClr val="dk1"/>
                          </a:solidFill>
                        </a:rPr>
                        <a:t>re</a:t>
                      </a:r>
                      <a:r>
                        <a:rPr lang="en-GB">
                          <a:solidFill>
                            <a:schemeClr val="dk1"/>
                          </a:solidFill>
                        </a:rPr>
                        <a:t>ading,  writing and gender scores)</a:t>
                      </a:r>
                      <a:endParaRPr/>
                    </a:p>
                  </a:txBody>
                  <a:tcPr marT="91425" marB="91425" marR="91425" marL="91425"/>
                </a:tc>
                <a:tc>
                  <a:txBody>
                    <a:bodyPr/>
                    <a:lstStyle/>
                    <a:p>
                      <a:pPr indent="0" lvl="0" marL="0" rtl="0" algn="l">
                        <a:spcBef>
                          <a:spcPts val="0"/>
                        </a:spcBef>
                        <a:spcAft>
                          <a:spcPts val="0"/>
                        </a:spcAft>
                        <a:buNone/>
                      </a:pPr>
                      <a:r>
                        <a:rPr lang="en-GB"/>
                        <a:t>0.745</a:t>
                      </a:r>
                      <a:endParaRPr/>
                    </a:p>
                  </a:txBody>
                  <a:tcPr marT="91425" marB="91425" marR="91425" marL="91425"/>
                </a:tc>
              </a:tr>
              <a:tr h="381000">
                <a:tc>
                  <a:txBody>
                    <a:bodyPr/>
                    <a:lstStyle/>
                    <a:p>
                      <a:pPr indent="0" lvl="0" marL="0" rtl="0" algn="l">
                        <a:spcBef>
                          <a:spcPts val="0"/>
                        </a:spcBef>
                        <a:spcAft>
                          <a:spcPts val="0"/>
                        </a:spcAft>
                        <a:buNone/>
                      </a:pPr>
                      <a:r>
                        <a:rPr lang="en-GB"/>
                        <a:t>5 demographic features (gender, </a:t>
                      </a:r>
                      <a:r>
                        <a:rPr lang="en-GB"/>
                        <a:t>parental</a:t>
                      </a:r>
                      <a:r>
                        <a:rPr lang="en-GB"/>
                        <a:t> level of </a:t>
                      </a:r>
                      <a:r>
                        <a:rPr lang="en-GB"/>
                        <a:t>education</a:t>
                      </a:r>
                      <a:r>
                        <a:rPr lang="en-GB"/>
                        <a:t>, race/ethnicity, lunch, test </a:t>
                      </a:r>
                      <a:r>
                        <a:rPr lang="en-GB"/>
                        <a:t>preparation</a:t>
                      </a:r>
                      <a:r>
                        <a:rPr lang="en-GB"/>
                        <a:t> course)</a:t>
                      </a:r>
                      <a:endParaRPr/>
                    </a:p>
                  </a:txBody>
                  <a:tcPr marT="91425" marB="91425" marR="91425" marL="91425"/>
                </a:tc>
                <a:tc>
                  <a:txBody>
                    <a:bodyPr/>
                    <a:lstStyle/>
                    <a:p>
                      <a:pPr indent="0" lvl="0" marL="0" rtl="0" algn="l">
                        <a:spcBef>
                          <a:spcPts val="0"/>
                        </a:spcBef>
                        <a:spcAft>
                          <a:spcPts val="0"/>
                        </a:spcAft>
                        <a:buNone/>
                      </a:pPr>
                      <a:r>
                        <a:rPr lang="en-GB"/>
                        <a:t>0.36</a:t>
                      </a:r>
                      <a:endParaRPr/>
                    </a:p>
                  </a:txBody>
                  <a:tcPr marT="91425" marB="91425" marR="91425" marL="91425"/>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 name="Shape 210"/>
        <p:cNvGrpSpPr/>
        <p:nvPr/>
      </p:nvGrpSpPr>
      <p:grpSpPr>
        <a:xfrm>
          <a:off x="0" y="0"/>
          <a:ext cx="0" cy="0"/>
          <a:chOff x="0" y="0"/>
          <a:chExt cx="0" cy="0"/>
        </a:xfrm>
      </p:grpSpPr>
      <p:sp>
        <p:nvSpPr>
          <p:cNvPr id="211" name="Google Shape;211;g3aac199a391_0_17"/>
          <p:cNvSpPr txBox="1"/>
          <p:nvPr>
            <p:ph type="title"/>
          </p:nvPr>
        </p:nvSpPr>
        <p:spPr>
          <a:xfrm>
            <a:off x="838200" y="365125"/>
            <a:ext cx="8336700" cy="13257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GB"/>
              <a:t>Banded Scores &amp; Demographics:</a:t>
            </a:r>
            <a:endParaRPr/>
          </a:p>
        </p:txBody>
      </p:sp>
      <p:graphicFrame>
        <p:nvGraphicFramePr>
          <p:cNvPr id="212" name="Google Shape;212;g3aac199a391_0_17"/>
          <p:cNvGraphicFramePr/>
          <p:nvPr/>
        </p:nvGraphicFramePr>
        <p:xfrm>
          <a:off x="952500" y="3597525"/>
          <a:ext cx="3000000" cy="3000000"/>
        </p:xfrm>
        <a:graphic>
          <a:graphicData uri="http://schemas.openxmlformats.org/drawingml/2006/table">
            <a:tbl>
              <a:tblPr>
                <a:noFill/>
                <a:tableStyleId>{48205E3B-803B-47F0-A93E-CFBADB7F0A1F}</a:tableStyleId>
              </a:tblPr>
              <a:tblGrid>
                <a:gridCol w="5143500"/>
                <a:gridCol w="5143500"/>
              </a:tblGrid>
              <a:tr h="381000">
                <a:tc>
                  <a:txBody>
                    <a:bodyPr/>
                    <a:lstStyle/>
                    <a:p>
                      <a:pPr indent="0" lvl="0" marL="0" rtl="0" algn="l">
                        <a:spcBef>
                          <a:spcPts val="0"/>
                        </a:spcBef>
                        <a:spcAft>
                          <a:spcPts val="0"/>
                        </a:spcAft>
                        <a:buNone/>
                      </a:pPr>
                      <a:r>
                        <a:rPr lang="en-GB"/>
                        <a:t>Banded Reading</a:t>
                      </a:r>
                      <a:endParaRPr/>
                    </a:p>
                  </a:txBody>
                  <a:tcPr marT="91425" marB="91425" marR="91425" marL="91425"/>
                </a:tc>
                <a:tc>
                  <a:txBody>
                    <a:bodyPr/>
                    <a:lstStyle/>
                    <a:p>
                      <a:pPr indent="0" lvl="0" marL="0" rtl="0" algn="l">
                        <a:spcBef>
                          <a:spcPts val="0"/>
                        </a:spcBef>
                        <a:spcAft>
                          <a:spcPts val="0"/>
                        </a:spcAft>
                        <a:buNone/>
                      </a:pPr>
                      <a:r>
                        <a:rPr lang="en-GB"/>
                        <a:t>Accuracy</a:t>
                      </a:r>
                      <a:endParaRPr/>
                    </a:p>
                  </a:txBody>
                  <a:tcPr marT="91425" marB="91425" marR="91425" marL="91425"/>
                </a:tc>
              </a:tr>
              <a:tr h="381000">
                <a:tc>
                  <a:txBody>
                    <a:bodyPr/>
                    <a:lstStyle/>
                    <a:p>
                      <a:pPr indent="0" lvl="0" marL="0" rtl="0" algn="l">
                        <a:spcBef>
                          <a:spcPts val="0"/>
                        </a:spcBef>
                        <a:spcAft>
                          <a:spcPts val="0"/>
                        </a:spcAft>
                        <a:buNone/>
                      </a:pPr>
                      <a:r>
                        <a:rPr lang="en-GB"/>
                        <a:t>5 demographic features (gender, parental level of education, race/ethnicity, lunch, test preparation course)</a:t>
                      </a:r>
                      <a:endParaRPr/>
                    </a:p>
                  </a:txBody>
                  <a:tcPr marT="91425" marB="91425" marR="91425" marL="91425"/>
                </a:tc>
                <a:tc>
                  <a:txBody>
                    <a:bodyPr/>
                    <a:lstStyle/>
                    <a:p>
                      <a:pPr indent="0" lvl="0" marL="0" rtl="0" algn="l">
                        <a:spcBef>
                          <a:spcPts val="0"/>
                        </a:spcBef>
                        <a:spcAft>
                          <a:spcPts val="0"/>
                        </a:spcAft>
                        <a:buNone/>
                      </a:pPr>
                      <a:r>
                        <a:rPr lang="en-GB"/>
                        <a:t>0.4</a:t>
                      </a:r>
                      <a:endParaRPr/>
                    </a:p>
                  </a:txBody>
                  <a:tcPr marT="91425" marB="91425" marR="91425" marL="91425"/>
                </a:tc>
              </a:tr>
            </a:tbl>
          </a:graphicData>
        </a:graphic>
      </p:graphicFrame>
      <p:graphicFrame>
        <p:nvGraphicFramePr>
          <p:cNvPr id="213" name="Google Shape;213;g3aac199a391_0_17"/>
          <p:cNvGraphicFramePr/>
          <p:nvPr/>
        </p:nvGraphicFramePr>
        <p:xfrm>
          <a:off x="952500" y="5167175"/>
          <a:ext cx="3000000" cy="3000000"/>
        </p:xfrm>
        <a:graphic>
          <a:graphicData uri="http://schemas.openxmlformats.org/drawingml/2006/table">
            <a:tbl>
              <a:tblPr>
                <a:noFill/>
                <a:tableStyleId>{48205E3B-803B-47F0-A93E-CFBADB7F0A1F}</a:tableStyleId>
              </a:tblPr>
              <a:tblGrid>
                <a:gridCol w="5143500"/>
                <a:gridCol w="5143500"/>
              </a:tblGrid>
              <a:tr h="381000">
                <a:tc>
                  <a:txBody>
                    <a:bodyPr/>
                    <a:lstStyle/>
                    <a:p>
                      <a:pPr indent="0" lvl="0" marL="0" rtl="0" algn="l">
                        <a:spcBef>
                          <a:spcPts val="0"/>
                        </a:spcBef>
                        <a:spcAft>
                          <a:spcPts val="0"/>
                        </a:spcAft>
                        <a:buNone/>
                      </a:pPr>
                      <a:r>
                        <a:rPr lang="en-GB"/>
                        <a:t>Banded Writing</a:t>
                      </a:r>
                      <a:endParaRPr/>
                    </a:p>
                  </a:txBody>
                  <a:tcPr marT="91425" marB="91425" marR="91425" marL="91425"/>
                </a:tc>
                <a:tc>
                  <a:txBody>
                    <a:bodyPr/>
                    <a:lstStyle/>
                    <a:p>
                      <a:pPr indent="0" lvl="0" marL="0" rtl="0" algn="l">
                        <a:spcBef>
                          <a:spcPts val="0"/>
                        </a:spcBef>
                        <a:spcAft>
                          <a:spcPts val="0"/>
                        </a:spcAft>
                        <a:buNone/>
                      </a:pPr>
                      <a:r>
                        <a:rPr lang="en-GB"/>
                        <a:t>Accuracy</a:t>
                      </a:r>
                      <a:endParaRPr/>
                    </a:p>
                  </a:txBody>
                  <a:tcPr marT="91425" marB="91425" marR="91425" marL="91425"/>
                </a:tc>
              </a:tr>
              <a:tr h="381000">
                <a:tc>
                  <a:txBody>
                    <a:bodyPr/>
                    <a:lstStyle/>
                    <a:p>
                      <a:pPr indent="0" lvl="0" marL="0" rtl="0" algn="l">
                        <a:spcBef>
                          <a:spcPts val="0"/>
                        </a:spcBef>
                        <a:spcAft>
                          <a:spcPts val="0"/>
                        </a:spcAft>
                        <a:buNone/>
                      </a:pPr>
                      <a:r>
                        <a:rPr lang="en-GB"/>
                        <a:t>5 demographic features (gender, parental level of education, race/ethnicity, lunch, test preparation course)</a:t>
                      </a:r>
                      <a:endParaRPr/>
                    </a:p>
                  </a:txBody>
                  <a:tcPr marT="91425" marB="91425" marR="91425" marL="91425"/>
                </a:tc>
                <a:tc>
                  <a:txBody>
                    <a:bodyPr/>
                    <a:lstStyle/>
                    <a:p>
                      <a:pPr indent="0" lvl="0" marL="0" rtl="0" algn="l">
                        <a:spcBef>
                          <a:spcPts val="0"/>
                        </a:spcBef>
                        <a:spcAft>
                          <a:spcPts val="0"/>
                        </a:spcAft>
                        <a:buNone/>
                      </a:pPr>
                      <a:r>
                        <a:rPr lang="en-GB"/>
                        <a:t>0.425</a:t>
                      </a:r>
                      <a:endParaRPr/>
                    </a:p>
                  </a:txBody>
                  <a:tcPr marT="91425" marB="91425" marR="91425" marL="91425"/>
                </a:tc>
              </a:tr>
            </a:tbl>
          </a:graphicData>
        </a:graphic>
      </p:graphicFrame>
      <p:graphicFrame>
        <p:nvGraphicFramePr>
          <p:cNvPr id="214" name="Google Shape;214;g3aac199a391_0_17"/>
          <p:cNvGraphicFramePr/>
          <p:nvPr/>
        </p:nvGraphicFramePr>
        <p:xfrm>
          <a:off x="952500" y="2141300"/>
          <a:ext cx="3000000" cy="3000000"/>
        </p:xfrm>
        <a:graphic>
          <a:graphicData uri="http://schemas.openxmlformats.org/drawingml/2006/table">
            <a:tbl>
              <a:tblPr>
                <a:noFill/>
                <a:tableStyleId>{48205E3B-803B-47F0-A93E-CFBADB7F0A1F}</a:tableStyleId>
              </a:tblPr>
              <a:tblGrid>
                <a:gridCol w="5143500"/>
                <a:gridCol w="5143500"/>
              </a:tblGrid>
              <a:tr h="381000">
                <a:tc>
                  <a:txBody>
                    <a:bodyPr/>
                    <a:lstStyle/>
                    <a:p>
                      <a:pPr indent="0" lvl="0" marL="0" rtl="0" algn="l">
                        <a:spcBef>
                          <a:spcPts val="0"/>
                        </a:spcBef>
                        <a:spcAft>
                          <a:spcPts val="0"/>
                        </a:spcAft>
                        <a:buNone/>
                      </a:pPr>
                      <a:r>
                        <a:rPr lang="en-GB"/>
                        <a:t>Banded Maths</a:t>
                      </a:r>
                      <a:endParaRPr/>
                    </a:p>
                  </a:txBody>
                  <a:tcPr marT="91425" marB="91425" marR="91425" marL="91425"/>
                </a:tc>
                <a:tc>
                  <a:txBody>
                    <a:bodyPr/>
                    <a:lstStyle/>
                    <a:p>
                      <a:pPr indent="0" lvl="0" marL="0" rtl="0" algn="l">
                        <a:spcBef>
                          <a:spcPts val="0"/>
                        </a:spcBef>
                        <a:spcAft>
                          <a:spcPts val="0"/>
                        </a:spcAft>
                        <a:buNone/>
                      </a:pPr>
                      <a:r>
                        <a:rPr lang="en-GB"/>
                        <a:t>Accuracy</a:t>
                      </a:r>
                      <a:endParaRPr/>
                    </a:p>
                  </a:txBody>
                  <a:tcPr marT="91425" marB="91425" marR="91425" marL="91425"/>
                </a:tc>
              </a:tr>
              <a:tr h="381000">
                <a:tc>
                  <a:txBody>
                    <a:bodyPr/>
                    <a:lstStyle/>
                    <a:p>
                      <a:pPr indent="0" lvl="0" marL="0" rtl="0" algn="l">
                        <a:spcBef>
                          <a:spcPts val="0"/>
                        </a:spcBef>
                        <a:spcAft>
                          <a:spcPts val="0"/>
                        </a:spcAft>
                        <a:buNone/>
                      </a:pPr>
                      <a:r>
                        <a:rPr lang="en-GB"/>
                        <a:t>5 demographic features (gender, parental level of education, race/ethnicity, lunch, test preparation course)</a:t>
                      </a:r>
                      <a:endParaRPr/>
                    </a:p>
                  </a:txBody>
                  <a:tcPr marT="91425" marB="91425" marR="91425" marL="91425"/>
                </a:tc>
                <a:tc>
                  <a:txBody>
                    <a:bodyPr/>
                    <a:lstStyle/>
                    <a:p>
                      <a:pPr indent="0" lvl="0" marL="0" rtl="0" algn="l">
                        <a:spcBef>
                          <a:spcPts val="0"/>
                        </a:spcBef>
                        <a:spcAft>
                          <a:spcPts val="0"/>
                        </a:spcAft>
                        <a:buNone/>
                      </a:pPr>
                      <a:r>
                        <a:rPr lang="en-GB"/>
                        <a:t>0.36</a:t>
                      </a:r>
                      <a:endParaRPr/>
                    </a:p>
                  </a:txBody>
                  <a:tcPr marT="91425" marB="91425" marR="91425" marL="91425"/>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g3aac199a391_0_46"/>
          <p:cNvSpPr txBox="1"/>
          <p:nvPr>
            <p:ph type="title"/>
          </p:nvPr>
        </p:nvSpPr>
        <p:spPr>
          <a:xfrm>
            <a:off x="187200" y="319550"/>
            <a:ext cx="11817600" cy="1325700"/>
          </a:xfrm>
          <a:prstGeom prst="rect">
            <a:avLst/>
          </a:prstGeom>
          <a:noFill/>
          <a:ln>
            <a:noFill/>
          </a:ln>
        </p:spPr>
        <p:txBody>
          <a:bodyPr anchorCtr="0" anchor="ctr" bIns="45700" lIns="91425" spcFirstLastPara="1" rIns="91425" wrap="square" tIns="45700">
            <a:normAutofit fontScale="90000"/>
          </a:bodyPr>
          <a:lstStyle/>
          <a:p>
            <a:pPr indent="0" lvl="0" marL="0" rtl="0" algn="l">
              <a:lnSpc>
                <a:spcPct val="90000"/>
              </a:lnSpc>
              <a:spcBef>
                <a:spcPts val="0"/>
              </a:spcBef>
              <a:spcAft>
                <a:spcPts val="0"/>
              </a:spcAft>
              <a:buClr>
                <a:schemeClr val="dk1"/>
              </a:buClr>
              <a:buSzPct val="100000"/>
              <a:buFont typeface="Play"/>
              <a:buNone/>
            </a:pPr>
            <a:r>
              <a:rPr lang="en-GB"/>
              <a:t>Reading score is the single best predictor of writing score. </a:t>
            </a:r>
            <a:r>
              <a:rPr lang="en-GB"/>
              <a:t>Demographics</a:t>
            </a:r>
            <a:r>
              <a:rPr lang="en-GB"/>
              <a:t> provide marginal context:</a:t>
            </a:r>
            <a:endParaRPr/>
          </a:p>
        </p:txBody>
      </p:sp>
      <p:graphicFrame>
        <p:nvGraphicFramePr>
          <p:cNvPr id="220" name="Google Shape;220;g3aac199a391_0_46"/>
          <p:cNvGraphicFramePr/>
          <p:nvPr/>
        </p:nvGraphicFramePr>
        <p:xfrm>
          <a:off x="1077975" y="1906025"/>
          <a:ext cx="3000000" cy="3000000"/>
        </p:xfrm>
        <a:graphic>
          <a:graphicData uri="http://schemas.openxmlformats.org/drawingml/2006/table">
            <a:tbl>
              <a:tblPr>
                <a:noFill/>
                <a:tableStyleId>{48205E3B-803B-47F0-A93E-CFBADB7F0A1F}</a:tableStyleId>
              </a:tblPr>
              <a:tblGrid>
                <a:gridCol w="5143500"/>
                <a:gridCol w="5143500"/>
              </a:tblGrid>
              <a:tr h="381000">
                <a:tc>
                  <a:txBody>
                    <a:bodyPr/>
                    <a:lstStyle/>
                    <a:p>
                      <a:pPr indent="0" lvl="0" marL="0" rtl="0" algn="l">
                        <a:spcBef>
                          <a:spcPts val="0"/>
                        </a:spcBef>
                        <a:spcAft>
                          <a:spcPts val="0"/>
                        </a:spcAft>
                        <a:buNone/>
                      </a:pPr>
                      <a:r>
                        <a:rPr lang="en-GB"/>
                        <a:t>Writing</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r>
              <a:tr h="381000">
                <a:tc>
                  <a:txBody>
                    <a:bodyPr/>
                    <a:lstStyle/>
                    <a:p>
                      <a:pPr indent="0" lvl="0" marL="0" rtl="0" algn="l">
                        <a:spcBef>
                          <a:spcPts val="0"/>
                        </a:spcBef>
                        <a:spcAft>
                          <a:spcPts val="0"/>
                        </a:spcAft>
                        <a:buNone/>
                      </a:pPr>
                      <a:r>
                        <a:rPr lang="en-GB"/>
                        <a:t>5 demographic features (gender, parental level of education, race/ethnicity, lunch, test preparation course) </a:t>
                      </a:r>
                      <a:r>
                        <a:rPr b="1" lang="en-GB"/>
                        <a:t>+ reading score</a:t>
                      </a:r>
                      <a:endParaRPr b="1"/>
                    </a:p>
                  </a:txBody>
                  <a:tcPr marT="91425" marB="91425" marR="91425" marL="91425"/>
                </a:tc>
                <a:tc>
                  <a:txBody>
                    <a:bodyPr/>
                    <a:lstStyle/>
                    <a:p>
                      <a:pPr indent="0" lvl="0" marL="0" rtl="0" algn="l">
                        <a:spcBef>
                          <a:spcPts val="0"/>
                        </a:spcBef>
                        <a:spcAft>
                          <a:spcPts val="0"/>
                        </a:spcAft>
                        <a:buNone/>
                      </a:pPr>
                      <a:r>
                        <a:rPr b="1" lang="en-GB"/>
                        <a:t>R2 score: 0.8969871</a:t>
                      </a:r>
                      <a:endParaRPr b="1"/>
                    </a:p>
                    <a:p>
                      <a:pPr indent="0" lvl="0" marL="0" rtl="0" algn="l">
                        <a:spcBef>
                          <a:spcPts val="0"/>
                        </a:spcBef>
                        <a:spcAft>
                          <a:spcPts val="0"/>
                        </a:spcAft>
                        <a:buNone/>
                      </a:pPr>
                      <a:r>
                        <a:rPr b="1" lang="en-GB"/>
                        <a:t>Mean Absolute Error: 3.9122735</a:t>
                      </a:r>
                      <a:endParaRPr b="1"/>
                    </a:p>
                    <a:p>
                      <a:pPr indent="0" lvl="0" marL="0" rtl="0" algn="l">
                        <a:spcBef>
                          <a:spcPts val="0"/>
                        </a:spcBef>
                        <a:spcAft>
                          <a:spcPts val="0"/>
                        </a:spcAft>
                        <a:buNone/>
                      </a:pPr>
                      <a:r>
                        <a:rPr b="1" lang="en-GB"/>
                        <a:t>Root Mean Squared Error: 4.982755</a:t>
                      </a:r>
                      <a:endParaRPr b="1"/>
                    </a:p>
                  </a:txBody>
                  <a:tcPr marT="91425" marB="91425" marR="91425" marL="91425"/>
                </a:tc>
              </a:tr>
              <a:tr h="381000">
                <a:tc>
                  <a:txBody>
                    <a:bodyPr/>
                    <a:lstStyle/>
                    <a:p>
                      <a:pPr indent="0" lvl="0" marL="0" rtl="0" algn="l">
                        <a:spcBef>
                          <a:spcPts val="0"/>
                        </a:spcBef>
                        <a:spcAft>
                          <a:spcPts val="0"/>
                        </a:spcAft>
                        <a:buClr>
                          <a:schemeClr val="dk1"/>
                        </a:buClr>
                        <a:buSzPts val="1100"/>
                        <a:buFont typeface="Arial"/>
                        <a:buNone/>
                      </a:pPr>
                      <a:r>
                        <a:rPr lang="en-GB">
                          <a:solidFill>
                            <a:schemeClr val="dk1"/>
                          </a:solidFill>
                        </a:rPr>
                        <a:t>5 demographic features (gender, parental level of education, race/ethnicity, lunch, test preparation course</a:t>
                      </a:r>
                      <a:endParaRPr/>
                    </a:p>
                  </a:txBody>
                  <a:tcPr marT="91425" marB="91425" marR="91425" marL="91425"/>
                </a:tc>
                <a:tc>
                  <a:txBody>
                    <a:bodyPr/>
                    <a:lstStyle/>
                    <a:p>
                      <a:pPr indent="0" lvl="0" marL="0" rtl="0" algn="l">
                        <a:spcBef>
                          <a:spcPts val="0"/>
                        </a:spcBef>
                        <a:spcAft>
                          <a:spcPts val="0"/>
                        </a:spcAft>
                        <a:buClr>
                          <a:schemeClr val="dk1"/>
                        </a:buClr>
                        <a:buSzPts val="1100"/>
                        <a:buFont typeface="Arial"/>
                        <a:buNone/>
                      </a:pPr>
                      <a:r>
                        <a:rPr b="1" lang="en-GB">
                          <a:solidFill>
                            <a:schemeClr val="dk1"/>
                          </a:solidFill>
                        </a:rPr>
                        <a:t>R2 score: 0.1017208</a:t>
                      </a:r>
                      <a:endParaRPr b="1">
                        <a:solidFill>
                          <a:schemeClr val="dk1"/>
                        </a:solidFill>
                      </a:endParaRPr>
                    </a:p>
                    <a:p>
                      <a:pPr indent="0" lvl="0" marL="0" rtl="0" algn="l">
                        <a:spcBef>
                          <a:spcPts val="0"/>
                        </a:spcBef>
                        <a:spcAft>
                          <a:spcPts val="0"/>
                        </a:spcAft>
                        <a:buClr>
                          <a:schemeClr val="dk1"/>
                        </a:buClr>
                        <a:buSzPts val="1100"/>
                        <a:buFont typeface="Arial"/>
                        <a:buNone/>
                      </a:pPr>
                      <a:r>
                        <a:rPr b="1" lang="en-GB">
                          <a:solidFill>
                            <a:schemeClr val="dk1"/>
                          </a:solidFill>
                        </a:rPr>
                        <a:t>Mean Absolute Error: 11.20518199469</a:t>
                      </a:r>
                      <a:endParaRPr b="1">
                        <a:solidFill>
                          <a:schemeClr val="dk1"/>
                        </a:solidFill>
                      </a:endParaRPr>
                    </a:p>
                    <a:p>
                      <a:pPr indent="0" lvl="0" marL="0" rtl="0" algn="l">
                        <a:spcBef>
                          <a:spcPts val="0"/>
                        </a:spcBef>
                        <a:spcAft>
                          <a:spcPts val="0"/>
                        </a:spcAft>
                        <a:buClr>
                          <a:schemeClr val="dk1"/>
                        </a:buClr>
                        <a:buSzPts val="1100"/>
                        <a:buFont typeface="Arial"/>
                        <a:buNone/>
                      </a:pPr>
                      <a:r>
                        <a:rPr b="1" lang="en-GB">
                          <a:solidFill>
                            <a:schemeClr val="dk1"/>
                          </a:solidFill>
                        </a:rPr>
                        <a:t>Root Mean Squared Error: 14.713956534</a:t>
                      </a:r>
                      <a:endParaRPr b="1"/>
                    </a:p>
                  </a:txBody>
                  <a:tcPr marT="91425" marB="91425" marR="91425" marL="91425"/>
                </a:tc>
              </a:tr>
            </a:tbl>
          </a:graphicData>
        </a:graphic>
      </p:graphicFrame>
      <p:graphicFrame>
        <p:nvGraphicFramePr>
          <p:cNvPr id="221" name="Google Shape;221;g3aac199a391_0_46"/>
          <p:cNvGraphicFramePr/>
          <p:nvPr/>
        </p:nvGraphicFramePr>
        <p:xfrm>
          <a:off x="1077975" y="4432350"/>
          <a:ext cx="3000000" cy="3000000"/>
        </p:xfrm>
        <a:graphic>
          <a:graphicData uri="http://schemas.openxmlformats.org/drawingml/2006/table">
            <a:tbl>
              <a:tblPr>
                <a:noFill/>
                <a:tableStyleId>{48205E3B-803B-47F0-A93E-CFBADB7F0A1F}</a:tableStyleId>
              </a:tblPr>
              <a:tblGrid>
                <a:gridCol w="5143500"/>
                <a:gridCol w="5143500"/>
              </a:tblGrid>
              <a:tr h="381000">
                <a:tc>
                  <a:txBody>
                    <a:bodyPr/>
                    <a:lstStyle/>
                    <a:p>
                      <a:pPr indent="0" lvl="0" marL="0" rtl="0" algn="l">
                        <a:spcBef>
                          <a:spcPts val="0"/>
                        </a:spcBef>
                        <a:spcAft>
                          <a:spcPts val="0"/>
                        </a:spcAft>
                        <a:buNone/>
                      </a:pPr>
                      <a:r>
                        <a:rPr lang="en-GB"/>
                        <a:t>Writing</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r>
              <a:tr h="381000">
                <a:tc>
                  <a:txBody>
                    <a:bodyPr/>
                    <a:lstStyle/>
                    <a:p>
                      <a:pPr indent="0" lvl="0" marL="0" rtl="0" algn="l">
                        <a:spcBef>
                          <a:spcPts val="0"/>
                        </a:spcBef>
                        <a:spcAft>
                          <a:spcPts val="0"/>
                        </a:spcAft>
                        <a:buNone/>
                      </a:pPr>
                      <a:r>
                        <a:rPr lang="en-GB"/>
                        <a:t>5 demographic features (gender, parental level of education, race/ethnicity, lunch, test preparation course) </a:t>
                      </a:r>
                      <a:r>
                        <a:rPr b="1" lang="en-GB"/>
                        <a:t>+ math score</a:t>
                      </a:r>
                      <a:endParaRPr b="1"/>
                    </a:p>
                  </a:txBody>
                  <a:tcPr marT="91425" marB="91425" marR="91425" marL="91425"/>
                </a:tc>
                <a:tc>
                  <a:txBody>
                    <a:bodyPr/>
                    <a:lstStyle/>
                    <a:p>
                      <a:pPr indent="0" lvl="0" marL="0" rtl="0" algn="l">
                        <a:spcBef>
                          <a:spcPts val="0"/>
                        </a:spcBef>
                        <a:spcAft>
                          <a:spcPts val="0"/>
                        </a:spcAft>
                        <a:buNone/>
                      </a:pPr>
                      <a:r>
                        <a:rPr b="1" lang="en-GB"/>
                        <a:t>R2 score: 0.8465262365</a:t>
                      </a:r>
                      <a:endParaRPr b="1"/>
                    </a:p>
                    <a:p>
                      <a:pPr indent="0" lvl="0" marL="0" rtl="0" algn="l">
                        <a:spcBef>
                          <a:spcPts val="0"/>
                        </a:spcBef>
                        <a:spcAft>
                          <a:spcPts val="0"/>
                        </a:spcAft>
                        <a:buNone/>
                      </a:pPr>
                      <a:r>
                        <a:rPr b="1" lang="en-GB"/>
                        <a:t>Mean Absolute Error: 4.96230869</a:t>
                      </a:r>
                      <a:endParaRPr b="1"/>
                    </a:p>
                    <a:p>
                      <a:pPr indent="0" lvl="0" marL="0" rtl="0" algn="l">
                        <a:spcBef>
                          <a:spcPts val="0"/>
                        </a:spcBef>
                        <a:spcAft>
                          <a:spcPts val="0"/>
                        </a:spcAft>
                        <a:buNone/>
                      </a:pPr>
                      <a:r>
                        <a:rPr b="1" lang="en-GB"/>
                        <a:t>Root Mean Squared Error: 6.081922575958346</a:t>
                      </a:r>
                      <a:endParaRPr b="1"/>
                    </a:p>
                  </a:txBody>
                  <a:tcPr marT="91425" marB="91425" marR="91425" marL="91425"/>
                </a:tc>
              </a:tr>
              <a:tr h="381000">
                <a:tc>
                  <a:txBody>
                    <a:bodyPr/>
                    <a:lstStyle/>
                    <a:p>
                      <a:pPr indent="0" lvl="0" marL="0" rtl="0" algn="l">
                        <a:spcBef>
                          <a:spcPts val="0"/>
                        </a:spcBef>
                        <a:spcAft>
                          <a:spcPts val="0"/>
                        </a:spcAft>
                        <a:buNone/>
                      </a:pPr>
                      <a:r>
                        <a:rPr lang="en-GB">
                          <a:solidFill>
                            <a:schemeClr val="dk1"/>
                          </a:solidFill>
                        </a:rPr>
                        <a:t>5 demographic features (gender, parental level of education, race/ethnicity, lunch, test preparation course</a:t>
                      </a:r>
                      <a:endParaRPr/>
                    </a:p>
                  </a:txBody>
                  <a:tcPr marT="91425" marB="91425" marR="91425" marL="91425"/>
                </a:tc>
                <a:tc>
                  <a:txBody>
                    <a:bodyPr/>
                    <a:lstStyle/>
                    <a:p>
                      <a:pPr indent="0" lvl="0" marL="0" rtl="0" algn="l">
                        <a:spcBef>
                          <a:spcPts val="0"/>
                        </a:spcBef>
                        <a:spcAft>
                          <a:spcPts val="0"/>
                        </a:spcAft>
                        <a:buNone/>
                      </a:pPr>
                      <a:r>
                        <a:rPr b="1" lang="en-GB">
                          <a:solidFill>
                            <a:schemeClr val="dk1"/>
                          </a:solidFill>
                        </a:rPr>
                        <a:t>R2 score:0.101728768</a:t>
                      </a:r>
                      <a:endParaRPr b="1">
                        <a:solidFill>
                          <a:schemeClr val="dk1"/>
                        </a:solidFill>
                      </a:endParaRPr>
                    </a:p>
                    <a:p>
                      <a:pPr indent="0" lvl="0" marL="0" rtl="0" algn="l">
                        <a:spcBef>
                          <a:spcPts val="0"/>
                        </a:spcBef>
                        <a:spcAft>
                          <a:spcPts val="0"/>
                        </a:spcAft>
                        <a:buNone/>
                      </a:pPr>
                      <a:r>
                        <a:rPr b="1" lang="en-GB">
                          <a:solidFill>
                            <a:schemeClr val="dk1"/>
                          </a:solidFill>
                        </a:rPr>
                        <a:t>Mean Absolute Error: 11.205181994694376</a:t>
                      </a:r>
                      <a:endParaRPr b="1">
                        <a:solidFill>
                          <a:schemeClr val="dk1"/>
                        </a:solidFill>
                      </a:endParaRPr>
                    </a:p>
                    <a:p>
                      <a:pPr indent="0" lvl="0" marL="0" rtl="0" algn="l">
                        <a:spcBef>
                          <a:spcPts val="0"/>
                        </a:spcBef>
                        <a:spcAft>
                          <a:spcPts val="0"/>
                        </a:spcAft>
                        <a:buNone/>
                      </a:pPr>
                      <a:r>
                        <a:rPr b="1" lang="en-GB">
                          <a:solidFill>
                            <a:schemeClr val="dk1"/>
                          </a:solidFill>
                        </a:rPr>
                        <a:t>Root Mean Squared Error: 14.713956537767022</a:t>
                      </a:r>
                      <a:endParaRPr b="1"/>
                    </a:p>
                  </a:txBody>
                  <a:tcPr marT="91425" marB="91425" marR="91425" marL="91425"/>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5" name="Shape 225"/>
        <p:cNvGrpSpPr/>
        <p:nvPr/>
      </p:nvGrpSpPr>
      <p:grpSpPr>
        <a:xfrm>
          <a:off x="0" y="0"/>
          <a:ext cx="0" cy="0"/>
          <a:chOff x="0" y="0"/>
          <a:chExt cx="0" cy="0"/>
        </a:xfrm>
      </p:grpSpPr>
      <p:sp>
        <p:nvSpPr>
          <p:cNvPr id="226" name="Google Shape;226;p1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GB"/>
              <a:t>Conclusion and </a:t>
            </a:r>
            <a:r>
              <a:rPr lang="en-GB"/>
              <a:t>recommendations</a:t>
            </a:r>
            <a:r>
              <a:rPr lang="en-GB"/>
              <a:t> for next steps:</a:t>
            </a:r>
            <a:endParaRPr/>
          </a:p>
        </p:txBody>
      </p:sp>
      <p:sp>
        <p:nvSpPr>
          <p:cNvPr id="227" name="Google Shape;227;p1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50800" lvl="0" marL="228600" rtl="0" algn="l">
              <a:lnSpc>
                <a:spcPct val="90000"/>
              </a:lnSpc>
              <a:spcBef>
                <a:spcPts val="0"/>
              </a:spcBef>
              <a:spcAft>
                <a:spcPts val="0"/>
              </a:spcAft>
              <a:buClr>
                <a:schemeClr val="dk1"/>
              </a:buClr>
              <a:buSzPts val="2800"/>
              <a:buNone/>
            </a:pPr>
            <a:r>
              <a:rPr lang="en-GB"/>
              <a:t>Ways to </a:t>
            </a:r>
            <a:r>
              <a:rPr lang="en-GB"/>
              <a:t>improve</a:t>
            </a:r>
            <a:r>
              <a:rPr lang="en-GB"/>
              <a:t> predictability- more samples of data.</a:t>
            </a:r>
            <a:endParaRPr/>
          </a:p>
          <a:p>
            <a:pPr indent="-50800" lvl="0" marL="228600" rtl="0" algn="l">
              <a:lnSpc>
                <a:spcPct val="90000"/>
              </a:lnSpc>
              <a:spcBef>
                <a:spcPts val="0"/>
              </a:spcBef>
              <a:spcAft>
                <a:spcPts val="0"/>
              </a:spcAft>
              <a:buClr>
                <a:schemeClr val="dk1"/>
              </a:buClr>
              <a:buSzPts val="2800"/>
              <a:buNone/>
            </a:pPr>
            <a:r>
              <a:rPr lang="en-GB"/>
              <a:t>Use real data instead of synthetic</a:t>
            </a:r>
            <a:endParaRPr/>
          </a:p>
          <a:p>
            <a:pPr indent="-50800" lvl="0" marL="228600" rtl="0" algn="l">
              <a:lnSpc>
                <a:spcPct val="90000"/>
              </a:lnSpc>
              <a:spcBef>
                <a:spcPts val="0"/>
              </a:spcBef>
              <a:spcAft>
                <a:spcPts val="0"/>
              </a:spcAft>
              <a:buClr>
                <a:schemeClr val="dk1"/>
              </a:buClr>
              <a:buSzPts val="2800"/>
              <a:buNone/>
            </a:pPr>
            <a:r>
              <a:t/>
            </a:r>
            <a:endParaRPr/>
          </a:p>
          <a:p>
            <a:pPr indent="-50800" lvl="0" marL="228600" rtl="0" algn="l">
              <a:lnSpc>
                <a:spcPct val="90000"/>
              </a:lnSpc>
              <a:spcBef>
                <a:spcPts val="0"/>
              </a:spcBef>
              <a:spcAft>
                <a:spcPts val="0"/>
              </a:spcAft>
              <a:buClr>
                <a:schemeClr val="dk1"/>
              </a:buClr>
              <a:buSzPts val="2800"/>
              <a:buNone/>
            </a:pPr>
            <a:r>
              <a:rPr lang="en-GB"/>
              <a:t>Cross validation of different machine learning models and seeing if a different model had better accuracy</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sp>
        <p:nvSpPr>
          <p:cNvPr id="232" name="Google Shape;232;p3"/>
          <p:cNvSpPr txBox="1"/>
          <p:nvPr>
            <p:ph type="title"/>
          </p:nvPr>
        </p:nvSpPr>
        <p:spPr>
          <a:xfrm>
            <a:off x="838200" y="365125"/>
            <a:ext cx="11353800" cy="10665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GB"/>
              <a:t>Appendix 1: School Performance Analysis:</a:t>
            </a:r>
            <a:endParaRPr/>
          </a:p>
        </p:txBody>
      </p:sp>
      <p:sp>
        <p:nvSpPr>
          <p:cNvPr id="233" name="Google Shape;233;p3"/>
          <p:cNvSpPr txBox="1"/>
          <p:nvPr/>
        </p:nvSpPr>
        <p:spPr>
          <a:xfrm>
            <a:off x="838200" y="180459"/>
            <a:ext cx="8689258" cy="3693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GB" sz="1800" u="sng" cap="none" strike="noStrike">
                <a:solidFill>
                  <a:srgbClr val="0B57D0"/>
                </a:solidFill>
                <a:latin typeface="Arial"/>
                <a:ea typeface="Arial"/>
                <a:cs typeface="Arial"/>
                <a:sym typeface="Arial"/>
                <a:hlinkClick r:id="rId3">
                  <a:extLst>
                    <a:ext uri="{A12FA001-AC4F-418D-AE19-62706E023703}">
                      <ahyp:hlinkClr val="tx"/>
                    </a:ext>
                  </a:extLst>
                </a:hlinkClick>
              </a:rPr>
              <a:t>https://www.kaggle.com/datasets/alizabrand/school-performance-analysis</a:t>
            </a:r>
            <a:endParaRPr sz="1800">
              <a:solidFill>
                <a:schemeClr val="dk1"/>
              </a:solidFill>
              <a:latin typeface="Arial"/>
              <a:ea typeface="Arial"/>
              <a:cs typeface="Arial"/>
              <a:sym typeface="Arial"/>
            </a:endParaRPr>
          </a:p>
        </p:txBody>
      </p:sp>
      <p:graphicFrame>
        <p:nvGraphicFramePr>
          <p:cNvPr id="234" name="Google Shape;234;p3"/>
          <p:cNvGraphicFramePr/>
          <p:nvPr/>
        </p:nvGraphicFramePr>
        <p:xfrm>
          <a:off x="960283" y="1317062"/>
          <a:ext cx="3000000" cy="3000000"/>
        </p:xfrm>
        <a:graphic>
          <a:graphicData uri="http://schemas.openxmlformats.org/drawingml/2006/table">
            <a:tbl>
              <a:tblPr bandRow="1" firstRow="1">
                <a:noFill/>
                <a:tableStyleId>{3D69C190-72E3-4A0A-91AC-61E209EC6283}</a:tableStyleId>
              </a:tblPr>
              <a:tblGrid>
                <a:gridCol w="2117225"/>
                <a:gridCol w="8652375"/>
              </a:tblGrid>
              <a:tr h="370850">
                <a:tc>
                  <a:txBody>
                    <a:bodyPr/>
                    <a:lstStyle/>
                    <a:p>
                      <a:pPr indent="0" lvl="0" marL="0" marR="0" rtl="0" algn="l">
                        <a:spcBef>
                          <a:spcPts val="0"/>
                        </a:spcBef>
                        <a:spcAft>
                          <a:spcPts val="0"/>
                        </a:spcAft>
                        <a:buNone/>
                      </a:pPr>
                      <a:r>
                        <a:t/>
                      </a:r>
                      <a:endParaRPr sz="1800"/>
                    </a:p>
                  </a:txBody>
                  <a:tcPr marT="45725" marB="45725" marR="91450" marL="91450"/>
                </a:tc>
                <a:tc>
                  <a:txBody>
                    <a:bodyPr/>
                    <a:lstStyle/>
                    <a:p>
                      <a:pPr indent="0" lvl="0" marL="0" marR="0" rtl="0" algn="l">
                        <a:spcBef>
                          <a:spcPts val="0"/>
                        </a:spcBef>
                        <a:spcAft>
                          <a:spcPts val="0"/>
                        </a:spcAft>
                        <a:buNone/>
                      </a:pPr>
                      <a:r>
                        <a:t/>
                      </a:r>
                      <a:endParaRPr sz="1800"/>
                    </a:p>
                  </a:txBody>
                  <a:tcPr marT="45725" marB="45725" marR="91450" marL="91450"/>
                </a:tc>
              </a:tr>
              <a:tr h="370850">
                <a:tc>
                  <a:txBody>
                    <a:bodyPr/>
                    <a:lstStyle/>
                    <a:p>
                      <a:pPr indent="0" lvl="0" marL="0" marR="0" rtl="0" algn="l">
                        <a:spcBef>
                          <a:spcPts val="0"/>
                        </a:spcBef>
                        <a:spcAft>
                          <a:spcPts val="0"/>
                        </a:spcAft>
                        <a:buNone/>
                      </a:pPr>
                      <a:r>
                        <a:rPr lang="en-GB" sz="1200"/>
                        <a:t>Why choose dataset?</a:t>
                      </a:r>
                      <a:endParaRPr/>
                    </a:p>
                  </a:txBody>
                  <a:tcPr marT="45725" marB="45725" marR="91450" marL="91450"/>
                </a:tc>
                <a:tc>
                  <a:txBody>
                    <a:bodyPr/>
                    <a:lstStyle/>
                    <a:p>
                      <a:pPr indent="0" lvl="0" marL="0" marR="0" rtl="0" algn="l">
                        <a:spcBef>
                          <a:spcPts val="0"/>
                        </a:spcBef>
                        <a:spcAft>
                          <a:spcPts val="0"/>
                        </a:spcAft>
                        <a:buNone/>
                      </a:pPr>
                      <a:r>
                        <a:rPr lang="en-GB" sz="1200"/>
                        <a:t>Relatable. Helps improve education for all</a:t>
                      </a:r>
                      <a:endParaRPr/>
                    </a:p>
                  </a:txBody>
                  <a:tcPr marT="45725" marB="45725" marR="91450" marL="91450"/>
                </a:tc>
              </a:tr>
              <a:tr h="195950">
                <a:tc>
                  <a:txBody>
                    <a:bodyPr/>
                    <a:lstStyle/>
                    <a:p>
                      <a:pPr indent="0" lvl="0" marL="0" marR="0" rtl="0" algn="l">
                        <a:spcBef>
                          <a:spcPts val="0"/>
                        </a:spcBef>
                        <a:spcAft>
                          <a:spcPts val="0"/>
                        </a:spcAft>
                        <a:buNone/>
                      </a:pPr>
                      <a:r>
                        <a:rPr lang="en-GB" sz="1200"/>
                        <a:t>1000 x 8 columns</a:t>
                      </a:r>
                      <a:endParaRPr/>
                    </a:p>
                  </a:txBody>
                  <a:tcPr marT="45725" marB="45725" marR="91450" marL="91450"/>
                </a:tc>
                <a:tc>
                  <a:txBody>
                    <a:bodyPr/>
                    <a:lstStyle/>
                    <a:p>
                      <a:pPr indent="0" lvl="0" marL="0" marR="0" rtl="0" algn="l">
                        <a:spcBef>
                          <a:spcPts val="0"/>
                        </a:spcBef>
                        <a:spcAft>
                          <a:spcPts val="0"/>
                        </a:spcAft>
                        <a:buNone/>
                      </a:pPr>
                      <a:r>
                        <a:rPr lang="en-GB" sz="1200"/>
                        <a:t>Gender - 2</a:t>
                      </a:r>
                      <a:endParaRPr/>
                    </a:p>
                    <a:p>
                      <a:pPr indent="0" lvl="0" marL="0" marR="0" rtl="0" algn="l">
                        <a:spcBef>
                          <a:spcPts val="0"/>
                        </a:spcBef>
                        <a:spcAft>
                          <a:spcPts val="0"/>
                        </a:spcAft>
                        <a:buNone/>
                      </a:pPr>
                      <a:r>
                        <a:rPr lang="en-GB" sz="1200"/>
                        <a:t>Race/Ethnicity - 5</a:t>
                      </a:r>
                      <a:endParaRPr/>
                    </a:p>
                    <a:p>
                      <a:pPr indent="0" lvl="0" marL="0" marR="0" rtl="0" algn="l">
                        <a:spcBef>
                          <a:spcPts val="0"/>
                        </a:spcBef>
                        <a:spcAft>
                          <a:spcPts val="0"/>
                        </a:spcAft>
                        <a:buNone/>
                      </a:pPr>
                      <a:r>
                        <a:rPr lang="en-GB" sz="1200"/>
                        <a:t>Parents highest level of education - 6</a:t>
                      </a:r>
                      <a:endParaRPr/>
                    </a:p>
                    <a:p>
                      <a:pPr indent="0" lvl="0" marL="0" marR="0" rtl="0" algn="l">
                        <a:spcBef>
                          <a:spcPts val="0"/>
                        </a:spcBef>
                        <a:spcAft>
                          <a:spcPts val="0"/>
                        </a:spcAft>
                        <a:buNone/>
                      </a:pPr>
                      <a:r>
                        <a:rPr lang="en-GB" sz="1200"/>
                        <a:t>Lunch type(proxy for wealth) - 2</a:t>
                      </a:r>
                      <a:endParaRPr/>
                    </a:p>
                    <a:p>
                      <a:pPr indent="0" lvl="0" marL="0" marR="0" rtl="0" algn="l">
                        <a:spcBef>
                          <a:spcPts val="0"/>
                        </a:spcBef>
                        <a:spcAft>
                          <a:spcPts val="0"/>
                        </a:spcAft>
                        <a:buNone/>
                      </a:pPr>
                      <a:r>
                        <a:rPr lang="en-GB" sz="1200"/>
                        <a:t>Test preparation - 2</a:t>
                      </a:r>
                      <a:endParaRPr/>
                    </a:p>
                    <a:p>
                      <a:pPr indent="0" lvl="0" marL="0" marR="0" rtl="0" algn="l">
                        <a:spcBef>
                          <a:spcPts val="0"/>
                        </a:spcBef>
                        <a:spcAft>
                          <a:spcPts val="0"/>
                        </a:spcAft>
                        <a:buNone/>
                      </a:pPr>
                      <a:r>
                        <a:rPr lang="en-GB" sz="1200"/>
                        <a:t>Maths – continuous numerical</a:t>
                      </a:r>
                      <a:endParaRPr/>
                    </a:p>
                    <a:p>
                      <a:pPr indent="0" lvl="0" marL="0" marR="0" rtl="0" algn="l">
                        <a:spcBef>
                          <a:spcPts val="0"/>
                        </a:spcBef>
                        <a:spcAft>
                          <a:spcPts val="0"/>
                        </a:spcAft>
                        <a:buNone/>
                      </a:pPr>
                      <a:r>
                        <a:rPr lang="en-GB" sz="1200"/>
                        <a:t>Reading – continuous numerical</a:t>
                      </a:r>
                      <a:endParaRPr/>
                    </a:p>
                    <a:p>
                      <a:pPr indent="0" lvl="0" marL="0" marR="0" rtl="0" algn="l">
                        <a:spcBef>
                          <a:spcPts val="0"/>
                        </a:spcBef>
                        <a:spcAft>
                          <a:spcPts val="0"/>
                        </a:spcAft>
                        <a:buNone/>
                      </a:pPr>
                      <a:r>
                        <a:rPr lang="en-GB" sz="1200"/>
                        <a:t>English – continuous numerical</a:t>
                      </a:r>
                      <a:endParaRPr/>
                    </a:p>
                  </a:txBody>
                  <a:tcPr marT="45725" marB="45725" marR="91450" marL="91450"/>
                </a:tc>
              </a:tr>
              <a:tr h="280350">
                <a:tc>
                  <a:txBody>
                    <a:bodyPr/>
                    <a:lstStyle/>
                    <a:p>
                      <a:pPr indent="0" lvl="0" marL="0" marR="0" rtl="0" algn="l">
                        <a:spcBef>
                          <a:spcPts val="0"/>
                        </a:spcBef>
                        <a:spcAft>
                          <a:spcPts val="0"/>
                        </a:spcAft>
                        <a:buNone/>
                      </a:pPr>
                      <a:r>
                        <a:rPr b="1" lang="en-GB" sz="1200"/>
                        <a:t>Big question</a:t>
                      </a:r>
                      <a:endParaRPr/>
                    </a:p>
                  </a:txBody>
                  <a:tcPr marT="45725" marB="45725" marR="91450" marL="91450"/>
                </a:tc>
                <a:tc>
                  <a:txBody>
                    <a:bodyPr/>
                    <a:lstStyle/>
                    <a:p>
                      <a:pPr indent="0" lvl="0" marL="0" marR="0" rtl="0" algn="l">
                        <a:spcBef>
                          <a:spcPts val="0"/>
                        </a:spcBef>
                        <a:spcAft>
                          <a:spcPts val="0"/>
                        </a:spcAft>
                        <a:buNone/>
                      </a:pPr>
                      <a:r>
                        <a:rPr lang="en-GB" sz="1200"/>
                        <a:t> What is the biggest predictor on education performance in terms of Maths, Reading and English</a:t>
                      </a:r>
                      <a:endParaRPr/>
                    </a:p>
                  </a:txBody>
                  <a:tcPr marT="45725" marB="45725" marR="91450" marL="91450"/>
                </a:tc>
              </a:tr>
              <a:tr h="370850">
                <a:tc>
                  <a:txBody>
                    <a:bodyPr/>
                    <a:lstStyle/>
                    <a:p>
                      <a:pPr indent="0" lvl="0" marL="0" marR="0" rtl="0" algn="l">
                        <a:spcBef>
                          <a:spcPts val="0"/>
                        </a:spcBef>
                        <a:spcAft>
                          <a:spcPts val="0"/>
                        </a:spcAft>
                        <a:buNone/>
                      </a:pPr>
                      <a:r>
                        <a:rPr lang="en-GB" sz="1200"/>
                        <a:t>EDA</a:t>
                      </a:r>
                      <a:endParaRPr/>
                    </a:p>
                  </a:txBody>
                  <a:tcPr marT="45725" marB="45725" marR="91450" marL="91450"/>
                </a:tc>
                <a:tc>
                  <a:txBody>
                    <a:bodyPr/>
                    <a:lstStyle/>
                    <a:p>
                      <a:pPr indent="-171450" lvl="0" marL="171450" marR="0" rtl="0" algn="l">
                        <a:lnSpc>
                          <a:spcPct val="100000"/>
                        </a:lnSpc>
                        <a:spcBef>
                          <a:spcPts val="0"/>
                        </a:spcBef>
                        <a:spcAft>
                          <a:spcPts val="0"/>
                        </a:spcAft>
                        <a:buClr>
                          <a:schemeClr val="dk1"/>
                        </a:buClr>
                        <a:buSzPts val="1200"/>
                        <a:buFont typeface="Arial"/>
                        <a:buChar char="•"/>
                      </a:pPr>
                      <a:r>
                        <a:rPr lang="en-GB" sz="1200"/>
                        <a:t>Eyeball the data</a:t>
                      </a:r>
                      <a:endParaRPr/>
                    </a:p>
                    <a:p>
                      <a:pPr indent="-171450" lvl="0" marL="171450" marR="0" rtl="0" algn="l">
                        <a:lnSpc>
                          <a:spcPct val="100000"/>
                        </a:lnSpc>
                        <a:spcBef>
                          <a:spcPts val="0"/>
                        </a:spcBef>
                        <a:spcAft>
                          <a:spcPts val="0"/>
                        </a:spcAft>
                        <a:buClr>
                          <a:schemeClr val="dk1"/>
                        </a:buClr>
                        <a:buSzPts val="1200"/>
                        <a:buFont typeface="Arial"/>
                        <a:buChar char="•"/>
                      </a:pPr>
                      <a:r>
                        <a:rPr lang="en-GB" sz="1200"/>
                        <a:t>Check the distribution of each variable. Charting</a:t>
                      </a:r>
                      <a:endParaRPr/>
                    </a:p>
                    <a:p>
                      <a:pPr indent="-171450" lvl="0" marL="171450" marR="0" rtl="0" algn="l">
                        <a:spcBef>
                          <a:spcPts val="0"/>
                        </a:spcBef>
                        <a:spcAft>
                          <a:spcPts val="0"/>
                        </a:spcAft>
                        <a:buClr>
                          <a:schemeClr val="dk1"/>
                        </a:buClr>
                        <a:buSzPts val="1200"/>
                        <a:buFont typeface="Arial"/>
                        <a:buChar char="•"/>
                      </a:pPr>
                      <a:r>
                        <a:rPr lang="en-GB" sz="1200"/>
                        <a:t>Missing data review. </a:t>
                      </a:r>
                      <a:endParaRPr/>
                    </a:p>
                    <a:p>
                      <a:pPr indent="-171450" lvl="0" marL="171450" marR="0" rtl="0" algn="l">
                        <a:lnSpc>
                          <a:spcPct val="100000"/>
                        </a:lnSpc>
                        <a:spcBef>
                          <a:spcPts val="0"/>
                        </a:spcBef>
                        <a:spcAft>
                          <a:spcPts val="0"/>
                        </a:spcAft>
                        <a:buClr>
                          <a:schemeClr val="dk1"/>
                        </a:buClr>
                        <a:buSzPts val="1200"/>
                        <a:buFont typeface="Arial"/>
                        <a:buChar char="•"/>
                      </a:pPr>
                      <a:r>
                        <a:rPr lang="en-GB" sz="1200"/>
                        <a:t>Duplicates – review and removal. </a:t>
                      </a:r>
                      <a:endParaRPr/>
                    </a:p>
                    <a:p>
                      <a:pPr indent="-171450" lvl="0" marL="171450" marR="0" rtl="0" algn="l">
                        <a:spcBef>
                          <a:spcPts val="0"/>
                        </a:spcBef>
                        <a:spcAft>
                          <a:spcPts val="0"/>
                        </a:spcAft>
                        <a:buClr>
                          <a:schemeClr val="dk1"/>
                        </a:buClr>
                        <a:buSzPts val="1200"/>
                        <a:buFont typeface="Arial"/>
                        <a:buChar char="•"/>
                      </a:pPr>
                      <a:r>
                        <a:rPr lang="en-GB" sz="1200"/>
                        <a:t>Outliers (check if abnormal scores on all 3 subjects) - Boxplots. </a:t>
                      </a:r>
                      <a:endParaRPr/>
                    </a:p>
                    <a:p>
                      <a:pPr indent="-171450" lvl="0" marL="171450" marR="0" rtl="0" algn="l">
                        <a:lnSpc>
                          <a:spcPct val="100000"/>
                        </a:lnSpc>
                        <a:spcBef>
                          <a:spcPts val="0"/>
                        </a:spcBef>
                        <a:spcAft>
                          <a:spcPts val="0"/>
                        </a:spcAft>
                        <a:buClr>
                          <a:schemeClr val="dk1"/>
                        </a:buClr>
                        <a:buSzPts val="1200"/>
                        <a:buFont typeface="Arial"/>
                        <a:buChar char="•"/>
                      </a:pPr>
                      <a:r>
                        <a:rPr lang="en-GB" sz="1200"/>
                        <a:t>Standardise formats</a:t>
                      </a:r>
                      <a:endParaRPr/>
                    </a:p>
                    <a:p>
                      <a:pPr indent="-171450" lvl="0" marL="171450" marR="0" rtl="0" algn="l">
                        <a:lnSpc>
                          <a:spcPct val="100000"/>
                        </a:lnSpc>
                        <a:spcBef>
                          <a:spcPts val="0"/>
                        </a:spcBef>
                        <a:spcAft>
                          <a:spcPts val="0"/>
                        </a:spcAft>
                        <a:buClr>
                          <a:schemeClr val="dk1"/>
                        </a:buClr>
                        <a:buSzPts val="1200"/>
                        <a:buFont typeface="Arial"/>
                        <a:buChar char="•"/>
                      </a:pPr>
                      <a:r>
                        <a:rPr lang="en-GB" sz="1200"/>
                        <a:t>Check data types. Convert categorical variables to numerical variables (5)</a:t>
                      </a:r>
                      <a:endParaRPr/>
                    </a:p>
                    <a:p>
                      <a:pPr indent="-171450" lvl="0" marL="171450" marR="0" rtl="0" algn="l">
                        <a:spcBef>
                          <a:spcPts val="0"/>
                        </a:spcBef>
                        <a:spcAft>
                          <a:spcPts val="0"/>
                        </a:spcAft>
                        <a:buClr>
                          <a:schemeClr val="dk1"/>
                        </a:buClr>
                        <a:buSzPts val="1200"/>
                        <a:buFont typeface="Arial"/>
                        <a:buChar char="•"/>
                      </a:pPr>
                      <a:r>
                        <a:rPr lang="en-GB" sz="1200"/>
                        <a:t>Band scores for Maths, Reading and English – use same banding for each subject (convert to numeric) / create new variables</a:t>
                      </a:r>
                      <a:endParaRPr/>
                    </a:p>
                    <a:p>
                      <a:pPr indent="-171450" lvl="0" marL="171450" marR="0" rtl="0" algn="l">
                        <a:spcBef>
                          <a:spcPts val="0"/>
                        </a:spcBef>
                        <a:spcAft>
                          <a:spcPts val="0"/>
                        </a:spcAft>
                        <a:buClr>
                          <a:schemeClr val="dk1"/>
                        </a:buClr>
                        <a:buSzPts val="1200"/>
                        <a:buFont typeface="Arial"/>
                        <a:buChar char="•"/>
                      </a:pPr>
                      <a:r>
                        <a:rPr lang="en-GB" sz="1200"/>
                        <a:t>Descriptive statistics</a:t>
                      </a:r>
                      <a:endParaRPr/>
                    </a:p>
                    <a:p>
                      <a:pPr indent="-171450" lvl="0" marL="171450" marR="0" rtl="0" algn="l">
                        <a:spcBef>
                          <a:spcPts val="0"/>
                        </a:spcBef>
                        <a:spcAft>
                          <a:spcPts val="0"/>
                        </a:spcAft>
                        <a:buClr>
                          <a:schemeClr val="dk1"/>
                        </a:buClr>
                        <a:buSzPts val="1200"/>
                        <a:buFont typeface="Arial"/>
                        <a:buChar char="•"/>
                      </a:pPr>
                      <a:r>
                        <a:rPr lang="en-GB" sz="1200"/>
                        <a:t>Identify correlation analysis (full correlation of all variables)</a:t>
                      </a:r>
                      <a:endParaRPr/>
                    </a:p>
                    <a:p>
                      <a:pPr indent="-171450" lvl="0" marL="171450" marR="0" rtl="0" algn="l">
                        <a:spcBef>
                          <a:spcPts val="0"/>
                        </a:spcBef>
                        <a:spcAft>
                          <a:spcPts val="0"/>
                        </a:spcAft>
                        <a:buClr>
                          <a:schemeClr val="dk1"/>
                        </a:buClr>
                        <a:buSzPts val="1200"/>
                        <a:buFont typeface="Arial"/>
                        <a:buChar char="•"/>
                      </a:pPr>
                      <a:r>
                        <a:rPr lang="en-GB" sz="1200"/>
                        <a:t>Build a predictive Model – improve model</a:t>
                      </a:r>
                      <a:endParaRPr/>
                    </a:p>
                    <a:p>
                      <a:pPr indent="-171450" lvl="0" marL="171450" marR="0" rtl="0" algn="l">
                        <a:spcBef>
                          <a:spcPts val="0"/>
                        </a:spcBef>
                        <a:spcAft>
                          <a:spcPts val="0"/>
                        </a:spcAft>
                        <a:buClr>
                          <a:schemeClr val="dk1"/>
                        </a:buClr>
                        <a:buSzPts val="1200"/>
                        <a:buFont typeface="Arial"/>
                        <a:buChar char="•"/>
                      </a:pPr>
                      <a:r>
                        <a:rPr lang="en-GB" sz="1200"/>
                        <a:t>Create dashboard/visualizations/ PowerPoint / Personas</a:t>
                      </a:r>
                      <a:endParaRPr sz="1200"/>
                    </a:p>
                  </a:txBody>
                  <a:tcPr marT="45725" marB="45725" marR="91450" marL="91450"/>
                </a:tc>
              </a:tr>
            </a:tbl>
          </a:graphicData>
        </a:graphic>
      </p:graphicFrame>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2025-11-21T13:21:10Z</dcterms:created>
  <dc:creator>Teresa McGarry</dc:creator>
</cp:coreProperties>
</file>